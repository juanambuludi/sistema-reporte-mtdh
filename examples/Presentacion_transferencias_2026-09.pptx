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Ejecución presupuestaria</c:v>
                </c:pt>
              </c:strCache>
            </c:strRef>
          </c:tx>
          <c:spPr>
            <a:solidFill>
              <a:srgbClr val="5A369A"/>
            </a:solidFill>
          </c:spPr>
          <c:cat>
            <c:strRef>
              <c:f>Sheet1!$A$2:$A$7</c:f>
              <c:strCache>
                <c:ptCount val="6"/>
                <c:pt idx="0">
                  <c:v>Pensión Toda Una Vida</c:v>
                </c:pt>
                <c:pt idx="1">
                  <c:v>Bono 1.000 Días</c:v>
                </c:pt>
                <c:pt idx="2">
                  <c:v>Bono Joaquín Gallegos Lara</c:v>
                </c:pt>
                <c:pt idx="3">
                  <c:v>BDH con componente variable</c:v>
                </c:pt>
                <c:pt idx="4">
                  <c:v>Pensión Mis Mejores Años</c:v>
                </c:pt>
                <c:pt idx="5">
                  <c:v>Bono de Desarrollo Humano</c:v>
                </c:pt>
              </c:strCache>
            </c:strRef>
          </c:cat>
          <c:val>
            <c:numRef>
              <c:f>Sheet1!$B$2:$B$7</c:f>
              <c:numCache>
                <c:formatCode>0.0%</c:formatCode>
                <c:ptCount val="6"/>
                <c:pt idx="0">
                  <c:v>0.7364827802404053</c:v>
                </c:pt>
                <c:pt idx="1">
                  <c:v>0.704368918958513</c:v>
                </c:pt>
                <c:pt idx="2">
                  <c:v>0.7418790029486376</c:v>
                </c:pt>
                <c:pt idx="3">
                  <c:v>0.6756937654915233</c:v>
                </c:pt>
                <c:pt idx="4">
                  <c:v>0.7261294187524969</c:v>
                </c:pt>
                <c:pt idx="5">
                  <c:v>0.7093833023514423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200" b="1">
                  <a:solidFill>
                    <a:srgbClr val="2020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020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Beneficiarios</c:v>
                </c:pt>
              </c:strCache>
            </c:strRef>
          </c:tx>
          <c:spPr>
            <a:solidFill>
              <a:srgbClr val="5A369A"/>
            </a:solidFill>
          </c:spPr>
          <c:cat>
            <c:strRef>
              <c:f>Sheet1!$A$2:$A$7</c:f>
              <c:strCache>
                <c:ptCount val="6"/>
                <c:pt idx="0">
                  <c:v>Bono Joaquín Gallegos Lara</c:v>
                </c:pt>
                <c:pt idx="1">
                  <c:v>Pensión Toda Una Vida</c:v>
                </c:pt>
                <c:pt idx="2">
                  <c:v>Bono 1.000 Días</c:v>
                </c:pt>
                <c:pt idx="3">
                  <c:v>Pensión Mis Mejores Años</c:v>
                </c:pt>
                <c:pt idx="4">
                  <c:v>BDH con componente variable</c:v>
                </c:pt>
                <c:pt idx="5">
                  <c:v>Bono de Desarrollo Humano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50129</c:v>
                </c:pt>
                <c:pt idx="1">
                  <c:v>72700</c:v>
                </c:pt>
                <c:pt idx="2">
                  <c:v>164983</c:v>
                </c:pt>
                <c:pt idx="3">
                  <c:v>303845</c:v>
                </c:pt>
                <c:pt idx="4">
                  <c:v>367289</c:v>
                </c:pt>
                <c:pt idx="5">
                  <c:v>619073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 b="1">
                  <a:solidFill>
                    <a:srgbClr val="2020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020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Beneficiarios: 1.578.019. Ejecución presupuestaria: 71,0 %. Presupuesto ejecutado 2026: USD 1.011,2 M. Presupuesto acumulado 2023–2026: USD 3.759,0 M. Bono de Desarrollo Humano concentra el 39,2 % de los beneficiarios, con 619.073 personas.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Guayas, Manabí y Los Ríos reúnen el 41,4 % de los beneficiarios del país.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mitad de los beneficiarios se concentra en 31 de los 223 cantones con cobertura.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mitad de los beneficiarios se concentra en 96 de las 1.283 parroquias con cobertura.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presupuesto ejecutado 2026 asciende a USD 1.011,2 millones, el 71,0 % del presupuesto codificado.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Bono de Desarrollo Humano concentra el 39,2 % de los beneficiarios, con 619.073 personas. Bono de Desarrollo Humano registra el 26,7 % del presupuesto ejecutado 2026, con USD 270,2 millones. Guayaquil es el cantón con más beneficiarios: 133.941, el 8,5 % del país.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Relationship Id="rId4" Type="http://schemas.openxmlformats.org/officeDocument/2006/relationships/image" Target="../media/image12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2.xml"/><Relationship Id="rId4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92040" cy="6858000"/>
          </a:xfrm>
          <a:prstGeom prst="rect">
            <a:avLst/>
          </a:prstGeom>
          <a:gradFill rotWithShape="1">
            <a:gsLst>
              <a:gs pos="0">
                <a:srgbClr val="1E0F3B"/>
              </a:gs>
              <a:gs pos="100000">
                <a:srgbClr val="512F8D"/>
              </a:gs>
            </a:gsLst>
            <a:lin scaled="0" ang="36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611880"/>
            <a:ext cx="3794760" cy="3343003"/>
          </a:xfrm>
          <a:prstGeom prst="rect">
            <a:avLst/>
          </a:prstGeom>
        </p:spPr>
      </p:pic>
      <p:pic>
        <p:nvPicPr>
          <p:cNvPr id="4" name="Picture 3" descr="mtd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84048"/>
            <a:ext cx="2533861" cy="603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371600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8C018"/>
                </a:solidFill>
                <a:latin typeface="Calibri"/>
              </a:rPr>
              <a:t>Septiembre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19072"/>
            <a:ext cx="40690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>
                <a:solidFill>
                  <a:srgbClr val="FFFFFF"/>
                </a:solidFill>
                <a:latin typeface="Century Gothic"/>
              </a:rPr>
              <a:t>Transferencias monetarias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182112"/>
            <a:ext cx="822960" cy="64008"/>
          </a:xfrm>
          <a:prstGeom prst="rect">
            <a:avLst/>
          </a:prstGeom>
          <a:solidFill>
            <a:srgbClr val="F8C0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310128"/>
            <a:ext cx="4023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4DBF3"/>
                </a:solidFill>
                <a:latin typeface="Calibri"/>
              </a:rPr>
              <a:t>Nacional · Todos los programas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566928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B164F"/>
                </a:solidFill>
                <a:latin typeface="Century Gothic"/>
              </a:rPr>
              <a:t>Cifras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024128"/>
            <a:ext cx="630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5765"/>
                </a:solidFill>
                <a:latin typeface="Calibri"/>
              </a:rPr>
              <a:t>Transferencias monetarias · Septiembre 2026 · Nacional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1627632"/>
            <a:ext cx="3090672" cy="2212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49240" y="1901952"/>
            <a:ext cx="64008" cy="1664207"/>
          </a:xfrm>
          <a:prstGeom prst="rect">
            <a:avLst/>
          </a:prstGeom>
          <a:solidFill>
            <a:srgbClr val="512F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41848" y="1920240"/>
            <a:ext cx="621792" cy="621792"/>
          </a:xfrm>
          <a:prstGeom prst="ellipse">
            <a:avLst/>
          </a:prstGeom>
          <a:solidFill>
            <a:srgbClr val="512F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hand-coins-bl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1751" y="2060143"/>
            <a:ext cx="341985" cy="34198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0" y="1993392"/>
            <a:ext cx="1856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0">
                <a:solidFill>
                  <a:srgbClr val="5A5765"/>
                </a:solidFill>
                <a:latin typeface="Calibri"/>
              </a:rPr>
              <a:t>Beneficiarios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78424" y="2706624"/>
            <a:ext cx="26334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2B164F"/>
                </a:solidFill>
                <a:latin typeface="Century Gothic"/>
              </a:rPr>
              <a:t>1.578.019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95944" y="1627632"/>
            <a:ext cx="3090672" cy="2212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95944" y="1901952"/>
            <a:ext cx="64008" cy="1664207"/>
          </a:xfrm>
          <a:prstGeom prst="rect">
            <a:avLst/>
          </a:prstGeom>
          <a:solidFill>
            <a:srgbClr val="7657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88552" y="1920240"/>
            <a:ext cx="621792" cy="621792"/>
          </a:xfrm>
          <a:prstGeom prst="ellipse">
            <a:avLst/>
          </a:prstGeom>
          <a:solidFill>
            <a:srgbClr val="512F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target-blan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455" y="2060143"/>
            <a:ext cx="341985" cy="3419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747504" y="1993392"/>
            <a:ext cx="1856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0">
                <a:solidFill>
                  <a:srgbClr val="5A5765"/>
                </a:solidFill>
                <a:latin typeface="Calibri"/>
              </a:rPr>
              <a:t>Ejecución presupuestaria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25128" y="2706624"/>
            <a:ext cx="26334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2B164F"/>
                </a:solidFill>
                <a:latin typeface="Century Gothic"/>
              </a:rPr>
              <a:t>71,0 %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5128" y="3319272"/>
            <a:ext cx="2633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12F8D"/>
                </a:solidFill>
                <a:latin typeface="Calibri"/>
              </a:rPr>
              <a:t>Codificado: USD 1.423,9 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49240" y="4096512"/>
            <a:ext cx="3090672" cy="2212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49240" y="4370832"/>
            <a:ext cx="64008" cy="1664207"/>
          </a:xfrm>
          <a:prstGeom prst="rect">
            <a:avLst/>
          </a:prstGeom>
          <a:solidFill>
            <a:srgbClr val="F8C0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41848" y="4389120"/>
            <a:ext cx="621792" cy="621792"/>
          </a:xfrm>
          <a:prstGeom prst="ellipse">
            <a:avLst/>
          </a:prstGeom>
          <a:solidFill>
            <a:srgbClr val="512F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banknote-blanc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1751" y="4529023"/>
            <a:ext cx="341985" cy="34198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00800" y="4462272"/>
            <a:ext cx="1856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0">
                <a:solidFill>
                  <a:srgbClr val="5A5765"/>
                </a:solidFill>
                <a:latin typeface="Calibri"/>
              </a:rPr>
              <a:t>Presupuesto ejecutado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78424" y="5175504"/>
            <a:ext cx="26334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B164F"/>
                </a:solidFill>
                <a:latin typeface="Century Gothic"/>
              </a:rPr>
              <a:t>USD 1.011,2 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95944" y="4096512"/>
            <a:ext cx="3090672" cy="2212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695944" y="4370832"/>
            <a:ext cx="64008" cy="1664207"/>
          </a:xfrm>
          <a:prstGeom prst="rect">
            <a:avLst/>
          </a:prstGeom>
          <a:solidFill>
            <a:srgbClr val="C33F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988552" y="4389120"/>
            <a:ext cx="621792" cy="621792"/>
          </a:xfrm>
          <a:prstGeom prst="ellipse">
            <a:avLst/>
          </a:prstGeom>
          <a:solidFill>
            <a:srgbClr val="512F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landmark-blanc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8455" y="4529023"/>
            <a:ext cx="341985" cy="34198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747504" y="4462272"/>
            <a:ext cx="1856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0">
                <a:solidFill>
                  <a:srgbClr val="5A5765"/>
                </a:solidFill>
                <a:latin typeface="Calibri"/>
              </a:rPr>
              <a:t>Presupuesto acumulado 2023–2026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25128" y="5175504"/>
            <a:ext cx="26334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B164F"/>
                </a:solidFill>
                <a:latin typeface="Century Gothic"/>
              </a:rPr>
              <a:t>USD 3.759,0 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6473952"/>
            <a:ext cx="4892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748B"/>
                </a:solidFill>
                <a:latin typeface="Calibri"/>
              </a:rPr>
              <a:t>Fuente: Ministerio de Trabajo y Desarrollo Humano · 23 de octubre de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748B"/>
                </a:solidFill>
                <a:latin typeface="Calibri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gradFill rotWithShape="1">
            <a:gsLst>
              <a:gs pos="0">
                <a:srgbClr val="2B164F"/>
              </a:gs>
              <a:gs pos="100000">
                <a:srgbClr val="512F8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F8C0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595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entury Gothic"/>
              </a:rPr>
              <a:t>Resultados por provincia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8595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E4DBF3"/>
                </a:solidFill>
                <a:latin typeface="Calibri"/>
              </a:rPr>
              <a:t>Beneficiarios · Septiembre 2026 · Nacional</a:t>
            </a:r>
          </a:p>
        </p:txBody>
      </p:sp>
      <p:pic>
        <p:nvPicPr>
          <p:cNvPr id="6" name="Picture 5" descr="mtd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56032"/>
            <a:ext cx="2380293" cy="56692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98448"/>
            <a:ext cx="5638800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46520" y="132588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164F"/>
                </a:solidFill>
                <a:latin typeface="Century Gothic"/>
              </a:rPr>
              <a:t>Principales provincias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0202B"/>
                </a:solidFill>
                <a:latin typeface="Calibri"/>
              </a:rPr>
              <a:t>1. Guayas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1828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>
                <a:solidFill>
                  <a:srgbClr val="20202B"/>
                </a:solidFill>
                <a:latin typeface="Calibri"/>
              </a:rPr>
              <a:t>312.265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130552"/>
            <a:ext cx="5212080" cy="82296"/>
          </a:xfrm>
          <a:prstGeom prst="roundRect">
            <a:avLst>
              <a:gd name="adj" fmla="val 50000"/>
            </a:avLst>
          </a:prstGeom>
          <a:solidFill>
            <a:srgbClr val="EFE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2130552"/>
            <a:ext cx="5212080" cy="82296"/>
          </a:xfrm>
          <a:prstGeom prst="roundRect">
            <a:avLst>
              <a:gd name="adj" fmla="val 50000"/>
            </a:avLst>
          </a:prstGeom>
          <a:solidFill>
            <a:srgbClr val="5A3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30428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0202B"/>
                </a:solidFill>
                <a:latin typeface="Calibri"/>
              </a:rPr>
              <a:t>2. Manabí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23042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>
                <a:solidFill>
                  <a:srgbClr val="20202B"/>
                </a:solidFill>
                <a:latin typeface="Calibri"/>
              </a:rPr>
              <a:t>214.817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606040"/>
            <a:ext cx="5212080" cy="82296"/>
          </a:xfrm>
          <a:prstGeom prst="roundRect">
            <a:avLst>
              <a:gd name="adj" fmla="val 50000"/>
            </a:avLst>
          </a:prstGeom>
          <a:solidFill>
            <a:srgbClr val="EFE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46520" y="2606040"/>
            <a:ext cx="3585555" cy="82296"/>
          </a:xfrm>
          <a:prstGeom prst="roundRect">
            <a:avLst>
              <a:gd name="adj" fmla="val 50000"/>
            </a:avLst>
          </a:prstGeom>
          <a:solidFill>
            <a:srgbClr val="5A3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779776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0202B"/>
                </a:solidFill>
                <a:latin typeface="Calibri"/>
              </a:rPr>
              <a:t>3. Los Ríos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800" y="277977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>
                <a:solidFill>
                  <a:srgbClr val="20202B"/>
                </a:solidFill>
                <a:latin typeface="Calibri"/>
              </a:rPr>
              <a:t>126.547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3081528"/>
            <a:ext cx="5212080" cy="82296"/>
          </a:xfrm>
          <a:prstGeom prst="roundRect">
            <a:avLst>
              <a:gd name="adj" fmla="val 50000"/>
            </a:avLst>
          </a:prstGeom>
          <a:solidFill>
            <a:srgbClr val="EFE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3081528"/>
            <a:ext cx="2112222" cy="82296"/>
          </a:xfrm>
          <a:prstGeom prst="roundRect">
            <a:avLst>
              <a:gd name="adj" fmla="val 50000"/>
            </a:avLst>
          </a:prstGeom>
          <a:solidFill>
            <a:srgbClr val="5A3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255264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0202B"/>
                </a:solidFill>
                <a:latin typeface="Calibri"/>
              </a:rPr>
              <a:t>4. Pichincha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32552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>
                <a:solidFill>
                  <a:srgbClr val="20202B"/>
                </a:solidFill>
                <a:latin typeface="Calibri"/>
              </a:rPr>
              <a:t>107.356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3557016"/>
            <a:ext cx="5212080" cy="82296"/>
          </a:xfrm>
          <a:prstGeom prst="roundRect">
            <a:avLst>
              <a:gd name="adj" fmla="val 50000"/>
            </a:avLst>
          </a:prstGeom>
          <a:solidFill>
            <a:srgbClr val="EFE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46520" y="3557016"/>
            <a:ext cx="1791901" cy="82296"/>
          </a:xfrm>
          <a:prstGeom prst="roundRect">
            <a:avLst>
              <a:gd name="adj" fmla="val 50000"/>
            </a:avLst>
          </a:prstGeom>
          <a:solidFill>
            <a:srgbClr val="5A3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730752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0202B"/>
                </a:solidFill>
                <a:latin typeface="Calibri"/>
              </a:rPr>
              <a:t>5. Esmeraldas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37307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>
                <a:solidFill>
                  <a:srgbClr val="20202B"/>
                </a:solidFill>
                <a:latin typeface="Calibri"/>
              </a:rPr>
              <a:t>104.516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4032504"/>
            <a:ext cx="5212080" cy="82296"/>
          </a:xfrm>
          <a:prstGeom prst="roundRect">
            <a:avLst>
              <a:gd name="adj" fmla="val 50000"/>
            </a:avLst>
          </a:prstGeom>
          <a:solidFill>
            <a:srgbClr val="EFE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6520" y="4032504"/>
            <a:ext cx="1744498" cy="82296"/>
          </a:xfrm>
          <a:prstGeom prst="roundRect">
            <a:avLst>
              <a:gd name="adj" fmla="val 50000"/>
            </a:avLst>
          </a:prstGeom>
          <a:solidFill>
            <a:srgbClr val="5A3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20624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0202B"/>
                </a:solidFill>
                <a:latin typeface="Calibri"/>
              </a:rPr>
              <a:t>6. Chimborazo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4206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>
                <a:solidFill>
                  <a:srgbClr val="20202B"/>
                </a:solidFill>
                <a:latin typeface="Calibri"/>
              </a:rPr>
              <a:t>66.600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4507992"/>
            <a:ext cx="5212080" cy="82296"/>
          </a:xfrm>
          <a:prstGeom prst="roundRect">
            <a:avLst>
              <a:gd name="adj" fmla="val 50000"/>
            </a:avLst>
          </a:prstGeom>
          <a:solidFill>
            <a:srgbClr val="EFE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46520" y="4507992"/>
            <a:ext cx="1111634" cy="82296"/>
          </a:xfrm>
          <a:prstGeom prst="roundRect">
            <a:avLst>
              <a:gd name="adj" fmla="val 50000"/>
            </a:avLst>
          </a:prstGeom>
          <a:solidFill>
            <a:srgbClr val="5A3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681727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0202B"/>
                </a:solidFill>
                <a:latin typeface="Calibri"/>
              </a:rPr>
              <a:t>7. Cotopaxi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4681727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>
                <a:solidFill>
                  <a:srgbClr val="20202B"/>
                </a:solidFill>
                <a:latin typeface="Calibri"/>
              </a:rPr>
              <a:t>66.269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46520" y="4983479"/>
            <a:ext cx="5212080" cy="82296"/>
          </a:xfrm>
          <a:prstGeom prst="roundRect">
            <a:avLst>
              <a:gd name="adj" fmla="val 50000"/>
            </a:avLst>
          </a:prstGeom>
          <a:solidFill>
            <a:srgbClr val="EFE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46520" y="4983479"/>
            <a:ext cx="1106109" cy="82296"/>
          </a:xfrm>
          <a:prstGeom prst="roundRect">
            <a:avLst>
              <a:gd name="adj" fmla="val 50000"/>
            </a:avLst>
          </a:prstGeom>
          <a:solidFill>
            <a:srgbClr val="5A3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46520" y="5321808"/>
            <a:ext cx="5212080" cy="932688"/>
          </a:xfrm>
          <a:prstGeom prst="roundRect">
            <a:avLst>
              <a:gd name="adj" fmla="val 12000"/>
            </a:avLst>
          </a:prstGeom>
          <a:solidFill>
            <a:srgbClr val="F1ED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29400" y="5513832"/>
            <a:ext cx="548640" cy="548640"/>
          </a:xfrm>
          <a:prstGeom prst="ellipse">
            <a:avLst/>
          </a:prstGeom>
          <a:solidFill>
            <a:srgbClr val="512F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pin-bl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844" y="5637276"/>
            <a:ext cx="301752" cy="30175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315200" y="5431536"/>
            <a:ext cx="41605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20202B"/>
                </a:solidFill>
                <a:latin typeface="Calibri"/>
              </a:rPr>
              <a:t>Guayas, Manabí y Los Ríos reúnen el 41,4 % de los beneficiarios del país.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73952"/>
            <a:ext cx="973835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748B"/>
                </a:solidFill>
                <a:latin typeface="Calibri"/>
              </a:rPr>
              <a:t>Fuente: Ministerio de Trabajo y Desarrollo Humano · 23 de octubre de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748B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gradFill rotWithShape="1">
            <a:gsLst>
              <a:gs pos="0">
                <a:srgbClr val="2B164F"/>
              </a:gs>
              <a:gs pos="100000">
                <a:srgbClr val="512F8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F8C0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595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entury Gothic"/>
              </a:rPr>
              <a:t>Resultados por cantón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8595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E4DBF3"/>
                </a:solidFill>
                <a:latin typeface="Calibri"/>
              </a:rPr>
              <a:t>Beneficiarios · Septiembre 2026 · Nacional</a:t>
            </a:r>
          </a:p>
        </p:txBody>
      </p:sp>
      <p:pic>
        <p:nvPicPr>
          <p:cNvPr id="6" name="Picture 5" descr="mtd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56032"/>
            <a:ext cx="2380293" cy="56692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98448"/>
            <a:ext cx="5638800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46520" y="132588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164F"/>
                </a:solidFill>
                <a:latin typeface="Century Gothic"/>
              </a:rPr>
              <a:t>Principales cantones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0202B"/>
                </a:solidFill>
                <a:latin typeface="Calibri"/>
              </a:rPr>
              <a:t>1. Guayaquil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1828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>
                <a:solidFill>
                  <a:srgbClr val="20202B"/>
                </a:solidFill>
                <a:latin typeface="Calibri"/>
              </a:rPr>
              <a:t>133.941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130552"/>
            <a:ext cx="5212080" cy="82296"/>
          </a:xfrm>
          <a:prstGeom prst="roundRect">
            <a:avLst>
              <a:gd name="adj" fmla="val 50000"/>
            </a:avLst>
          </a:prstGeom>
          <a:solidFill>
            <a:srgbClr val="EFE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2130552"/>
            <a:ext cx="5212080" cy="82296"/>
          </a:xfrm>
          <a:prstGeom prst="roundRect">
            <a:avLst>
              <a:gd name="adj" fmla="val 50000"/>
            </a:avLst>
          </a:prstGeom>
          <a:solidFill>
            <a:srgbClr val="5A3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30428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0202B"/>
                </a:solidFill>
                <a:latin typeface="Calibri"/>
              </a:rPr>
              <a:t>2. Quito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23042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>
                <a:solidFill>
                  <a:srgbClr val="20202B"/>
                </a:solidFill>
                <a:latin typeface="Calibri"/>
              </a:rPr>
              <a:t>77.405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606040"/>
            <a:ext cx="5212080" cy="82296"/>
          </a:xfrm>
          <a:prstGeom prst="roundRect">
            <a:avLst>
              <a:gd name="adj" fmla="val 50000"/>
            </a:avLst>
          </a:prstGeom>
          <a:solidFill>
            <a:srgbClr val="EFE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46520" y="2606040"/>
            <a:ext cx="3012080" cy="82296"/>
          </a:xfrm>
          <a:prstGeom prst="roundRect">
            <a:avLst>
              <a:gd name="adj" fmla="val 50000"/>
            </a:avLst>
          </a:prstGeom>
          <a:solidFill>
            <a:srgbClr val="5A3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779776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0202B"/>
                </a:solidFill>
                <a:latin typeface="Calibri"/>
              </a:rPr>
              <a:t>3. Santo Domingo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800" y="277977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>
                <a:solidFill>
                  <a:srgbClr val="20202B"/>
                </a:solidFill>
                <a:latin typeface="Calibri"/>
              </a:rPr>
              <a:t>39.156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3081528"/>
            <a:ext cx="5212080" cy="82296"/>
          </a:xfrm>
          <a:prstGeom prst="roundRect">
            <a:avLst>
              <a:gd name="adj" fmla="val 50000"/>
            </a:avLst>
          </a:prstGeom>
          <a:solidFill>
            <a:srgbClr val="EFE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3081528"/>
            <a:ext cx="1523687" cy="82296"/>
          </a:xfrm>
          <a:prstGeom prst="roundRect">
            <a:avLst>
              <a:gd name="adj" fmla="val 50000"/>
            </a:avLst>
          </a:prstGeom>
          <a:solidFill>
            <a:srgbClr val="5A3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255264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0202B"/>
                </a:solidFill>
                <a:latin typeface="Calibri"/>
              </a:rPr>
              <a:t>4. Esmeraldas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32552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>
                <a:solidFill>
                  <a:srgbClr val="20202B"/>
                </a:solidFill>
                <a:latin typeface="Calibri"/>
              </a:rPr>
              <a:t>30.145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3557016"/>
            <a:ext cx="5212080" cy="82296"/>
          </a:xfrm>
          <a:prstGeom prst="roundRect">
            <a:avLst>
              <a:gd name="adj" fmla="val 50000"/>
            </a:avLst>
          </a:prstGeom>
          <a:solidFill>
            <a:srgbClr val="EFE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46520" y="3557016"/>
            <a:ext cx="1173040" cy="82296"/>
          </a:xfrm>
          <a:prstGeom prst="roundRect">
            <a:avLst>
              <a:gd name="adj" fmla="val 50000"/>
            </a:avLst>
          </a:prstGeom>
          <a:solidFill>
            <a:srgbClr val="5A3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730752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0202B"/>
                </a:solidFill>
                <a:latin typeface="Calibri"/>
              </a:rPr>
              <a:t>5. Portoviejo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37307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>
                <a:solidFill>
                  <a:srgbClr val="20202B"/>
                </a:solidFill>
                <a:latin typeface="Calibri"/>
              </a:rPr>
              <a:t>28.612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4032504"/>
            <a:ext cx="5212080" cy="82296"/>
          </a:xfrm>
          <a:prstGeom prst="roundRect">
            <a:avLst>
              <a:gd name="adj" fmla="val 50000"/>
            </a:avLst>
          </a:prstGeom>
          <a:solidFill>
            <a:srgbClr val="EFE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6520" y="4032504"/>
            <a:ext cx="1113385" cy="82296"/>
          </a:xfrm>
          <a:prstGeom prst="roundRect">
            <a:avLst>
              <a:gd name="adj" fmla="val 50000"/>
            </a:avLst>
          </a:prstGeom>
          <a:solidFill>
            <a:srgbClr val="5A3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20624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0202B"/>
                </a:solidFill>
                <a:latin typeface="Calibri"/>
              </a:rPr>
              <a:t>6. Ambato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4206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>
                <a:solidFill>
                  <a:srgbClr val="20202B"/>
                </a:solidFill>
                <a:latin typeface="Calibri"/>
              </a:rPr>
              <a:t>28.074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4507992"/>
            <a:ext cx="5212080" cy="82296"/>
          </a:xfrm>
          <a:prstGeom prst="roundRect">
            <a:avLst>
              <a:gd name="adj" fmla="val 50000"/>
            </a:avLst>
          </a:prstGeom>
          <a:solidFill>
            <a:srgbClr val="EFE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46520" y="4507992"/>
            <a:ext cx="1092450" cy="82296"/>
          </a:xfrm>
          <a:prstGeom prst="roundRect">
            <a:avLst>
              <a:gd name="adj" fmla="val 50000"/>
            </a:avLst>
          </a:prstGeom>
          <a:solidFill>
            <a:srgbClr val="5A3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681727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0202B"/>
                </a:solidFill>
                <a:latin typeface="Calibri"/>
              </a:rPr>
              <a:t>7. Santa Elena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4681727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>
                <a:solidFill>
                  <a:srgbClr val="20202B"/>
                </a:solidFill>
                <a:latin typeface="Calibri"/>
              </a:rPr>
              <a:t>26.464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46520" y="4983479"/>
            <a:ext cx="5212080" cy="82296"/>
          </a:xfrm>
          <a:prstGeom prst="roundRect">
            <a:avLst>
              <a:gd name="adj" fmla="val 50000"/>
            </a:avLst>
          </a:prstGeom>
          <a:solidFill>
            <a:srgbClr val="EFE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46520" y="4983479"/>
            <a:ext cx="1029800" cy="82296"/>
          </a:xfrm>
          <a:prstGeom prst="roundRect">
            <a:avLst>
              <a:gd name="adj" fmla="val 50000"/>
            </a:avLst>
          </a:prstGeom>
          <a:solidFill>
            <a:srgbClr val="5A3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46520" y="5321808"/>
            <a:ext cx="5212080" cy="932688"/>
          </a:xfrm>
          <a:prstGeom prst="roundRect">
            <a:avLst>
              <a:gd name="adj" fmla="val 12000"/>
            </a:avLst>
          </a:prstGeom>
          <a:solidFill>
            <a:srgbClr val="F1ED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29400" y="5513832"/>
            <a:ext cx="548640" cy="548640"/>
          </a:xfrm>
          <a:prstGeom prst="ellipse">
            <a:avLst/>
          </a:prstGeom>
          <a:solidFill>
            <a:srgbClr val="512F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layers-bl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844" y="5637276"/>
            <a:ext cx="301752" cy="30175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315200" y="5431536"/>
            <a:ext cx="41605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20202B"/>
                </a:solidFill>
                <a:latin typeface="Calibri"/>
              </a:rPr>
              <a:t>La mitad de los beneficiarios se concentra en 31 de los 223 cantones con cobertura.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73952"/>
            <a:ext cx="973835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748B"/>
                </a:solidFill>
                <a:latin typeface="Calibri"/>
              </a:rPr>
              <a:t>Fuente: Ministerio de Trabajo y Desarrollo Humano · 23 de octubre de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748B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gradFill rotWithShape="1">
            <a:gsLst>
              <a:gs pos="0">
                <a:srgbClr val="2B164F"/>
              </a:gs>
              <a:gs pos="100000">
                <a:srgbClr val="512F8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F8C0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595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entury Gothic"/>
              </a:rPr>
              <a:t>Resultados por parroquia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8595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E4DBF3"/>
                </a:solidFill>
                <a:latin typeface="Calibri"/>
              </a:rPr>
              <a:t>Beneficiarios · Septiembre 2026 · Nacional</a:t>
            </a:r>
          </a:p>
        </p:txBody>
      </p:sp>
      <p:pic>
        <p:nvPicPr>
          <p:cNvPr id="6" name="Picture 5" descr="mtd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56032"/>
            <a:ext cx="2380293" cy="56692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98448"/>
            <a:ext cx="5638800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46520" y="132588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164F"/>
                </a:solidFill>
                <a:latin typeface="Century Gothic"/>
              </a:rPr>
              <a:t>Principales parroquias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0202B"/>
                </a:solidFill>
                <a:latin typeface="Calibri"/>
              </a:rPr>
              <a:t>1. Guayaquil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1828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>
                <a:solidFill>
                  <a:srgbClr val="20202B"/>
                </a:solidFill>
                <a:latin typeface="Calibri"/>
              </a:rPr>
              <a:t>117.792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130552"/>
            <a:ext cx="5212080" cy="82296"/>
          </a:xfrm>
          <a:prstGeom prst="roundRect">
            <a:avLst>
              <a:gd name="adj" fmla="val 50000"/>
            </a:avLst>
          </a:prstGeom>
          <a:solidFill>
            <a:srgbClr val="EFE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2130552"/>
            <a:ext cx="5212080" cy="82296"/>
          </a:xfrm>
          <a:prstGeom prst="roundRect">
            <a:avLst>
              <a:gd name="adj" fmla="val 50000"/>
            </a:avLst>
          </a:prstGeom>
          <a:solidFill>
            <a:srgbClr val="5A3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30428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0202B"/>
                </a:solidFill>
                <a:latin typeface="Calibri"/>
              </a:rPr>
              <a:t>2. Quito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23042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>
                <a:solidFill>
                  <a:srgbClr val="20202B"/>
                </a:solidFill>
                <a:latin typeface="Calibri"/>
              </a:rPr>
              <a:t>40.295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606040"/>
            <a:ext cx="5212080" cy="82296"/>
          </a:xfrm>
          <a:prstGeom prst="roundRect">
            <a:avLst>
              <a:gd name="adj" fmla="val 50000"/>
            </a:avLst>
          </a:prstGeom>
          <a:solidFill>
            <a:srgbClr val="EFE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46520" y="2606040"/>
            <a:ext cx="1782979" cy="82296"/>
          </a:xfrm>
          <a:prstGeom prst="roundRect">
            <a:avLst>
              <a:gd name="adj" fmla="val 50000"/>
            </a:avLst>
          </a:prstGeom>
          <a:solidFill>
            <a:srgbClr val="5A3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779776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0202B"/>
                </a:solidFill>
                <a:latin typeface="Calibri"/>
              </a:rPr>
              <a:t>3. Santo Domingo de los Colorados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800" y="277977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>
                <a:solidFill>
                  <a:srgbClr val="20202B"/>
                </a:solidFill>
                <a:latin typeface="Calibri"/>
              </a:rPr>
              <a:t>26.997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3081528"/>
            <a:ext cx="5212080" cy="82296"/>
          </a:xfrm>
          <a:prstGeom prst="roundRect">
            <a:avLst>
              <a:gd name="adj" fmla="val 50000"/>
            </a:avLst>
          </a:prstGeom>
          <a:solidFill>
            <a:srgbClr val="EFE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3081528"/>
            <a:ext cx="1194567" cy="82296"/>
          </a:xfrm>
          <a:prstGeom prst="roundRect">
            <a:avLst>
              <a:gd name="adj" fmla="val 50000"/>
            </a:avLst>
          </a:prstGeom>
          <a:solidFill>
            <a:srgbClr val="5A3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255264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0202B"/>
                </a:solidFill>
                <a:latin typeface="Calibri"/>
              </a:rPr>
              <a:t>4. Esmeraldas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32552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>
                <a:solidFill>
                  <a:srgbClr val="20202B"/>
                </a:solidFill>
                <a:latin typeface="Calibri"/>
              </a:rPr>
              <a:t>20.022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3557016"/>
            <a:ext cx="5212080" cy="82296"/>
          </a:xfrm>
          <a:prstGeom prst="roundRect">
            <a:avLst>
              <a:gd name="adj" fmla="val 50000"/>
            </a:avLst>
          </a:prstGeom>
          <a:solidFill>
            <a:srgbClr val="EFE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46520" y="3557016"/>
            <a:ext cx="885936" cy="82296"/>
          </a:xfrm>
          <a:prstGeom prst="roundRect">
            <a:avLst>
              <a:gd name="adj" fmla="val 50000"/>
            </a:avLst>
          </a:prstGeom>
          <a:solidFill>
            <a:srgbClr val="5A3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730752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0202B"/>
                </a:solidFill>
                <a:latin typeface="Calibri"/>
              </a:rPr>
              <a:t>5. Eloy Alfaro · Durán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37307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>
                <a:solidFill>
                  <a:srgbClr val="20202B"/>
                </a:solidFill>
                <a:latin typeface="Calibri"/>
              </a:rPr>
              <a:t>18.193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4032504"/>
            <a:ext cx="5212080" cy="82296"/>
          </a:xfrm>
          <a:prstGeom prst="roundRect">
            <a:avLst>
              <a:gd name="adj" fmla="val 50000"/>
            </a:avLst>
          </a:prstGeom>
          <a:solidFill>
            <a:srgbClr val="EFE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6520" y="4032504"/>
            <a:ext cx="805006" cy="82296"/>
          </a:xfrm>
          <a:prstGeom prst="roundRect">
            <a:avLst>
              <a:gd name="adj" fmla="val 50000"/>
            </a:avLst>
          </a:prstGeom>
          <a:solidFill>
            <a:srgbClr val="5A3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20624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0202B"/>
                </a:solidFill>
                <a:latin typeface="Calibri"/>
              </a:rPr>
              <a:t>6. Quevedo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4206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>
                <a:solidFill>
                  <a:srgbClr val="20202B"/>
                </a:solidFill>
                <a:latin typeface="Calibri"/>
              </a:rPr>
              <a:t>17.477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4507992"/>
            <a:ext cx="5212080" cy="82296"/>
          </a:xfrm>
          <a:prstGeom prst="roundRect">
            <a:avLst>
              <a:gd name="adj" fmla="val 50000"/>
            </a:avLst>
          </a:prstGeom>
          <a:solidFill>
            <a:srgbClr val="EFE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46520" y="4507992"/>
            <a:ext cx="773325" cy="82296"/>
          </a:xfrm>
          <a:prstGeom prst="roundRect">
            <a:avLst>
              <a:gd name="adj" fmla="val 50000"/>
            </a:avLst>
          </a:prstGeom>
          <a:solidFill>
            <a:srgbClr val="5A3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681727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0202B"/>
                </a:solidFill>
                <a:latin typeface="Calibri"/>
              </a:rPr>
              <a:t>7. Portoviejo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4681727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>
                <a:solidFill>
                  <a:srgbClr val="20202B"/>
                </a:solidFill>
                <a:latin typeface="Calibri"/>
              </a:rPr>
              <a:t>17.107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46520" y="4983479"/>
            <a:ext cx="5212080" cy="82296"/>
          </a:xfrm>
          <a:prstGeom prst="roundRect">
            <a:avLst>
              <a:gd name="adj" fmla="val 50000"/>
            </a:avLst>
          </a:prstGeom>
          <a:solidFill>
            <a:srgbClr val="EFE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46520" y="4983479"/>
            <a:ext cx="756953" cy="82296"/>
          </a:xfrm>
          <a:prstGeom prst="roundRect">
            <a:avLst>
              <a:gd name="adj" fmla="val 50000"/>
            </a:avLst>
          </a:prstGeom>
          <a:solidFill>
            <a:srgbClr val="5A3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46520" y="5321808"/>
            <a:ext cx="5212080" cy="932688"/>
          </a:xfrm>
          <a:prstGeom prst="roundRect">
            <a:avLst>
              <a:gd name="adj" fmla="val 12000"/>
            </a:avLst>
          </a:prstGeom>
          <a:solidFill>
            <a:srgbClr val="F1ED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29400" y="5513832"/>
            <a:ext cx="548640" cy="548640"/>
          </a:xfrm>
          <a:prstGeom prst="ellipse">
            <a:avLst/>
          </a:prstGeom>
          <a:solidFill>
            <a:srgbClr val="512F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layers-bl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844" y="5637276"/>
            <a:ext cx="301752" cy="30175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315200" y="5431536"/>
            <a:ext cx="41605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20202B"/>
                </a:solidFill>
                <a:latin typeface="Calibri"/>
              </a:rPr>
              <a:t>La mitad de los beneficiarios se concentra en 96 de las 1.283 parroquias con cobertura.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73952"/>
            <a:ext cx="973835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748B"/>
                </a:solidFill>
                <a:latin typeface="Calibri"/>
              </a:rPr>
              <a:t>Fuente: Ministerio de Trabajo y Desarrollo Humano · 23 de octubre de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748B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gradFill rotWithShape="1">
            <a:gsLst>
              <a:gs pos="0">
                <a:srgbClr val="2B164F"/>
              </a:gs>
              <a:gs pos="100000">
                <a:srgbClr val="512F8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F8C0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595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entury Gothic"/>
              </a:rPr>
              <a:t>Ejecución presupuestaria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8595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E4DBF3"/>
                </a:solidFill>
                <a:latin typeface="Calibri"/>
              </a:rPr>
              <a:t>Devengado sobre codificado · Septiembre 2026 · Nacional</a:t>
            </a:r>
          </a:p>
        </p:txBody>
      </p:sp>
      <p:pic>
        <p:nvPicPr>
          <p:cNvPr id="6" name="Picture 5" descr="mtd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56032"/>
            <a:ext cx="2380293" cy="566928"/>
          </a:xfrm>
          <a:prstGeom prst="rect">
            <a:avLst/>
          </a:prstGeom>
        </p:spPr>
      </p:pic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11480" y="1783080"/>
          <a:ext cx="6355080" cy="4526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1325880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164F"/>
                </a:solidFill>
                <a:latin typeface="Century Gothic"/>
              </a:rPr>
              <a:t>Por programa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3258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164F"/>
                </a:solidFill>
                <a:latin typeface="Century Gothic"/>
              </a:rPr>
              <a:t>Por provincia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8288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0202B"/>
                </a:solidFill>
                <a:latin typeface="Calibri"/>
              </a:rPr>
              <a:t>Guayas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1828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>
                <a:solidFill>
                  <a:srgbClr val="20202B"/>
                </a:solidFill>
                <a:latin typeface="Calibri"/>
              </a:rPr>
              <a:t>71,0 %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2130552"/>
            <a:ext cx="4572000" cy="82296"/>
          </a:xfrm>
          <a:prstGeom prst="roundRect">
            <a:avLst>
              <a:gd name="adj" fmla="val 50000"/>
            </a:avLst>
          </a:prstGeom>
          <a:solidFill>
            <a:srgbClr val="EFE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86600" y="2130552"/>
            <a:ext cx="3246270" cy="82296"/>
          </a:xfrm>
          <a:prstGeom prst="roundRect">
            <a:avLst>
              <a:gd name="adj" fmla="val 50000"/>
            </a:avLst>
          </a:prstGeom>
          <a:solidFill>
            <a:srgbClr val="5A3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22860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0202B"/>
                </a:solidFill>
                <a:latin typeface="Calibri"/>
              </a:rPr>
              <a:t>Manabí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9800" y="22860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>
                <a:solidFill>
                  <a:srgbClr val="20202B"/>
                </a:solidFill>
                <a:latin typeface="Calibri"/>
              </a:rPr>
              <a:t>71,1 %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2587752"/>
            <a:ext cx="4572000" cy="82296"/>
          </a:xfrm>
          <a:prstGeom prst="roundRect">
            <a:avLst>
              <a:gd name="adj" fmla="val 50000"/>
            </a:avLst>
          </a:prstGeom>
          <a:solidFill>
            <a:srgbClr val="EFE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86600" y="2587752"/>
            <a:ext cx="3251322" cy="82296"/>
          </a:xfrm>
          <a:prstGeom prst="roundRect">
            <a:avLst>
              <a:gd name="adj" fmla="val 50000"/>
            </a:avLst>
          </a:prstGeom>
          <a:solidFill>
            <a:srgbClr val="5A3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27432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0202B"/>
                </a:solidFill>
                <a:latin typeface="Calibri"/>
              </a:rPr>
              <a:t>Los Ríos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27432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>
                <a:solidFill>
                  <a:srgbClr val="20202B"/>
                </a:solidFill>
                <a:latin typeface="Calibri"/>
              </a:rPr>
              <a:t>71,0 %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3044952"/>
            <a:ext cx="4572000" cy="82296"/>
          </a:xfrm>
          <a:prstGeom prst="roundRect">
            <a:avLst>
              <a:gd name="adj" fmla="val 50000"/>
            </a:avLst>
          </a:prstGeom>
          <a:solidFill>
            <a:srgbClr val="EFE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086600" y="3044952"/>
            <a:ext cx="3247834" cy="82296"/>
          </a:xfrm>
          <a:prstGeom prst="roundRect">
            <a:avLst>
              <a:gd name="adj" fmla="val 50000"/>
            </a:avLst>
          </a:prstGeom>
          <a:solidFill>
            <a:srgbClr val="5A3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32004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0202B"/>
                </a:solidFill>
                <a:latin typeface="Calibri"/>
              </a:rPr>
              <a:t>Pichincha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32004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>
                <a:solidFill>
                  <a:srgbClr val="20202B"/>
                </a:solidFill>
                <a:latin typeface="Calibri"/>
              </a:rPr>
              <a:t>71,2 %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502152"/>
            <a:ext cx="4572000" cy="82296"/>
          </a:xfrm>
          <a:prstGeom prst="roundRect">
            <a:avLst>
              <a:gd name="adj" fmla="val 50000"/>
            </a:avLst>
          </a:prstGeom>
          <a:solidFill>
            <a:srgbClr val="EFE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086600" y="3502152"/>
            <a:ext cx="3256482" cy="82296"/>
          </a:xfrm>
          <a:prstGeom prst="roundRect">
            <a:avLst>
              <a:gd name="adj" fmla="val 50000"/>
            </a:avLst>
          </a:prstGeom>
          <a:solidFill>
            <a:srgbClr val="5A3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36576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0202B"/>
                </a:solidFill>
                <a:latin typeface="Calibri"/>
              </a:rPr>
              <a:t>Esmeraldas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36576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>
                <a:solidFill>
                  <a:srgbClr val="20202B"/>
                </a:solidFill>
                <a:latin typeface="Calibri"/>
              </a:rPr>
              <a:t>70,2 %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86600" y="3959352"/>
            <a:ext cx="4572000" cy="82296"/>
          </a:xfrm>
          <a:prstGeom prst="roundRect">
            <a:avLst>
              <a:gd name="adj" fmla="val 50000"/>
            </a:avLst>
          </a:prstGeom>
          <a:solidFill>
            <a:srgbClr val="EFE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86600" y="3959352"/>
            <a:ext cx="3210472" cy="82296"/>
          </a:xfrm>
          <a:prstGeom prst="roundRect">
            <a:avLst>
              <a:gd name="adj" fmla="val 50000"/>
            </a:avLst>
          </a:prstGeom>
          <a:solidFill>
            <a:srgbClr val="5A3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86600" y="41148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0202B"/>
                </a:solidFill>
                <a:latin typeface="Calibri"/>
              </a:rPr>
              <a:t>Chimborazo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4114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>
                <a:solidFill>
                  <a:srgbClr val="20202B"/>
                </a:solidFill>
                <a:latin typeface="Calibri"/>
              </a:rPr>
              <a:t>71,2 %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86600" y="4416552"/>
            <a:ext cx="4572000" cy="82296"/>
          </a:xfrm>
          <a:prstGeom prst="roundRect">
            <a:avLst>
              <a:gd name="adj" fmla="val 50000"/>
            </a:avLst>
          </a:prstGeom>
          <a:solidFill>
            <a:srgbClr val="EFE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086600" y="4416552"/>
            <a:ext cx="3255313" cy="82296"/>
          </a:xfrm>
          <a:prstGeom prst="roundRect">
            <a:avLst>
              <a:gd name="adj" fmla="val 50000"/>
            </a:avLst>
          </a:prstGeom>
          <a:solidFill>
            <a:srgbClr val="5A3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86600" y="45720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0202B"/>
                </a:solidFill>
                <a:latin typeface="Calibri"/>
              </a:rPr>
              <a:t>Cotopaxi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9800" y="45720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>
                <a:solidFill>
                  <a:srgbClr val="20202B"/>
                </a:solidFill>
                <a:latin typeface="Calibri"/>
              </a:rPr>
              <a:t>71,2 %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86600" y="4873752"/>
            <a:ext cx="4572000" cy="82296"/>
          </a:xfrm>
          <a:prstGeom prst="roundRect">
            <a:avLst>
              <a:gd name="adj" fmla="val 50000"/>
            </a:avLst>
          </a:prstGeom>
          <a:solidFill>
            <a:srgbClr val="EFE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086600" y="4873752"/>
            <a:ext cx="3253257" cy="82296"/>
          </a:xfrm>
          <a:prstGeom prst="roundRect">
            <a:avLst>
              <a:gd name="adj" fmla="val 50000"/>
            </a:avLst>
          </a:prstGeom>
          <a:solidFill>
            <a:srgbClr val="5A3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086600" y="5257800"/>
            <a:ext cx="4572000" cy="1005840"/>
          </a:xfrm>
          <a:prstGeom prst="roundRect">
            <a:avLst>
              <a:gd name="adj" fmla="val 12000"/>
            </a:avLst>
          </a:prstGeom>
          <a:solidFill>
            <a:srgbClr val="F1ED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269480" y="5486400"/>
            <a:ext cx="548640" cy="548640"/>
          </a:xfrm>
          <a:prstGeom prst="ellipse">
            <a:avLst/>
          </a:prstGeom>
          <a:solidFill>
            <a:srgbClr val="512F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trending-up-bl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2924" y="5609844"/>
            <a:ext cx="301752" cy="30175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955279" y="5367528"/>
            <a:ext cx="35204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20202B"/>
                </a:solidFill>
                <a:latin typeface="Calibri"/>
              </a:rPr>
              <a:t>El presupuesto ejecutado 2026 asciende a USD 1.011,2 millones, el 71,0 % del presupuesto codificado.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73952"/>
            <a:ext cx="973835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748B"/>
                </a:solidFill>
                <a:latin typeface="Calibri"/>
              </a:rPr>
              <a:t>Fuente: Ministerio de Trabajo y Desarrollo Humano · 23 de octubre de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748B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gradFill rotWithShape="1">
            <a:gsLst>
              <a:gs pos="0">
                <a:srgbClr val="2B164F"/>
              </a:gs>
              <a:gs pos="100000">
                <a:srgbClr val="512F8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F8C0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595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entury Gothic"/>
              </a:rPr>
              <a:t>Resultados por programa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8595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E4DBF3"/>
                </a:solidFill>
                <a:latin typeface="Calibri"/>
              </a:rPr>
              <a:t>Beneficiarios · Septiembre 2026 · Nacional</a:t>
            </a:r>
          </a:p>
        </p:txBody>
      </p:sp>
      <p:pic>
        <p:nvPicPr>
          <p:cNvPr id="6" name="Picture 5" descr="mtd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56032"/>
            <a:ext cx="2380293" cy="566928"/>
          </a:xfrm>
          <a:prstGeom prst="rect">
            <a:avLst/>
          </a:prstGeom>
        </p:spPr>
      </p:pic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11480" y="1325880"/>
          <a:ext cx="6355080" cy="4983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086600" y="13258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164F"/>
                </a:solidFill>
                <a:latin typeface="Century Gothic"/>
              </a:rPr>
              <a:t>Aspectos destacados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847088"/>
            <a:ext cx="4617720" cy="1298448"/>
          </a:xfrm>
          <a:prstGeom prst="roundRect">
            <a:avLst>
              <a:gd name="adj" fmla="val 10000"/>
            </a:avLst>
          </a:prstGeom>
          <a:solidFill>
            <a:srgbClr val="F1ED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269479" y="2203704"/>
            <a:ext cx="585216" cy="585216"/>
          </a:xfrm>
          <a:prstGeom prst="ellipse">
            <a:avLst/>
          </a:prstGeom>
          <a:solidFill>
            <a:srgbClr val="512F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award-bl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1153" y="2335377"/>
            <a:ext cx="321868" cy="3218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28431" y="1975104"/>
            <a:ext cx="3520439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20202B"/>
                </a:solidFill>
                <a:latin typeface="Calibri"/>
              </a:rPr>
              <a:t>Bono de Desarrollo Humano concentra el 39,2 % de los beneficiarios, con 619.073 personas.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3310128"/>
            <a:ext cx="4617720" cy="1298448"/>
          </a:xfrm>
          <a:prstGeom prst="roundRect">
            <a:avLst>
              <a:gd name="adj" fmla="val 10000"/>
            </a:avLst>
          </a:prstGeom>
          <a:solidFill>
            <a:srgbClr val="F1ED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69479" y="3666744"/>
            <a:ext cx="585216" cy="585216"/>
          </a:xfrm>
          <a:prstGeom prst="ellipse">
            <a:avLst/>
          </a:prstGeom>
          <a:solidFill>
            <a:srgbClr val="512F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banknote-blan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1153" y="3798417"/>
            <a:ext cx="321868" cy="3218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28431" y="3438144"/>
            <a:ext cx="3520439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20202B"/>
                </a:solidFill>
                <a:latin typeface="Calibri"/>
              </a:rPr>
              <a:t>Bono de Desarrollo Humano registra el 26,7 % del presupuesto ejecutado 2026, con USD 270,2 millones.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4773168"/>
            <a:ext cx="4617720" cy="1298448"/>
          </a:xfrm>
          <a:prstGeom prst="roundRect">
            <a:avLst>
              <a:gd name="adj" fmla="val 10000"/>
            </a:avLst>
          </a:prstGeom>
          <a:solidFill>
            <a:srgbClr val="F1ED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69479" y="5129784"/>
            <a:ext cx="585216" cy="585216"/>
          </a:xfrm>
          <a:prstGeom prst="ellipse">
            <a:avLst/>
          </a:prstGeom>
          <a:solidFill>
            <a:srgbClr val="512F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landmark-blanc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1153" y="5261457"/>
            <a:ext cx="321868" cy="3218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028431" y="4901184"/>
            <a:ext cx="3520439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20202B"/>
                </a:solidFill>
                <a:latin typeface="Calibri"/>
              </a:rPr>
              <a:t>Guayaquil es el cantón con más beneficiarios: 133.941, el 8,5 % del país.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973835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748B"/>
                </a:solidFill>
                <a:latin typeface="Calibri"/>
              </a:rPr>
              <a:t>Fuente: Ministerio de Trabajo y Desarrollo Humano · 23 de octubre de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748B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Transferencias monetarias · Septiembre 2026</dc:title>
  <dc:subject>Transferencias monetarias · Nacional</dc:subject>
  <dc:creator>Ministerio de Trabajo y Desarrollo Humano</dc:creator>
  <cp:keywords>MTDH, InfoReport, indicadores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