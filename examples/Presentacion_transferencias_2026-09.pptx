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Beneficiarios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Sheet1!$A$2:$A$9</c:f>
              <c:strCache>
                <c:ptCount val="8"/>
                <c:pt idx="0">
                  <c:v>Pensión Discapacidad</c:v>
                </c:pt>
                <c:pt idx="1">
                  <c:v>Pensión Adultos Mayores</c:v>
                </c:pt>
                <c:pt idx="2">
                  <c:v>Bono Joaquín Gallegos Lara</c:v>
                </c:pt>
                <c:pt idx="3">
                  <c:v>Pensión Toda Una Vida</c:v>
                </c:pt>
                <c:pt idx="4">
                  <c:v>Bono 1.000 Días</c:v>
                </c:pt>
                <c:pt idx="5">
                  <c:v>Pensión Mis Mejores Años</c:v>
                </c:pt>
                <c:pt idx="6">
                  <c:v>BDH con componente variable</c:v>
                </c:pt>
                <c:pt idx="7">
                  <c:v>Bono de Desarrollo Humano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8"/>
                <c:pt idx="0">
                  <c:v>0</c:v>
                </c:pt>
                <c:pt idx="1">
                  <c:v>0</c:v>
                </c:pt>
                <c:pt idx="2">
                  <c:v>50129</c:v>
                </c:pt>
                <c:pt idx="3">
                  <c:v>72700</c:v>
                </c:pt>
                <c:pt idx="4">
                  <c:v>164983</c:v>
                </c:pt>
                <c:pt idx="5">
                  <c:v>303845</c:v>
                </c:pt>
                <c:pt idx="6">
                  <c:v>367289</c:v>
                </c:pt>
                <c:pt idx="7">
                  <c:v>619073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Beneficiarios: 1.578.019. Programas con beneficiarios: 6. Presupuesto 2026: USD 1.011,2 M. Presupuesto acumulado 2023–2026: USD 3.759,0 M. Bono de Desarrollo Humano concentra el 39,2 % de los beneficiarios, con 619.073 personas.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Guayas, Manabí y Los Ríos reúnen el 41,4 % de los beneficiarios del país.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Bono de Desarrollo Humano concentra el 39,2 % de los beneficiarios, con 619.073 personas. El presupuesto 2026 asciende a USD 1.011,2 millones y el presupuesto acumulado 2023–2026 alcanza USD 3.759,0 millones. Bono de Desarrollo Humano recibe el 26,7 % del presupuesto 2026, con USD 270,2 millones.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520440"/>
            <a:ext cx="3794760" cy="3343003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Septiembre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>
                <a:solidFill>
                  <a:srgbClr val="FFFFFF"/>
                </a:solidFill>
                <a:latin typeface="Century Gothic"/>
              </a:rPr>
              <a:t>Transferencias monetarias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Todos los programas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Transferencias monetarias · Septiembre 2026 · Nacional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hand-coins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Beneficiarios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1.578.019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layers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Programas con beneficiarios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De 8 programas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banknote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Presupuesto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USD 1.011,2 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landmark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Presupuesto acumulado 2023–2026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USD 3.759,0 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A748B"/>
                </a:solidFill>
                <a:latin typeface="Calibri"/>
              </a:rPr>
              <a:t>Fuente: Ministerio de Trabajo y Desarrollo Humano · 22 de octubre de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Resultados por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Beneficiarios · Septiembre 2026 · Nacional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98448"/>
            <a:ext cx="5638800" cy="5074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13258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Principales provincias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0202B"/>
                </a:solidFill>
                <a:latin typeface="Calibri"/>
              </a:rPr>
              <a:t>1. Guayas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29800" y="1828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20202B"/>
                </a:solidFill>
                <a:latin typeface="Calibri"/>
              </a:rPr>
              <a:t>312.265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2130552"/>
            <a:ext cx="5212080" cy="82296"/>
          </a:xfrm>
          <a:prstGeom prst="roundRect">
            <a:avLst>
              <a:gd name="adj" fmla="val 50000"/>
            </a:avLst>
          </a:prstGeom>
          <a:solidFill>
            <a:srgbClr val="EFEC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46520" y="2130552"/>
            <a:ext cx="5212080" cy="82296"/>
          </a:xfrm>
          <a:prstGeom prst="roundRect">
            <a:avLst>
              <a:gd name="adj" fmla="val 50000"/>
            </a:avLst>
          </a:prstGeom>
          <a:solidFill>
            <a:srgbClr val="5A3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30428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0202B"/>
                </a:solidFill>
                <a:latin typeface="Calibri"/>
              </a:rPr>
              <a:t>2. Manabí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30428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20202B"/>
                </a:solidFill>
                <a:latin typeface="Calibri"/>
              </a:rPr>
              <a:t>214.817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2606040"/>
            <a:ext cx="5212080" cy="82296"/>
          </a:xfrm>
          <a:prstGeom prst="roundRect">
            <a:avLst>
              <a:gd name="adj" fmla="val 50000"/>
            </a:avLst>
          </a:prstGeom>
          <a:solidFill>
            <a:srgbClr val="EFEC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46520" y="2606040"/>
            <a:ext cx="3585555" cy="82296"/>
          </a:xfrm>
          <a:prstGeom prst="roundRect">
            <a:avLst>
              <a:gd name="adj" fmla="val 50000"/>
            </a:avLst>
          </a:prstGeom>
          <a:solidFill>
            <a:srgbClr val="5A3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779776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0202B"/>
                </a:solidFill>
                <a:latin typeface="Calibri"/>
              </a:rPr>
              <a:t>3. Los Ríos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27797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20202B"/>
                </a:solidFill>
                <a:latin typeface="Calibri"/>
              </a:rPr>
              <a:t>126.547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3081528"/>
            <a:ext cx="5212080" cy="82296"/>
          </a:xfrm>
          <a:prstGeom prst="roundRect">
            <a:avLst>
              <a:gd name="adj" fmla="val 50000"/>
            </a:avLst>
          </a:prstGeom>
          <a:solidFill>
            <a:srgbClr val="EFEC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46520" y="3081528"/>
            <a:ext cx="2112222" cy="82296"/>
          </a:xfrm>
          <a:prstGeom prst="roundRect">
            <a:avLst>
              <a:gd name="adj" fmla="val 50000"/>
            </a:avLst>
          </a:prstGeom>
          <a:solidFill>
            <a:srgbClr val="5A3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25526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0202B"/>
                </a:solidFill>
                <a:latin typeface="Calibri"/>
              </a:rPr>
              <a:t>4. Pichincha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25526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20202B"/>
                </a:solidFill>
                <a:latin typeface="Calibri"/>
              </a:rPr>
              <a:t>107.356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6520" y="3557016"/>
            <a:ext cx="5212080" cy="82296"/>
          </a:xfrm>
          <a:prstGeom prst="roundRect">
            <a:avLst>
              <a:gd name="adj" fmla="val 50000"/>
            </a:avLst>
          </a:prstGeom>
          <a:solidFill>
            <a:srgbClr val="EFEC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46520" y="3557016"/>
            <a:ext cx="1791901" cy="82296"/>
          </a:xfrm>
          <a:prstGeom prst="roundRect">
            <a:avLst>
              <a:gd name="adj" fmla="val 50000"/>
            </a:avLst>
          </a:prstGeom>
          <a:solidFill>
            <a:srgbClr val="5A3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73075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0202B"/>
                </a:solidFill>
                <a:latin typeface="Calibri"/>
              </a:rPr>
              <a:t>5. Esmeraldas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37307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20202B"/>
                </a:solidFill>
                <a:latin typeface="Calibri"/>
              </a:rPr>
              <a:t>104.516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4032504"/>
            <a:ext cx="5212080" cy="82296"/>
          </a:xfrm>
          <a:prstGeom prst="roundRect">
            <a:avLst>
              <a:gd name="adj" fmla="val 50000"/>
            </a:avLst>
          </a:prstGeom>
          <a:solidFill>
            <a:srgbClr val="EFEC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46520" y="4032504"/>
            <a:ext cx="1744498" cy="82296"/>
          </a:xfrm>
          <a:prstGeom prst="roundRect">
            <a:avLst>
              <a:gd name="adj" fmla="val 50000"/>
            </a:avLst>
          </a:prstGeom>
          <a:solidFill>
            <a:srgbClr val="5A3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2062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0202B"/>
                </a:solidFill>
                <a:latin typeface="Calibri"/>
              </a:rPr>
              <a:t>6. Chimborazo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4206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20202B"/>
                </a:solidFill>
                <a:latin typeface="Calibri"/>
              </a:rPr>
              <a:t>66.600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4507992"/>
            <a:ext cx="5212080" cy="82296"/>
          </a:xfrm>
          <a:prstGeom prst="roundRect">
            <a:avLst>
              <a:gd name="adj" fmla="val 50000"/>
            </a:avLst>
          </a:prstGeom>
          <a:solidFill>
            <a:srgbClr val="EFEC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46520" y="4507992"/>
            <a:ext cx="1111634" cy="82296"/>
          </a:xfrm>
          <a:prstGeom prst="roundRect">
            <a:avLst>
              <a:gd name="adj" fmla="val 50000"/>
            </a:avLst>
          </a:prstGeom>
          <a:solidFill>
            <a:srgbClr val="5A3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4681727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20202B"/>
                </a:solidFill>
                <a:latin typeface="Calibri"/>
              </a:rPr>
              <a:t>7. Cotopaxi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9800" y="4681727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20202B"/>
                </a:solidFill>
                <a:latin typeface="Calibri"/>
              </a:rPr>
              <a:t>66.269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46520" y="4983479"/>
            <a:ext cx="5212080" cy="82296"/>
          </a:xfrm>
          <a:prstGeom prst="roundRect">
            <a:avLst>
              <a:gd name="adj" fmla="val 50000"/>
            </a:avLst>
          </a:prstGeom>
          <a:solidFill>
            <a:srgbClr val="EFEC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46520" y="4983479"/>
            <a:ext cx="1106109" cy="82296"/>
          </a:xfrm>
          <a:prstGeom prst="roundRect">
            <a:avLst>
              <a:gd name="adj" fmla="val 50000"/>
            </a:avLst>
          </a:prstGeom>
          <a:solidFill>
            <a:srgbClr val="5A3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46520" y="5321808"/>
            <a:ext cx="5212080" cy="932688"/>
          </a:xfrm>
          <a:prstGeom prst="roundRect">
            <a:avLst>
              <a:gd name="adj" fmla="val 12000"/>
            </a:avLst>
          </a:prstGeom>
          <a:solidFill>
            <a:srgbClr val="F1ED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629400" y="5513832"/>
            <a:ext cx="548640" cy="548640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pin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844" y="5637276"/>
            <a:ext cx="301752" cy="30175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315200" y="5440680"/>
            <a:ext cx="4160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20202B"/>
                </a:solidFill>
                <a:latin typeface="Calibri"/>
              </a:rPr>
              <a:t>Guayas, Manabí y Los Ríos reúnen el 41,4 % de los beneficiarios del país.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A748B"/>
                </a:solidFill>
                <a:latin typeface="Calibri"/>
              </a:rPr>
              <a:t>Fuente: Ministerio de Trabajo y Desarrollo Humano · 22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Resultados por programa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Beneficiarios · Septiembre 2026 · Nacional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325880"/>
          <a:ext cx="6355080" cy="4983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086600" y="13258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Aspectos destacados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847088"/>
            <a:ext cx="4617720" cy="1298448"/>
          </a:xfrm>
          <a:prstGeom prst="roundRect">
            <a:avLst>
              <a:gd name="adj" fmla="val 10000"/>
            </a:avLst>
          </a:prstGeom>
          <a:solidFill>
            <a:srgbClr val="F1ED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269479" y="2203704"/>
            <a:ext cx="585216" cy="585216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award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1153" y="2335377"/>
            <a:ext cx="321868" cy="3218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28431" y="1975104"/>
            <a:ext cx="352044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20202B"/>
                </a:solidFill>
                <a:latin typeface="Calibri"/>
              </a:rPr>
              <a:t>Bono de Desarrollo Humano concentra el 39,2 % de los beneficiarios, con 619.073 personas.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3310128"/>
            <a:ext cx="4617720" cy="1298448"/>
          </a:xfrm>
          <a:prstGeom prst="roundRect">
            <a:avLst>
              <a:gd name="adj" fmla="val 10000"/>
            </a:avLst>
          </a:prstGeom>
          <a:solidFill>
            <a:srgbClr val="F1ED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69479" y="3666744"/>
            <a:ext cx="585216" cy="585216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trending-up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1153" y="3798417"/>
            <a:ext cx="321868" cy="3218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28431" y="3438144"/>
            <a:ext cx="352044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20202B"/>
                </a:solidFill>
                <a:latin typeface="Calibri"/>
              </a:rPr>
              <a:t>El presupuesto 2026 asciende a USD 1.011,2 millones y el presupuesto acumulado 2023–2026 alcanza USD 3.759,0 millones.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86600" y="4773168"/>
            <a:ext cx="4617720" cy="1298448"/>
          </a:xfrm>
          <a:prstGeom prst="roundRect">
            <a:avLst>
              <a:gd name="adj" fmla="val 10000"/>
            </a:avLst>
          </a:prstGeom>
          <a:solidFill>
            <a:srgbClr val="F1ED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69479" y="5129784"/>
            <a:ext cx="585216" cy="585216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banknote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1153" y="5261457"/>
            <a:ext cx="321868" cy="3218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28431" y="4901184"/>
            <a:ext cx="352044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20202B"/>
                </a:solidFill>
                <a:latin typeface="Calibri"/>
              </a:rPr>
              <a:t>Bono de Desarrollo Humano recibe el 26,7 % del presupuesto 2026, con USD 270,2 millones.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A748B"/>
                </a:solidFill>
                <a:latin typeface="Calibri"/>
              </a:rPr>
              <a:t>Fuente: Ministerio de Trabajo y Desarrollo Humano · 22 de octubre de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Transferencias monetarias · Septiembre 2026</dc:title>
  <dc:subject>Transferencias monetarias · Nacional</dc:subject>
  <dc:creator>Ministerio de Trabajo y Desarrollo Humano</dc:creator>
  <cp:keywords>MTDH, InfoReportes,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