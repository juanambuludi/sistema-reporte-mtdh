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Default Extension="xlsx" ContentType="application/vnd.openxmlformats-officedocument.spreadsheetml.sheet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charts/chart1.xml" ContentType="application/vnd.openxmlformats-officedocument.drawingml.chart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charts/chart2.xml" ContentType="application/vnd.openxmlformats-officedocument.drawingml.chart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charts/chart3.xml" ContentType="application/vnd.openxmlformats-officedocument.drawingml.chart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charts/chart4.xml" ContentType="application/vnd.openxmlformats-officedocument.drawingml.chart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2d968ebbdbf4413" /><Relationship Type="http://schemas.openxmlformats.org/officeDocument/2006/relationships/extended-properties" Target="/docProps/app.xml" Id="Red87c280a3604c38" /><Relationship Type="http://schemas.openxmlformats.org/officeDocument/2006/relationships/officeDocument" Target="/ppt/presentation.xml" Id="Rcc2e1f64da79451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e479ed2e3e741f8"/>
  </p:sldMasterIdLst>
  <p:notesMasterIdLst>
    <p:notesMasterId xmlns:r="http://schemas.openxmlformats.org/officeDocument/2006/relationships" r:id="R6ee156926741413a"/>
  </p:notesMasterIdLst>
  <p:sldIdLst>
    <p:sldId xmlns:ns0="http://schemas.openxmlformats.org/officeDocument/2006/relationships" id="256" ns0:id="rIdReport1"/>
    <p:sldId xmlns:ns1="http://schemas.openxmlformats.org/officeDocument/2006/relationships" id="257" ns1:id="rIdReport2"/>
    <p:sldId xmlns:ns2="http://schemas.openxmlformats.org/officeDocument/2006/relationships" id="258" ns2:id="rIdReport3"/>
    <p:sldId xmlns:ns3="http://schemas.openxmlformats.org/officeDocument/2006/relationships" id="259" ns3:id="rIdReport4"/>
    <p:sldId xmlns:ns4="http://schemas.openxmlformats.org/officeDocument/2006/relationships" id="260" ns4:id="rIdReport5"/>
    <p:sldId xmlns:ns5="http://schemas.openxmlformats.org/officeDocument/2006/relationships" id="261" ns5:id="rIdReport6"/>
    <p:sldId xmlns:ns6="http://schemas.openxmlformats.org/officeDocument/2006/relationships" id="262" ns6:id="rIdReport7"/>
    <p:sldId xmlns:ns7="http://schemas.openxmlformats.org/officeDocument/2006/relationships" id="263" ns7:id="rIdReport8"/>
    <p:sldId xmlns:ns8="http://schemas.openxmlformats.org/officeDocument/2006/relationships" id="264" ns8:id="rIdReport9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 standalone='yes'?>
<Relationships xmlns="http://schemas.openxmlformats.org/package/2006/relationships"><Relationship Type="http://schemas.openxmlformats.org/officeDocument/2006/relationships/theme" Target="/ppt/theme/theme1.xml" Id="R822c0b1a56dd474d"/><Relationship Type="http://schemas.openxmlformats.org/officeDocument/2006/relationships/slideMaster" Target="/ppt/slideMasters/slideMaster1.xml" Id="Ree479ed2e3e741f8"/><Relationship Type="http://schemas.openxmlformats.org/officeDocument/2006/relationships/notesMaster" Target="/ppt/notesMasters/notesMaster1.xml" Id="R6ee156926741413a"/><Relationship Type="http://schemas.openxmlformats.org/officeDocument/2006/relationships/presProps" Target="/ppt/presProps.xml" Id="R43a60e9eb94e4148"/><Relationship Type="http://schemas.openxmlformats.org/officeDocument/2006/relationships/tableStyles" Target="/ppt/tableStyles.xml" Id="R0c0d374c909a46bd"/><Relationship Id="rIdReport1" Type="http://schemas.openxmlformats.org/officeDocument/2006/relationships/slide" Target="/ppt/slides/slide1.xml"/><Relationship Id="rIdReport2" Type="http://schemas.openxmlformats.org/officeDocument/2006/relationships/slide" Target="/ppt/slides/slide2.xml"/><Relationship Id="rIdReport3" Type="http://schemas.openxmlformats.org/officeDocument/2006/relationships/slide" Target="/ppt/slides/slide3.xml"/><Relationship Id="rIdReport4" Type="http://schemas.openxmlformats.org/officeDocument/2006/relationships/slide" Target="/ppt/slides/slide4.xml"/><Relationship Id="rIdReport5" Type="http://schemas.openxmlformats.org/officeDocument/2006/relationships/slide" Target="/ppt/slides/slide5.xml"/><Relationship Id="rIdReport6" Type="http://schemas.openxmlformats.org/officeDocument/2006/relationships/slide" Target="/ppt/slides/slide6.xml"/><Relationship Id="rIdReport7" Type="http://schemas.openxmlformats.org/officeDocument/2006/relationships/slide" Target="/ppt/slides/slide7.xml"/><Relationship Id="rIdReport8" Type="http://schemas.openxmlformats.org/officeDocument/2006/relationships/slide" Target="/ppt/slides/slide8.xml"/><Relationship Id="rIdReport9" Type="http://schemas.openxmlformats.org/officeDocument/2006/relationships/slide" Target="/ppt/slides/slide9.xml"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eb6afc6a0fc4f0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Type="http://schemas.openxmlformats.org/officeDocument/2006/relationships/slide" Target="/ppt/slides/slide1.xml" Id="Reee15ad0f62445c2"/><Relationship Type="http://schemas.openxmlformats.org/officeDocument/2006/relationships/notesMaster" Target="/ppt/notesMasters/notesMaster1.xml" Id="R618d79bb7c054dba"/></Relationships>
</file>

<file path=ppt/notesSlides/_rels/notesSlide2.xml.rels><?xml version='1.0' encoding='UTF-8' standalone='yes'?>
<Relationships xmlns="http://schemas.openxmlformats.org/package/2006/relationships"><Relationship Type="http://schemas.openxmlformats.org/officeDocument/2006/relationships/slide" Target="/ppt/slides/slide2.xml" Id="R25b0795c79ad4974"/><Relationship Type="http://schemas.openxmlformats.org/officeDocument/2006/relationships/notesMaster" Target="/ppt/notesMasters/notesMaster1.xml" Id="R75f6cedefea44a40"/></Relationships>
</file>

<file path=ppt/notesSlides/_rels/notesSlide3.xml.rels><?xml version='1.0' encoding='UTF-8' standalone='yes'?>
<Relationships xmlns="http://schemas.openxmlformats.org/package/2006/relationships"><Relationship Type="http://schemas.openxmlformats.org/officeDocument/2006/relationships/slide" Target="/ppt/slides/slide3.xml" Id="R53318acff157429c"/><Relationship Type="http://schemas.openxmlformats.org/officeDocument/2006/relationships/notesMaster" Target="/ppt/notesMasters/notesMaster1.xml" Id="Rf570bd57e0bc41a9"/></Relationships>
</file>

<file path=ppt/notesSlides/_rels/notesSlide4.xml.rels><?xml version='1.0' encoding='UTF-8' standalone='yes'?>
<Relationships xmlns="http://schemas.openxmlformats.org/package/2006/relationships"><Relationship Type="http://schemas.openxmlformats.org/officeDocument/2006/relationships/slide" Target="/ppt/slides/slide4.xml" Id="R53318acff157429c"/><Relationship Type="http://schemas.openxmlformats.org/officeDocument/2006/relationships/notesMaster" Target="/ppt/notesMasters/notesMaster1.xml" Id="Rf570bd57e0bc41a9"/></Relationships>
</file>

<file path=ppt/notesSlides/_rels/notesSlide5.xml.rels><?xml version='1.0' encoding='UTF-8' standalone='yes'?>
<Relationships xmlns="http://schemas.openxmlformats.org/package/2006/relationships"><Relationship Type="http://schemas.openxmlformats.org/officeDocument/2006/relationships/slide" Target="/ppt/slides/slide5.xml" Id="R25b0795c79ad4974"/><Relationship Type="http://schemas.openxmlformats.org/officeDocument/2006/relationships/notesMaster" Target="/ppt/notesMasters/notesMaster1.xml" Id="R75f6cedefea44a40"/></Relationships>
</file>

<file path=ppt/notesSlides/_rels/notesSlide6.xml.rels><?xml version='1.0' encoding='UTF-8' standalone='yes'?>
<Relationships xmlns="http://schemas.openxmlformats.org/package/2006/relationships"><Relationship Type="http://schemas.openxmlformats.org/officeDocument/2006/relationships/slide" Target="/ppt/slides/slide6.xml" Id="R25b0795c79ad4974"/><Relationship Type="http://schemas.openxmlformats.org/officeDocument/2006/relationships/notesMaster" Target="/ppt/notesMasters/notesMaster1.xml" Id="R75f6cedefea44a40"/></Relationships>
</file>

<file path=ppt/notesSlides/_rels/notesSlide7.xml.rels><?xml version='1.0' encoding='UTF-8' standalone='yes'?>
<Relationships xmlns="http://schemas.openxmlformats.org/package/2006/relationships"><Relationship Type="http://schemas.openxmlformats.org/officeDocument/2006/relationships/slide" Target="/ppt/slides/slide7.xml" Id="R53318acff157429c"/><Relationship Type="http://schemas.openxmlformats.org/officeDocument/2006/relationships/notesMaster" Target="/ppt/notesMasters/notesMaster1.xml" Id="Rf570bd57e0bc41a9"/></Relationships>
</file>

<file path=ppt/notesSlides/_rels/notesSlide8.xml.rels><?xml version='1.0' encoding='UTF-8' standalone='yes'?>
<Relationships xmlns="http://schemas.openxmlformats.org/package/2006/relationships"><Relationship Type="http://schemas.openxmlformats.org/officeDocument/2006/relationships/slide" Target="/ppt/slides/slide8.xml" Id="R25b0795c79ad4974"/><Relationship Type="http://schemas.openxmlformats.org/officeDocument/2006/relationships/notesMaster" Target="/ppt/notesMasters/notesMaster1.xml" Id="R75f6cedefea44a40"/></Relationships>
</file>

<file path=ppt/notesSlides/_rels/notesSlide9.xml.rels><?xml version='1.0' encoding='UTF-8' standalone='yes'?>
<Relationships xmlns="http://schemas.openxmlformats.org/package/2006/relationships"><Relationship Type="http://schemas.openxmlformats.org/officeDocument/2006/relationships/slide" Target="/ppt/slides/slide9.xml" Id="Rc75168966d524c46"/><Relationship Type="http://schemas.openxmlformats.org/officeDocument/2006/relationships/notesMaster" Target="/ppt/notesMasters/notesMaster1.xml" Id="Ra731fb0d99dc4b1b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Fuente: Acumulado VIS-VIE.xlsx
Beneficiarios y usuarios corresponden a conteos reportados en una base agregada. La fuente no permite comprobar personas únicas ni eliminar coincidencias entre programas.
El monto fiscal corresponde a la columna Presupuesto 2026 de la fuente. El acumulado de gobierno incluye el monto fiscal y los períodos anteriores. No deben sumarse entre sí.
Los montos no representan transferencias del mes. La fuente no certifica por sí sola el presupuesto ejecutado, que se presenta como N/D cuando no existe una validación adicional.
Las unidades corresponden a servicios de protección integral. En bonos y pensiones este indicador no aplica. N/D distingue información no disponible de un cero reportado.
Identificación del corte: Resumen_Ejecutivo_MTDH_2026_09.pdf: Septiembre 2026; totales provinciales conciliados con el boletín..
Íconos Lucide, licencia ISC: https://lucide.dev/license
Selección: a08650cd76fc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Fuente: Acumulado VIS-VIE.xlsx
Beneficiarios y usuarios corresponden a conteos reportados en una base agregada. La fuente no permite comprobar personas únicas ni eliminar coincidencias entre programas.
El monto fiscal corresponde a la columna Presupuesto 2026 de la fuente. El acumulado de gobierno incluye el monto fiscal y los períodos anteriores. No deben sumarse entre sí.
Los montos no representan transferencias del mes. La fuente no certifica por sí sola el presupuesto ejecutado, que se presenta como N/D cuando no existe una validación adicional.
Las unidades corresponden a servicios de protección integral. En bonos y pensiones este indicador no aplica. N/D distingue información no disponible de un cero reportado.
Identificación del corte: Resumen_Ejecutivo_MTDH_2026_09.pdf: Septiembre 2026; totales provinciales conciliados con el boletín..
Íconos Lucide, licencia ISC: https://lucide.dev/license
Selección: a08650cd76fc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Fuente: Acumulado VIS-VIE.xlsx
Beneficiarios y usuarios corresponden a conteos reportados en una base agregada. La fuente no permite comprobar personas únicas ni eliminar coincidencias entre programas.
El monto fiscal corresponde a la columna Presupuesto 2026 de la fuente. El acumulado de gobierno incluye el monto fiscal y los períodos anteriores. No deben sumarse entre sí.
Los montos no representan transferencias del mes. La fuente no certifica por sí sola el presupuesto ejecutado, que se presenta como N/D cuando no existe una validación adicional.
Las unidades corresponden a servicios de protección integral. En bonos y pensiones este indicador no aplica. N/D distingue información no disponible de un cero reportado.
Identificación del corte: Resumen_Ejecutivo_MTDH_2026_09.pdf: Septiembre 2026; totales provinciales conciliados con el boletín..
Íconos Lucide, licencia ISC: https://lucide.dev/license
Selección: a08650cd76fc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Fuente: Acumulado VIS-VIE.xlsx
Beneficiarios y usuarios corresponden a conteos reportados en una base agregada. La fuente no permite comprobar personas únicas ni eliminar coincidencias entre programas.
El monto fiscal corresponde a la columna Presupuesto 2026 de la fuente. El acumulado de gobierno incluye el monto fiscal y los períodos anteriores. No deben sumarse entre sí.
Los montos no representan transferencias del mes. La fuente no certifica por sí sola el presupuesto ejecutado, que se presenta como N/D cuando no existe una validación adicional.
Las unidades corresponden a servicios de protección integral. En bonos y pensiones este indicador no aplica. N/D distingue información no disponible de un cero reportado.
Identificación del corte: Resumen_Ejecutivo_MTDH_2026_09.pdf: Septiembre 2026; totales provinciales conciliados con el boletín..
Íconos Lucide, licencia ISC: https://lucide.dev/license
Selección: a08650cd76fc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Fuente: Acumulado VIS-VIE.xlsx
Beneficiarios y usuarios corresponden a conteos reportados en una base agregada. La fuente no permite comprobar personas únicas ni eliminar coincidencias entre programas.
El monto fiscal corresponde a la columna Presupuesto 2026 de la fuente. El acumulado de gobierno incluye el monto fiscal y los períodos anteriores. No deben sumarse entre sí.
Los montos no representan transferencias del mes. La fuente no certifica por sí sola el presupuesto ejecutado, que se presenta como N/D cuando no existe una validación adicional.
Las unidades corresponden a servicios de protección integral. En bonos y pensiones este indicador no aplica. N/D distingue información no disponible de un cero reportado.
Identificación del corte: Resumen_Ejecutivo_MTDH_2026_09.pdf: Septiembre 2026; totales provinciales conciliados con el boletín..
Íconos Lucide, licencia ISC: https://lucide.dev/license
Selección: a08650cd76fc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Fuente: Acumulado VIS-VIE.xlsx
Beneficiarios y usuarios corresponden a conteos reportados en una base agregada. La fuente no permite comprobar personas únicas ni eliminar coincidencias entre programas.
El monto fiscal corresponde a la columna Presupuesto 2026 de la fuente. El acumulado de gobierno incluye el monto fiscal y los períodos anteriores. No deben sumarse entre sí.
Los montos no representan transferencias del mes. La fuente no certifica por sí sola el presupuesto ejecutado, que se presenta como N/D cuando no existe una validación adicional.
Las unidades corresponden a servicios de protección integral. En bonos y pensiones este indicador no aplica. N/D distingue información no disponible de un cero reportado.
Identificación del corte: Resumen_Ejecutivo_MTDH_2026_09.pdf: Septiembre 2026; totales provinciales conciliados con el boletín..
Íconos Lucide, licencia ISC: https://lucide.dev/license
Selección: a08650cd76fc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Fuente: Acumulado VIS-VIE.xlsx
Beneficiarios y usuarios corresponden a conteos reportados en una base agregada. La fuente no permite comprobar personas únicas ni eliminar coincidencias entre programas.
El monto fiscal corresponde a la columna Presupuesto 2026 de la fuente. El acumulado de gobierno incluye el monto fiscal y los períodos anteriores. No deben sumarse entre sí.
Los montos no representan transferencias del mes. La fuente no certifica por sí sola el presupuesto ejecutado, que se presenta como N/D cuando no existe una validación adicional.
Las unidades corresponden a servicios de protección integral. En bonos y pensiones este indicador no aplica. N/D distingue información no disponible de un cero reportado.
Identificación del corte: Resumen_Ejecutivo_MTDH_2026_09.pdf: Septiembre 2026; totales provinciales conciliados con el boletín..
Íconos Lucide, licencia ISC: https://lucide.dev/license
Selección: a08650cd76fc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Fuente: Acumulado VIS-VIE.xlsx
Beneficiarios y usuarios corresponden a conteos reportados en una base agregada. La fuente no permite comprobar personas únicas ni eliminar coincidencias entre programas.
El monto fiscal corresponde a la columna Presupuesto 2026 de la fuente. El acumulado de gobierno incluye el monto fiscal y los períodos anteriores. No deben sumarse entre sí.
Los montos no representan transferencias del mes. La fuente no certifica por sí sola el presupuesto ejecutado, que se presenta como N/D cuando no existe una validación adicional.
Las unidades corresponden a servicios de protección integral. En bonos y pensiones este indicador no aplica. N/D distingue información no disponible de un cero reportado.
Identificación del corte: Resumen_Ejecutivo_MTDH_2026_09.pdf: Septiembre 2026; totales provinciales conciliados con el boletín..
Íconos Lucide, licencia ISC: https://lucide.dev/license
Selección: a08650cd76fc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Fuente: Acumulado VIS-VIE.xlsx
Beneficiarios y usuarios corresponden a conteos reportados en una base agregada. La fuente no permite comprobar personas únicas ni eliminar coincidencias entre programas.
El monto fiscal corresponde a la columna Presupuesto 2026 de la fuente. El acumulado de gobierno incluye el monto fiscal y los períodos anteriores. No deben sumarse entre sí.
Los montos no representan transferencias del mes. La fuente no certifica por sí sola el presupuesto ejecutado, que se presenta como N/D cuando no existe una validación adicional.
Las unidades corresponden a servicios de protección integral. En bonos y pensiones este indicador no aplica. N/D distingue información no disponible de un cero reportado.
Identificación del corte: Resumen_Ejecutivo_MTDH_2026_09.pdf: Septiembre 2026; totales provinciales conciliados con el boletín..
Íconos Lucide, licencia ISC: https://lucide.dev/license
Selección: a08650cd76fc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9b0da3946f34924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6b5e3713bda461a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644fa5f4b2a4856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5db940e724e4244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ffe8aa766bb41b8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f993ff733f44c3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7C63526F-C9BD-4349-AEDC-680D291E9DA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BA6C0B81-F584-4C34-88AD-3763F9B0AA3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346017D1-17BE-4E08-B461-C992E3A31A4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7F28ABB-52BB-4657-93D7-19C27102B6F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7B855281-001B-49A3-A943-BD88DB7F254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E43602D2-EE4B-40C3-8D81-54E2B16A0E5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020B40CE-0C11-4FC4-B850-9B79C208773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7D8D31ED-8CF1-4372-8372-67CAEE4E6AE0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53698B89-D8FD-47F6-A127-D20EEC99CAE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FBEDBD1C-3EF4-4006-89C7-CC83169752F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d4264efc0b5429c" /><Relationship Type="http://schemas.openxmlformats.org/officeDocument/2006/relationships/slideLayout" Target="/ppt/slideLayouts/slideLayout1.xml" Id="R9e571078905147cf" /><Relationship Type="http://schemas.openxmlformats.org/officeDocument/2006/relationships/slideLayout" Target="/ppt/slideLayouts/slideLayout2.xml" Id="R757b7971631345b9" /><Relationship Type="http://schemas.openxmlformats.org/officeDocument/2006/relationships/slideLayout" Target="/ppt/slideLayouts/slideLayout3.xml" Id="Readb27053e184eb9" /><Relationship Type="http://schemas.openxmlformats.org/officeDocument/2006/relationships/slideLayout" Target="/ppt/slideLayouts/slideLayout4.xml" Id="R4097694794884074" /><Relationship Type="http://schemas.openxmlformats.org/officeDocument/2006/relationships/slideLayout" Target="/ppt/slideLayouts/slideLayout5.xml" Id="R993c11a0558b4d1d" /><Relationship Type="http://schemas.openxmlformats.org/officeDocument/2006/relationships/slideLayout" Target="/ppt/slideLayouts/slideLayout6.xml" Id="Reefa7334d706492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e571078905147cf"/>
    <p:sldLayoutId xmlns:r="http://schemas.openxmlformats.org/officeDocument/2006/relationships" id="2147483650" r:id="R757b7971631345b9"/>
    <p:sldLayoutId xmlns:r="http://schemas.openxmlformats.org/officeDocument/2006/relationships" id="2147483651" r:id="Readb27053e184eb9"/>
    <p:sldLayoutId xmlns:r="http://schemas.openxmlformats.org/officeDocument/2006/relationships" id="2147483652" r:id="R4097694794884074"/>
    <p:sldLayoutId xmlns:r="http://schemas.openxmlformats.org/officeDocument/2006/relationships" id="2147483653" r:id="R993c11a0558b4d1d"/>
    <p:sldLayoutId xmlns:r="http://schemas.openxmlformats.org/officeDocument/2006/relationships" id="2147483654" r:id="Reefa7334d706492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9513122c7d974a89"/><Relationship Type="http://schemas.openxmlformats.org/officeDocument/2006/relationships/image" Target="/ppt/media/image.png" Id="R20f68fde05a84aac"/><Relationship Type="http://schemas.openxmlformats.org/officeDocument/2006/relationships/notesSlide" Target="/ppt/notesSlides/notesSlide1.xml" Id="R9058842a85be4ecc"/></Relationships>
</file>

<file path=ppt/slides/_rels/slide2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5a28906a8d424659"/><Relationship Type="http://schemas.openxmlformats.org/officeDocument/2006/relationships/image" Target="/ppt/media/image2.png" Id="Rd08b10a0efa14e3b"/><Relationship Type="http://schemas.openxmlformats.org/officeDocument/2006/relationships/chart" Target="/ppt/slides/charts/chart1.xml" Id="Rc62a2daff4724717"/><Relationship Type="http://schemas.openxmlformats.org/officeDocument/2006/relationships/notesSlide" Target="/ppt/notesSlides/notesSlide2.xml" Id="Rac859216be4e4e73"/></Relationships>
</file>

<file path=ppt/slides/_rels/slide3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ffc52e6660884d7a"/><Relationship Type="http://schemas.openxmlformats.org/officeDocument/2006/relationships/notesSlide" Target="/ppt/notesSlides/notesSlide3.xml" Id="R65702180f11247d1"/></Relationships>
</file>

<file path=ppt/slides/_rels/slide4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ffc52e6660884d7a"/><Relationship Type="http://schemas.openxmlformats.org/officeDocument/2006/relationships/notesSlide" Target="/ppt/notesSlides/notesSlide4.xml" Id="R65702180f11247d1"/></Relationships>
</file>

<file path=ppt/slides/_rels/slide5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5a28906a8d424659"/><Relationship Type="http://schemas.openxmlformats.org/officeDocument/2006/relationships/image" Target="/ppt/media/image2.png" Id="Rd08b10a0efa14e3b"/><Relationship Type="http://schemas.openxmlformats.org/officeDocument/2006/relationships/chart" Target="/ppt/slides/charts/chart2.xml" Id="Rc62a2daff4724717"/><Relationship Type="http://schemas.openxmlformats.org/officeDocument/2006/relationships/notesSlide" Target="/ppt/notesSlides/notesSlide5.xml" Id="Rac859216be4e4e73"/></Relationships>
</file>

<file path=ppt/slides/_rels/slide6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5a28906a8d424659"/><Relationship Type="http://schemas.openxmlformats.org/officeDocument/2006/relationships/image" Target="/ppt/media/shield-check.png" Id="Rd08b10a0efa14e3b"/><Relationship Type="http://schemas.openxmlformats.org/officeDocument/2006/relationships/chart" Target="/ppt/slides/charts/chart3.xml" Id="Rc62a2daff4724717"/><Relationship Type="http://schemas.openxmlformats.org/officeDocument/2006/relationships/notesSlide" Target="/ppt/notesSlides/notesSlide6.xml" Id="Rac859216be4e4e73"/></Relationships>
</file>

<file path=ppt/slides/_rels/slide7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ffc52e6660884d7a"/><Relationship Type="http://schemas.openxmlformats.org/officeDocument/2006/relationships/notesSlide" Target="/ppt/notesSlides/notesSlide7.xml" Id="R65702180f11247d1"/></Relationships>
</file>

<file path=ppt/slides/_rels/slide8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5a28906a8d424659"/><Relationship Type="http://schemas.openxmlformats.org/officeDocument/2006/relationships/image" Target="/ppt/media/shield-check.png" Id="Rd08b10a0efa14e3b"/><Relationship Type="http://schemas.openxmlformats.org/officeDocument/2006/relationships/chart" Target="/ppt/slides/charts/chart4.xml" Id="Rc62a2daff4724717"/><Relationship Type="http://schemas.openxmlformats.org/officeDocument/2006/relationships/notesSlide" Target="/ppt/notesSlides/notesSlide8.xml" Id="Rac859216be4e4e73"/></Relationships>
</file>

<file path=ppt/slides/_rels/slide9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55e0a014e1d44bfd"/><Relationship Type="http://schemas.openxmlformats.org/officeDocument/2006/relationships/notesSlide" Target="/ppt/notesSlides/notesSlide9.xml" Id="R69248bd07c5940ef"/></Relationships>
</file>

<file path=ppt/slides/charts/_rels/chart1.xml.rels><?xml version='1.0' encoding='UTF-8' standalone='yes'?>
<Relationships xmlns="http://schemas.openxmlformats.org/package/2006/relationships"><Relationship Id="rIdChartSnapshot1" Type="http://schemas.openxmlformats.org/officeDocument/2006/relationships/package" Target="../../embeddings/chart-data-001.xlsx"/></Relationships>
</file>

<file path=ppt/slides/charts/_rels/chart2.xml.rels><?xml version='1.0' encoding='UTF-8' standalone='yes'?>
<Relationships xmlns="http://schemas.openxmlformats.org/package/2006/relationships"><Relationship Id="rIdChartSnapshot1" Type="http://schemas.openxmlformats.org/officeDocument/2006/relationships/package" Target="../../embeddings/chart-data-002.xlsx"/></Relationships>
</file>

<file path=ppt/slides/charts/_rels/chart3.xml.rels><?xml version='1.0' encoding='UTF-8' standalone='yes'?>
<Relationships xmlns="http://schemas.openxmlformats.org/package/2006/relationships"><Relationship Id="rIdChartSnapshot1" Type="http://schemas.openxmlformats.org/officeDocument/2006/relationships/package" Target="../../embeddings/chart-data-003.xlsx"/></Relationships>
</file>

<file path=ppt/slides/charts/_rels/chart4.xml.rels><?xml version='1.0' encoding='UTF-8' standalone='yes'?>
<Relationships xmlns="http://schemas.openxmlformats.org/package/2006/relationships"><Relationship Id="rIdChartSnapshot1" Type="http://schemas.openxmlformats.org/officeDocument/2006/relationships/package" Target="../../embeddings/chart-data-004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s-EC"/>
  <c:chart>
    <c:plotArea>
      <c:barChart>
        <c:barDir val="bar"/>
        <c:grouping val="clustered"/>
        <c:varyColors val="0"/>
        <c:ser>
          <c:idx val="0"/>
          <c:order val="0"/>
          <c:tx>
            <c:v>Beneficiarios reportados</c:v>
          </c:tx>
          <c:spPr>
            <a:solidFill xmlns:a="http://schemas.openxmlformats.org/drawingml/2006/main">
              <a:srgbClr val="512F8D"/>
            </a:solidFill>
          </c:spPr>
          <c:invertIfNegative val="0"/>
          <c:dLbls>
            <c:dLbl>
              <c:idx val="0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1500" b="1">
                        <a:solidFill>
                          <a:srgbClr val="20202B"/>
                        </a:solidFill>
                        <a:latin typeface="Arial"/>
                        <a:ea typeface="Arial"/>
                        <a:cs typeface="Arial"/>
                      </a:rPr>
                      <a:t>50.129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500" b="1">
                      <a:solidFill>
                        <a:srgbClr val="20202B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outEnd"/>
              <c:showVal val="0"/>
            </c:dLbl>
            <c:dLbl>
              <c:idx val="1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1500" b="1">
                        <a:solidFill>
                          <a:srgbClr val="20202B"/>
                        </a:solidFill>
                        <a:latin typeface="Arial"/>
                        <a:ea typeface="Arial"/>
                        <a:cs typeface="Arial"/>
                      </a:rPr>
                      <a:t>72.700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500" b="1">
                      <a:solidFill>
                        <a:srgbClr val="20202B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outEnd"/>
              <c:showVal val="0"/>
            </c:dLbl>
            <c:dLbl>
              <c:idx val="2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1500" b="1">
                        <a:solidFill>
                          <a:srgbClr val="20202B"/>
                        </a:solidFill>
                        <a:latin typeface="Arial"/>
                        <a:ea typeface="Arial"/>
                        <a:cs typeface="Arial"/>
                      </a:rPr>
                      <a:t>164.983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500" b="1">
                      <a:solidFill>
                        <a:srgbClr val="20202B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outEnd"/>
              <c:showVal val="0"/>
            </c:dLbl>
            <c:dLbl>
              <c:idx val="3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1500" b="1">
                        <a:solidFill>
                          <a:srgbClr val="20202B"/>
                        </a:solidFill>
                        <a:latin typeface="Arial"/>
                        <a:ea typeface="Arial"/>
                        <a:cs typeface="Arial"/>
                      </a:rPr>
                      <a:t>303.845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500" b="1">
                      <a:solidFill>
                        <a:srgbClr val="20202B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outEnd"/>
              <c:showVal val="0"/>
            </c:dLbl>
            <c:dLbl>
              <c:idx val="4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1500" b="1">
                        <a:solidFill>
                          <a:srgbClr val="20202B"/>
                        </a:solidFill>
                        <a:latin typeface="Arial"/>
                        <a:ea typeface="Arial"/>
                        <a:cs typeface="Arial"/>
                      </a:rPr>
                      <a:t>367.289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500" b="1">
                      <a:solidFill>
                        <a:srgbClr val="20202B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outEnd"/>
              <c:showVal val="0"/>
            </c:dLbl>
            <c:dLbl>
              <c:idx val="5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1500" b="1">
                        <a:solidFill>
                          <a:srgbClr val="20202B"/>
                        </a:solidFill>
                        <a:latin typeface="Arial"/>
                        <a:ea typeface="Arial"/>
                        <a:cs typeface="Arial"/>
                      </a:rPr>
                      <a:t>619.073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500" b="1">
                      <a:solidFill>
                        <a:srgbClr val="20202B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outEnd"/>
              <c:showVal val="0"/>
            </c:dLbl>
          </c:dLbls>
          <c:cat>
            <c:strRef>
              <c:f>'Chart Data'!$A$2:$A$7</c:f>
              <c:strCache>
                <c:ptCount val="6"/>
                <c:pt idx="0">
                  <c:v>Bono J. Gallegos Lara</c:v>
                </c:pt>
                <c:pt idx="1">
                  <c:v>Toda Una Vida</c:v>
                </c:pt>
                <c:pt idx="2">
                  <c:v>Bono 1.000 Días</c:v>
                </c:pt>
                <c:pt idx="3">
                  <c:v>Mis Mejores Años</c:v>
                </c:pt>
                <c:pt idx="4">
                  <c:v>BDH variable</c:v>
                </c:pt>
                <c:pt idx="5">
                  <c:v>BDH</c:v>
                </c:pt>
              </c:strCache>
            </c:strRef>
          </c:cat>
          <c:val>
            <c:numRef>
              <c:f>'Chart Data'!$B$2:$B$7</c:f>
              <c:numCache>
                <c:formatCode>#,##0</c:formatCode>
                <c:ptCount val="6"/>
                <c:pt idx="0">
                  <c:v>50129.0</c:v>
                </c:pt>
                <c:pt idx="1">
                  <c:v>72700.0</c:v>
                </c:pt>
                <c:pt idx="2">
                  <c:v>164983.0</c:v>
                </c:pt>
                <c:pt idx="3">
                  <c:v>303845.0</c:v>
                </c:pt>
                <c:pt idx="4">
                  <c:v>367289.0</c:v>
                </c:pt>
                <c:pt idx="5">
                  <c:v>619073.0</c:v>
                </c:pt>
              </c:numCache>
            </c:numRef>
          </c:val>
        </c:ser>
        <c:dLbls>
          <c:numFmt formatCode="#,##0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500" b="1">
                  <a:solidFill>
                    <a:srgbClr val="20202B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0">
            <a:noFill/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20202B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1"/>
        <c:axPos val="b"/>
        <c:numFmt formatCode="General"/>
        <c:majorTickMark val="none"/>
        <c:minorTickMark val="none"/>
        <c:spPr>
          <a:ln xmlns:a="http://schemas.openxmlformats.org/drawingml/2006/main" w="0">
            <a:noFill/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20202B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FFFFF"/>
        </a:solidFill>
        <a:ln xmlns:a="http://schemas.openxmlformats.org/drawingml/2006/main" w="0">
          <a:noFill/>
          <a:prstDash val="solid"/>
        </a:ln>
      </c:spPr>
    </c:plotArea>
    <c:plotVisOnly val="1"/>
  </c:chart>
  <c:spPr>
    <a:solidFill xmlns:a="http://schemas.openxmlformats.org/drawingml/2006/main">
      <a:srgbClr val="FFFFFF"/>
    </a:solidFill>
    <a:ln xmlns:a="http://schemas.openxmlformats.org/drawingml/2006/main" w="0">
      <a:noFill/>
      <a:prstDash val="solid"/>
    </a:ln>
  </c:spPr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s-EC"/>
  <c:chart>
    <c:plotArea>
      <c:barChart>
        <c:barDir val="bar"/>
        <c:grouping val="clustered"/>
        <c:varyColors val="0"/>
        <c:ser>
          <c:idx val="0"/>
          <c:order val="0"/>
          <c:tx>
            <c:v>Beneficiarios reportados</c:v>
          </c:tx>
          <c:spPr>
            <a:solidFill xmlns:a="http://schemas.openxmlformats.org/drawingml/2006/main">
              <a:srgbClr val="512F8D"/>
            </a:solidFill>
          </c:spPr>
          <c:invertIfNegative val="0"/>
          <c:dLbls>
            <c:dLbl>
              <c:idx val="0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1500" b="1">
                        <a:solidFill>
                          <a:srgbClr val="20202B"/>
                        </a:solidFill>
                        <a:latin typeface="Arial"/>
                        <a:ea typeface="Arial"/>
                        <a:cs typeface="Arial"/>
                      </a:rPr>
                      <a:t>59.564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500" b="1">
                      <a:solidFill>
                        <a:srgbClr val="20202B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outEnd"/>
              <c:showVal val="0"/>
            </c:dLbl>
            <c:dLbl>
              <c:idx val="1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1500" b="1">
                        <a:solidFill>
                          <a:srgbClr val="20202B"/>
                        </a:solidFill>
                        <a:latin typeface="Arial"/>
                        <a:ea typeface="Arial"/>
                        <a:cs typeface="Arial"/>
                      </a:rPr>
                      <a:t>66.269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500" b="1">
                      <a:solidFill>
                        <a:srgbClr val="20202B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outEnd"/>
              <c:showVal val="0"/>
            </c:dLbl>
            <c:dLbl>
              <c:idx val="2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1500" b="1">
                        <a:solidFill>
                          <a:srgbClr val="20202B"/>
                        </a:solidFill>
                        <a:latin typeface="Arial"/>
                        <a:ea typeface="Arial"/>
                        <a:cs typeface="Arial"/>
                      </a:rPr>
                      <a:t>66.600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500" b="1">
                      <a:solidFill>
                        <a:srgbClr val="20202B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outEnd"/>
              <c:showVal val="0"/>
            </c:dLbl>
            <c:dLbl>
              <c:idx val="3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1500" b="1">
                        <a:solidFill>
                          <a:srgbClr val="20202B"/>
                        </a:solidFill>
                        <a:latin typeface="Arial"/>
                        <a:ea typeface="Arial"/>
                        <a:cs typeface="Arial"/>
                      </a:rPr>
                      <a:t>104.516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500" b="1">
                      <a:solidFill>
                        <a:srgbClr val="20202B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outEnd"/>
              <c:showVal val="0"/>
            </c:dLbl>
            <c:dLbl>
              <c:idx val="4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1500" b="1">
                        <a:solidFill>
                          <a:srgbClr val="20202B"/>
                        </a:solidFill>
                        <a:latin typeface="Arial"/>
                        <a:ea typeface="Arial"/>
                        <a:cs typeface="Arial"/>
                      </a:rPr>
                      <a:t>107.356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500" b="1">
                      <a:solidFill>
                        <a:srgbClr val="20202B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outEnd"/>
              <c:showVal val="0"/>
            </c:dLbl>
            <c:dLbl>
              <c:idx val="5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1500" b="1">
                        <a:solidFill>
                          <a:srgbClr val="20202B"/>
                        </a:solidFill>
                        <a:latin typeface="Arial"/>
                        <a:ea typeface="Arial"/>
                        <a:cs typeface="Arial"/>
                      </a:rPr>
                      <a:t>126.547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500" b="1">
                      <a:solidFill>
                        <a:srgbClr val="20202B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outEnd"/>
              <c:showVal val="0"/>
            </c:dLbl>
            <c:dLbl>
              <c:idx val="6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1500" b="1">
                        <a:solidFill>
                          <a:srgbClr val="20202B"/>
                        </a:solidFill>
                        <a:latin typeface="Arial"/>
                        <a:ea typeface="Arial"/>
                        <a:cs typeface="Arial"/>
                      </a:rPr>
                      <a:t>214.817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500" b="1">
                      <a:solidFill>
                        <a:srgbClr val="20202B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outEnd"/>
              <c:showVal val="0"/>
            </c:dLbl>
            <c:dLbl>
              <c:idx val="7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1500" b="1">
                        <a:solidFill>
                          <a:srgbClr val="20202B"/>
                        </a:solidFill>
                        <a:latin typeface="Arial"/>
                        <a:ea typeface="Arial"/>
                        <a:cs typeface="Arial"/>
                      </a:rPr>
                      <a:t>312.265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500" b="1">
                      <a:solidFill>
                        <a:srgbClr val="20202B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outEnd"/>
              <c:showVal val="0"/>
            </c:dLbl>
          </c:dLbls>
          <c:cat>
            <c:strRef>
              <c:f>'Chart Data'!$A$2:$A$9</c:f>
              <c:strCache>
                <c:ptCount val="8"/>
                <c:pt idx="0">
                  <c:v>Loja</c:v>
                </c:pt>
                <c:pt idx="1">
                  <c:v>Cotopaxi</c:v>
                </c:pt>
                <c:pt idx="2">
                  <c:v>Chimborazo</c:v>
                </c:pt>
                <c:pt idx="3">
                  <c:v>Esmeraldas</c:v>
                </c:pt>
                <c:pt idx="4">
                  <c:v>Pichincha</c:v>
                </c:pt>
                <c:pt idx="5">
                  <c:v>Los Ríos</c:v>
                </c:pt>
                <c:pt idx="6">
                  <c:v>Manabí</c:v>
                </c:pt>
                <c:pt idx="7">
                  <c:v>Guayas</c:v>
                </c:pt>
              </c:strCache>
            </c:strRef>
          </c:cat>
          <c:val>
            <c:numRef>
              <c:f>'Chart Data'!$B$2:$B$9</c:f>
              <c:numCache>
                <c:formatCode>#,##0</c:formatCode>
                <c:ptCount val="8"/>
                <c:pt idx="0">
                  <c:v>59564.0</c:v>
                </c:pt>
                <c:pt idx="1">
                  <c:v>66269.0</c:v>
                </c:pt>
                <c:pt idx="2">
                  <c:v>66600.0</c:v>
                </c:pt>
                <c:pt idx="3">
                  <c:v>104516.0</c:v>
                </c:pt>
                <c:pt idx="4">
                  <c:v>107356.0</c:v>
                </c:pt>
                <c:pt idx="5">
                  <c:v>126547.0</c:v>
                </c:pt>
                <c:pt idx="6">
                  <c:v>214817.0</c:v>
                </c:pt>
                <c:pt idx="7">
                  <c:v>312265.0</c:v>
                </c:pt>
              </c:numCache>
            </c:numRef>
          </c:val>
        </c:ser>
        <c:dLbls>
          <c:numFmt formatCode="#,##0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500" b="1">
                  <a:solidFill>
                    <a:srgbClr val="20202B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0">
            <a:noFill/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20202B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1"/>
        <c:axPos val="b"/>
        <c:numFmt formatCode="General"/>
        <c:majorTickMark val="none"/>
        <c:minorTickMark val="none"/>
        <c:spPr>
          <a:ln xmlns:a="http://schemas.openxmlformats.org/drawingml/2006/main" w="0">
            <a:noFill/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20202B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FFFFF"/>
        </a:solidFill>
        <a:ln xmlns:a="http://schemas.openxmlformats.org/drawingml/2006/main" w="0">
          <a:noFill/>
          <a:prstDash val="solid"/>
        </a:ln>
      </c:spPr>
    </c:plotArea>
    <c:plotVisOnly val="1"/>
  </c:chart>
  <c:spPr>
    <a:solidFill xmlns:a="http://schemas.openxmlformats.org/drawingml/2006/main">
      <a:srgbClr val="FFFFFF"/>
    </a:solidFill>
    <a:ln xmlns:a="http://schemas.openxmlformats.org/drawingml/2006/main" w="0">
      <a:noFill/>
      <a:prstDash val="solid"/>
    </a:ln>
  </c:spPr>
  <c:externalData r:id="rIdChartSnapshot1">
    <c:autoUpdate val="0"/>
  </c:externalData>
</c:chartSpace>
</file>

<file path=ppt/slides/charts/chart3.xml><?xml version="1.0" encoding="utf-8"?>
<c:chartSpace xmlns:c="http://schemas.openxmlformats.org/drawingml/2006/chart" xmlns:r="http://schemas.openxmlformats.org/officeDocument/2006/relationships">
  <c:lang val="es-EC"/>
  <c:chart>
    <c:plotArea>
      <c:barChart>
        <c:barDir val="bar"/>
        <c:grouping val="clustered"/>
        <c:varyColors val="0"/>
        <c:ser>
          <c:idx val="0"/>
          <c:order val="0"/>
          <c:tx>
            <c:v>Usuarios reportados</c:v>
          </c:tx>
          <c:spPr>
            <a:solidFill xmlns:a="http://schemas.openxmlformats.org/drawingml/2006/main">
              <a:srgbClr val="512F8D"/>
            </a:solidFill>
          </c:spPr>
          <c:invertIfNegative val="0"/>
          <c:dLbls>
            <c:dLbl>
              <c:idx val="0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1500" b="1">
                        <a:solidFill>
                          <a:srgbClr val="20202B"/>
                        </a:solidFill>
                        <a:latin typeface="Arial"/>
                        <a:ea typeface="Arial"/>
                        <a:cs typeface="Arial"/>
                      </a:rPr>
                      <a:t>29.528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500" b="1">
                      <a:solidFill>
                        <a:srgbClr val="20202B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outEnd"/>
              <c:showVal val="0"/>
            </c:dLbl>
            <c:dLbl>
              <c:idx val="1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1500" b="1">
                        <a:solidFill>
                          <a:srgbClr val="20202B"/>
                        </a:solidFill>
                        <a:latin typeface="Arial"/>
                        <a:ea typeface="Arial"/>
                        <a:cs typeface="Arial"/>
                      </a:rPr>
                      <a:t>37.039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500" b="1">
                      <a:solidFill>
                        <a:srgbClr val="20202B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outEnd"/>
              <c:showVal val="0"/>
            </c:dLbl>
            <c:dLbl>
              <c:idx val="2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1500" b="1">
                        <a:solidFill>
                          <a:srgbClr val="20202B"/>
                        </a:solidFill>
                        <a:latin typeface="Arial"/>
                        <a:ea typeface="Arial"/>
                        <a:cs typeface="Arial"/>
                      </a:rPr>
                      <a:t>114.697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500" b="1">
                      <a:solidFill>
                        <a:srgbClr val="20202B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outEnd"/>
              <c:showVal val="0"/>
            </c:dLbl>
            <c:dLbl>
              <c:idx val="3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1500" b="1">
                        <a:solidFill>
                          <a:srgbClr val="20202B"/>
                        </a:solidFill>
                        <a:latin typeface="Arial"/>
                        <a:ea typeface="Arial"/>
                        <a:cs typeface="Arial"/>
                      </a:rPr>
                      <a:t>274.975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500" b="1">
                      <a:solidFill>
                        <a:srgbClr val="20202B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outEnd"/>
              <c:showVal val="0"/>
            </c:dLbl>
          </c:dLbls>
          <c:cat>
            <c:strRef>
              <c:f>'Chart Data'!$A$2:$A$5</c:f>
              <c:strCache>
                <c:ptCount val="4"/>
                <c:pt idx="0">
                  <c:v>Protección especial</c:v>
                </c:pt>
                <c:pt idx="1">
                  <c:v>Discapacidades</c:v>
                </c:pt>
                <c:pt idx="2">
                  <c:v>Personas adultas mayores</c:v>
                </c:pt>
                <c:pt idx="3">
                  <c:v>Desarrollo infantil</c:v>
                </c:pt>
              </c:strCache>
            </c:strRef>
          </c:cat>
          <c:val>
            <c:numRef>
              <c:f>'Chart Data'!$B$2:$B$5</c:f>
              <c:numCache>
                <c:formatCode>#,##0</c:formatCode>
                <c:ptCount val="4"/>
                <c:pt idx="0">
                  <c:v>29528.0</c:v>
                </c:pt>
                <c:pt idx="1">
                  <c:v>37039.0</c:v>
                </c:pt>
                <c:pt idx="2">
                  <c:v>114697.0</c:v>
                </c:pt>
                <c:pt idx="3">
                  <c:v>274975.0</c:v>
                </c:pt>
              </c:numCache>
            </c:numRef>
          </c:val>
        </c:ser>
        <c:dLbls>
          <c:numFmt formatCode="#,##0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500" b="1">
                  <a:solidFill>
                    <a:srgbClr val="20202B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0">
            <a:noFill/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20202B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1"/>
        <c:axPos val="b"/>
        <c:numFmt formatCode="General"/>
        <c:majorTickMark val="none"/>
        <c:minorTickMark val="none"/>
        <c:spPr>
          <a:ln xmlns:a="http://schemas.openxmlformats.org/drawingml/2006/main" w="0">
            <a:noFill/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20202B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FFFFF"/>
        </a:solidFill>
        <a:ln xmlns:a="http://schemas.openxmlformats.org/drawingml/2006/main" w="0">
          <a:noFill/>
          <a:prstDash val="solid"/>
        </a:ln>
      </c:spPr>
    </c:plotArea>
    <c:plotVisOnly val="1"/>
  </c:chart>
  <c:spPr>
    <a:solidFill xmlns:a="http://schemas.openxmlformats.org/drawingml/2006/main">
      <a:srgbClr val="FFFFFF"/>
    </a:solidFill>
    <a:ln xmlns:a="http://schemas.openxmlformats.org/drawingml/2006/main" w="0">
      <a:noFill/>
      <a:prstDash val="solid"/>
    </a:ln>
  </c:spPr>
  <c:externalData r:id="rIdChartSnapshot1">
    <c:autoUpdate val="0"/>
  </c:externalData>
</c:chartSpace>
</file>

<file path=ppt/slides/charts/chart4.xml><?xml version="1.0" encoding="utf-8"?>
<c:chartSpace xmlns:c="http://schemas.openxmlformats.org/drawingml/2006/chart" xmlns:r="http://schemas.openxmlformats.org/officeDocument/2006/relationships">
  <c:lang val="es-EC"/>
  <c:chart>
    <c:plotArea>
      <c:barChart>
        <c:barDir val="bar"/>
        <c:grouping val="clustered"/>
        <c:varyColors val="0"/>
        <c:ser>
          <c:idx val="0"/>
          <c:order val="0"/>
          <c:tx>
            <c:v>Usuarios reportados</c:v>
          </c:tx>
          <c:spPr>
            <a:solidFill xmlns:a="http://schemas.openxmlformats.org/drawingml/2006/main">
              <a:srgbClr val="512F8D"/>
            </a:solidFill>
          </c:spPr>
          <c:invertIfNegative val="0"/>
          <c:dLbls>
            <c:dLbl>
              <c:idx val="0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1500" b="1">
                        <a:solidFill>
                          <a:srgbClr val="20202B"/>
                        </a:solidFill>
                        <a:latin typeface="Arial"/>
                        <a:ea typeface="Arial"/>
                        <a:cs typeface="Arial"/>
                      </a:rPr>
                      <a:t>21.042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500" b="1">
                      <a:solidFill>
                        <a:srgbClr val="20202B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outEnd"/>
              <c:showVal val="0"/>
            </c:dLbl>
            <c:dLbl>
              <c:idx val="1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1500" b="1">
                        <a:solidFill>
                          <a:srgbClr val="20202B"/>
                        </a:solidFill>
                        <a:latin typeface="Arial"/>
                        <a:ea typeface="Arial"/>
                        <a:cs typeface="Arial"/>
                      </a:rPr>
                      <a:t>21.651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500" b="1">
                      <a:solidFill>
                        <a:srgbClr val="20202B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outEnd"/>
              <c:showVal val="0"/>
            </c:dLbl>
            <c:dLbl>
              <c:idx val="2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1500" b="1">
                        <a:solidFill>
                          <a:srgbClr val="20202B"/>
                        </a:solidFill>
                        <a:latin typeface="Arial"/>
                        <a:ea typeface="Arial"/>
                        <a:cs typeface="Arial"/>
                      </a:rPr>
                      <a:t>22.896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500" b="1">
                      <a:solidFill>
                        <a:srgbClr val="20202B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outEnd"/>
              <c:showVal val="0"/>
            </c:dLbl>
            <c:dLbl>
              <c:idx val="3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1500" b="1">
                        <a:solidFill>
                          <a:srgbClr val="20202B"/>
                        </a:solidFill>
                        <a:latin typeface="Arial"/>
                        <a:ea typeface="Arial"/>
                        <a:cs typeface="Arial"/>
                      </a:rPr>
                      <a:t>24.736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500" b="1">
                      <a:solidFill>
                        <a:srgbClr val="20202B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outEnd"/>
              <c:showVal val="0"/>
            </c:dLbl>
            <c:dLbl>
              <c:idx val="4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1500" b="1">
                        <a:solidFill>
                          <a:srgbClr val="20202B"/>
                        </a:solidFill>
                        <a:latin typeface="Arial"/>
                        <a:ea typeface="Arial"/>
                        <a:cs typeface="Arial"/>
                      </a:rPr>
                      <a:t>25.135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500" b="1">
                      <a:solidFill>
                        <a:srgbClr val="20202B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outEnd"/>
              <c:showVal val="0"/>
            </c:dLbl>
            <c:dLbl>
              <c:idx val="5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1500" b="1">
                        <a:solidFill>
                          <a:srgbClr val="20202B"/>
                        </a:solidFill>
                        <a:latin typeface="Arial"/>
                        <a:ea typeface="Arial"/>
                        <a:cs typeface="Arial"/>
                      </a:rPr>
                      <a:t>33.362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500" b="1">
                      <a:solidFill>
                        <a:srgbClr val="20202B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outEnd"/>
              <c:showVal val="0"/>
            </c:dLbl>
            <c:dLbl>
              <c:idx val="6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1500" b="1">
                        <a:solidFill>
                          <a:srgbClr val="20202B"/>
                        </a:solidFill>
                        <a:latin typeface="Arial"/>
                        <a:ea typeface="Arial"/>
                        <a:cs typeface="Arial"/>
                      </a:rPr>
                      <a:t>57.131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500" b="1">
                      <a:solidFill>
                        <a:srgbClr val="20202B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outEnd"/>
              <c:showVal val="0"/>
            </c:dLbl>
            <c:dLbl>
              <c:idx val="7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1500" b="1">
                        <a:solidFill>
                          <a:srgbClr val="20202B"/>
                        </a:solidFill>
                        <a:latin typeface="Arial"/>
                        <a:ea typeface="Arial"/>
                        <a:cs typeface="Arial"/>
                      </a:rPr>
                      <a:t>87.943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500" b="1">
                      <a:solidFill>
                        <a:srgbClr val="20202B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outEnd"/>
              <c:showVal val="0"/>
            </c:dLbl>
          </c:dLbls>
          <c:cat>
            <c:strRef>
              <c:f>'Chart Data'!$A$2:$A$9</c:f>
              <c:strCache>
                <c:ptCount val="8"/>
                <c:pt idx="0">
                  <c:v>El Oro</c:v>
                </c:pt>
                <c:pt idx="1">
                  <c:v>Chimborazo</c:v>
                </c:pt>
                <c:pt idx="2">
                  <c:v>Esmeraldas</c:v>
                </c:pt>
                <c:pt idx="3">
                  <c:v>Loja</c:v>
                </c:pt>
                <c:pt idx="4">
                  <c:v>Los Ríos</c:v>
                </c:pt>
                <c:pt idx="5">
                  <c:v>Pichincha</c:v>
                </c:pt>
                <c:pt idx="6">
                  <c:v>Manabí</c:v>
                </c:pt>
                <c:pt idx="7">
                  <c:v>Guayas</c:v>
                </c:pt>
              </c:strCache>
            </c:strRef>
          </c:cat>
          <c:val>
            <c:numRef>
              <c:f>'Chart Data'!$B$2:$B$9</c:f>
              <c:numCache>
                <c:formatCode>#,##0</c:formatCode>
                <c:ptCount val="8"/>
                <c:pt idx="0">
                  <c:v>21042.0</c:v>
                </c:pt>
                <c:pt idx="1">
                  <c:v>21651.0</c:v>
                </c:pt>
                <c:pt idx="2">
                  <c:v>22896.0</c:v>
                </c:pt>
                <c:pt idx="3">
                  <c:v>24736.0</c:v>
                </c:pt>
                <c:pt idx="4">
                  <c:v>25135.0</c:v>
                </c:pt>
                <c:pt idx="5">
                  <c:v>33362.0</c:v>
                </c:pt>
                <c:pt idx="6">
                  <c:v>57131.0</c:v>
                </c:pt>
                <c:pt idx="7">
                  <c:v>87943.0</c:v>
                </c:pt>
              </c:numCache>
            </c:numRef>
          </c:val>
        </c:ser>
        <c:dLbls>
          <c:numFmt formatCode="#,##0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500" b="1">
                  <a:solidFill>
                    <a:srgbClr val="20202B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0">
            <a:noFill/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20202B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1"/>
        <c:axPos val="b"/>
        <c:numFmt formatCode="General"/>
        <c:majorTickMark val="none"/>
        <c:minorTickMark val="none"/>
        <c:spPr>
          <a:ln xmlns:a="http://schemas.openxmlformats.org/drawingml/2006/main" w="0">
            <a:noFill/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20202B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FFFFF"/>
        </a:solidFill>
        <a:ln xmlns:a="http://schemas.openxmlformats.org/drawingml/2006/main" w="0">
          <a:noFill/>
          <a:prstDash val="solid"/>
        </a:ln>
      </c:spPr>
    </c:plotArea>
    <c:plotVisOnly val="1"/>
  </c:chart>
  <c:spPr>
    <a:solidFill xmlns:a="http://schemas.openxmlformats.org/drawingml/2006/main">
      <a:srgbClr val="FFFFFF"/>
    </a:solidFill>
    <a:ln xmlns:a="http://schemas.openxmlformats.org/drawingml/2006/main" w="0">
      <a:noFill/>
      <a:prstDash val="solid"/>
    </a:ln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512F8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1E7C1EF-03F8-4943-BD2F-3A9DD32E21C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0f68fde05a84aac"/>
          <a:stretch xmlns:a="http://schemas.openxmlformats.org/drawingml/2006/main"/>
        </p:blipFill>
        <p:spPr>
          <a:xfrm xmlns:a="http://schemas.openxmlformats.org/drawingml/2006/main">
            <a:off x="685800" y="552598"/>
            <a:ext cx="5905500" cy="1406546"/>
          </a:xfrm>
          <a:prstGeom xmlns:a="http://schemas.openxmlformats.org/drawingml/2006/main" prst="rect">
            <a:avLst/>
          </a:prstGeom>
        </p:spPr>
      </p:pic>
      <p:sp>
        <p:nvSpPr>
          <p:cNvPr id="2" name="cover-title">
            <a:extLst xmlns:a="http://schemas.openxmlformats.org/drawingml/2006/main">
              <a:ext uri="{FF2B5EF4-FFF2-40B4-BE49-F238E27FC236}">
                <a16:creationId xmlns:a16="http://schemas.microsoft.com/office/drawing/2014/main" id="{59712D6A-599E-476A-8647-C8424AB70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0"/>
            <a:ext cx="10668000" cy="1571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4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4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4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4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4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4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4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4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4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4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4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9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Boletín estadístico institucional</a:t>
            </a:r>
          </a:p>
        </p:txBody>
      </p:sp>
      <p:sp>
        <p:nvSpPr>
          <p:cNvPr id="3" name="cover-period">
            <a:extLst xmlns:a="http://schemas.openxmlformats.org/drawingml/2006/main">
              <a:ext uri="{FF2B5EF4-FFF2-40B4-BE49-F238E27FC236}">
                <a16:creationId xmlns:a16="http://schemas.microsoft.com/office/drawing/2014/main" id="{B1490487-8F17-4CC5-8780-E72360862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43425"/>
            <a:ext cx="10287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6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6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6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6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6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6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6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6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6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6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6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Septiembre 2026</a:t>
            </a:r>
          </a:p>
        </p:txBody>
      </p:sp>
      <p:sp>
        <p:nvSpPr>
          <p:cNvPr id="4" name="cover-scope">
            <a:extLst xmlns:a="http://schemas.openxmlformats.org/drawingml/2006/main">
              <a:ext uri="{FF2B5EF4-FFF2-40B4-BE49-F238E27FC236}">
                <a16:creationId xmlns:a16="http://schemas.microsoft.com/office/drawing/2014/main" id="{119DB892-5038-4487-B267-CDF9BB843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57800"/>
            <a:ext cx="10287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E9DFF8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E9DFF8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E9DFF8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E9DFF8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E9DFF8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E9DFF8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E9DFF8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E9DFF8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E9DFF8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E9DFF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E9DFF8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E9DFF8"/>
                </a:solidFill>
                <a:latin typeface="Arial"/>
                <a:ea typeface="Arial"/>
                <a:cs typeface="Arial"/>
              </a:rPr>
              <a:t>Nacional - 24 provincias y zona en estudio</a:t>
            </a:r>
          </a:p>
        </p:txBody>
      </p:sp>
      <p:sp>
        <p:nvSpPr>
          <p:cNvPr id="5" name="cover-source">
            <a:extLst xmlns:a="http://schemas.openxmlformats.org/drawingml/2006/main">
              <a:ext uri="{FF2B5EF4-FFF2-40B4-BE49-F238E27FC236}">
                <a16:creationId xmlns:a16="http://schemas.microsoft.com/office/drawing/2014/main" id="{9E7E6E5B-A552-45AA-8069-6157FAEE3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E9DFF8"/>
                </a:solidFill>
                <a:latin typeface="Arial"/>
                <a:ea typeface="Arial"/>
                <a:cs typeface="Arial"/>
              </a:defRPr>
            </a:defPPr>
            <a:lvl1pPr>
              <a:defRPr sz="1125" b="0">
                <a:solidFill>
                  <a:srgbClr val="E9DFF8"/>
                </a:solidFill>
                <a:latin typeface="Arial"/>
                <a:ea typeface="Arial"/>
                <a:cs typeface="Arial"/>
              </a:defRPr>
            </a:lvl1pPr>
            <a:lvl2pPr>
              <a:defRPr sz="1125" b="0">
                <a:solidFill>
                  <a:srgbClr val="E9DFF8"/>
                </a:solidFill>
                <a:latin typeface="Arial"/>
                <a:ea typeface="Arial"/>
                <a:cs typeface="Arial"/>
              </a:defRPr>
            </a:lvl2pPr>
            <a:lvl3pPr>
              <a:defRPr sz="1125" b="0">
                <a:solidFill>
                  <a:srgbClr val="E9DFF8"/>
                </a:solidFill>
                <a:latin typeface="Arial"/>
                <a:ea typeface="Arial"/>
                <a:cs typeface="Arial"/>
              </a:defRPr>
            </a:lvl3pPr>
            <a:lvl4pPr>
              <a:defRPr sz="1125" b="0">
                <a:solidFill>
                  <a:srgbClr val="E9DFF8"/>
                </a:solidFill>
                <a:latin typeface="Arial"/>
                <a:ea typeface="Arial"/>
                <a:cs typeface="Arial"/>
              </a:defRPr>
            </a:lvl4pPr>
            <a:lvl5pPr>
              <a:defRPr sz="1125" b="0">
                <a:solidFill>
                  <a:srgbClr val="E9DFF8"/>
                </a:solidFill>
                <a:latin typeface="Arial"/>
                <a:ea typeface="Arial"/>
                <a:cs typeface="Arial"/>
              </a:defRPr>
            </a:lvl5pPr>
            <a:lvl6pPr>
              <a:defRPr sz="1125" b="0">
                <a:solidFill>
                  <a:srgbClr val="E9DFF8"/>
                </a:solidFill>
                <a:latin typeface="Arial"/>
                <a:ea typeface="Arial"/>
                <a:cs typeface="Arial"/>
              </a:defRPr>
            </a:lvl6pPr>
            <a:lvl7pPr>
              <a:defRPr sz="1125" b="0">
                <a:solidFill>
                  <a:srgbClr val="E9DFF8"/>
                </a:solidFill>
                <a:latin typeface="Arial"/>
                <a:ea typeface="Arial"/>
                <a:cs typeface="Arial"/>
              </a:defRPr>
            </a:lvl7pPr>
            <a:lvl8pPr>
              <a:defRPr sz="1125" b="0">
                <a:solidFill>
                  <a:srgbClr val="E9DFF8"/>
                </a:solidFill>
                <a:latin typeface="Arial"/>
                <a:ea typeface="Arial"/>
                <a:cs typeface="Arial"/>
              </a:defRPr>
            </a:lvl8pPr>
            <a:lvl9pPr>
              <a:defRPr sz="1125" b="0">
                <a:solidFill>
                  <a:srgbClr val="E9DFF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E9DFF8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E9DFF8"/>
                </a:solidFill>
                <a:latin typeface="Arial"/>
                <a:ea typeface="Arial"/>
                <a:cs typeface="Arial"/>
              </a:rPr>
              <a:t>Fuente: Acumulado VIS-VIE.xlsx</a:t>
            </a:r>
          </a:p>
        </p:txBody>
      </p:sp>
    </p:spTree>
    <p:extLst>
      <p:ext uri="{BB962C8B-B14F-4D97-AF65-F5344CB8AC3E}">
        <p14:creationId xmlns:p14="http://schemas.microsoft.com/office/powerpoint/2010/main" val="76386773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eyebrow">
            <a:extLst xmlns:a="http://schemas.openxmlformats.org/drawingml/2006/main">
              <a:ext uri="{FF2B5EF4-FFF2-40B4-BE49-F238E27FC236}">
                <a16:creationId xmlns:a16="http://schemas.microsoft.com/office/drawing/2014/main" id="{A2F39FF5-86E4-4158-9343-A95E1D71F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6858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3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defPPr>
            <a:lvl1pPr>
              <a:defRPr sz="13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lvl1pPr>
            <a:lvl2pPr>
              <a:defRPr sz="13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lvl2pPr>
            <a:lvl3pPr>
              <a:defRPr sz="13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lvl3pPr>
            <a:lvl4pPr>
              <a:defRPr sz="13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lvl4pPr>
            <a:lvl5pPr>
              <a:defRPr sz="13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lvl5pPr>
            <a:lvl6pPr>
              <a:defRPr sz="13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lvl6pPr>
            <a:lvl7pPr>
              <a:defRPr sz="13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lvl7pPr>
            <a:lvl8pPr>
              <a:defRPr sz="13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lvl8pPr>
            <a:lvl9pPr>
              <a:defRPr sz="13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512F8D"/>
                </a:solidFill>
                <a:latin typeface="Arial"/>
                <a:ea typeface="Arial"/>
                <a:cs typeface="Arial"/>
              </a:rPr>
              <a:t>Septiembre 2026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3E080AA5-C22D-42AD-B299-AAD89EFA7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90575"/>
            <a:ext cx="108204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20202B"/>
                </a:solidFill>
                <a:latin typeface="Arial"/>
                <a:ea typeface="Arial"/>
                <a:cs typeface="Arial"/>
              </a:defRPr>
            </a:defPPr>
            <a:lvl1pPr>
              <a:defRPr sz="3300" b="1">
                <a:solidFill>
                  <a:srgbClr val="20202B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20202B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20202B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20202B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20202B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20202B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20202B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20202B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2020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20202B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20202B"/>
                </a:solidFill>
                <a:latin typeface="Arial"/>
                <a:ea typeface="Arial"/>
                <a:cs typeface="Arial"/>
              </a:rPr>
              <a:t>Bonos y pensiones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FAAE6F17-2045-42AD-9C3F-2D16D0BC5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1009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defPPr>
            <a:lvl1pPr>
              <a:defRPr sz="9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1pPr>
            <a:lvl2pPr>
              <a:defRPr sz="9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2pPr>
            <a:lvl3pPr>
              <a:defRPr sz="9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3pPr>
            <a:lvl4pPr>
              <a:defRPr sz="9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4pPr>
            <a:lvl5pPr>
              <a:defRPr sz="9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5pPr>
            <a:lvl6pPr>
              <a:defRPr sz="9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6pPr>
            <a:lvl7pPr>
              <a:defRPr sz="9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7pPr>
            <a:lvl8pPr>
              <a:defRPr sz="9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8pPr>
            <a:lvl9pPr>
              <a:defRPr sz="9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9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777080"/>
                </a:solidFill>
                <a:latin typeface="Arial"/>
                <a:ea typeface="Arial"/>
                <a:cs typeface="Arial"/>
              </a:rPr>
              <a:t>MTDH   Septiembre 2026   Nacional - 24 provincias y zona en estudio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A50823AF-44F3-4A56-9FFD-18615B6ED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5795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defPPr>
            <a:lvl1pPr>
              <a:defRPr sz="9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1pPr>
            <a:lvl2pPr>
              <a:defRPr sz="9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2pPr>
            <a:lvl3pPr>
              <a:defRPr sz="9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3pPr>
            <a:lvl4pPr>
              <a:defRPr sz="9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4pPr>
            <a:lvl5pPr>
              <a:defRPr sz="9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5pPr>
            <a:lvl6pPr>
              <a:defRPr sz="9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6pPr>
            <a:lvl7pPr>
              <a:defRPr sz="9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7pPr>
            <a:lvl8pPr>
              <a:defRPr sz="9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8pPr>
            <a:lvl9pPr>
              <a:defRPr sz="9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9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777080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1F6A866-1996-4A9D-ABE8-8D9D454E145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08b10a0efa14e3b"/>
          <a:stretch xmlns:a="http://schemas.openxmlformats.org/drawingml/2006/main"/>
        </p:blipFill>
        <p:spPr>
          <a:xfrm xmlns:a="http://schemas.openxmlformats.org/drawingml/2006/main">
            <a:off x="685800" y="1600200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6" name="chart-subtitle">
            <a:extLst xmlns:a="http://schemas.openxmlformats.org/drawingml/2006/main">
              <a:ext uri="{FF2B5EF4-FFF2-40B4-BE49-F238E27FC236}">
                <a16:creationId xmlns:a16="http://schemas.microsoft.com/office/drawing/2014/main" id="{419D38B1-6BF5-475F-B3A0-D1FCDEBC1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" y="1657350"/>
            <a:ext cx="952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6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512F8D"/>
                </a:solidFill>
                <a:latin typeface="Arial"/>
                <a:ea typeface="Arial"/>
                <a:cs typeface="Arial"/>
              </a:rPr>
              <a:t>Distribución por programa</a:t>
            </a:r>
          </a:p>
        </p:txBody>
      </p:sp>
      <p:graphicFrame>
        <p:nvGraphicFramePr>
          <p:cNvPr id="7" name="Chart">
            <a:extLst xmlns:a="http://schemas.openxmlformats.org/drawingml/2006/main">
              <a:ext uri="{FF2B5EF4-FFF2-40B4-BE49-F238E27FC236}">
                <a16:creationId xmlns:a16="http://schemas.microsoft.com/office/drawing/2014/main" id="{916E42B1-0333-452B-903A-D31420004C67}"/>
              </a:ext>
            </a:extLst>
          </p:cNvPr>
          <p:cNvGraphicFramePr/>
          <p:nvPr/>
        </p:nvGraphicFramePr>
        <p:xfrm>
          <a:off xmlns:a="http://schemas.openxmlformats.org/drawingml/2006/main" x="552450" y="2247900"/>
          <a:ext xmlns:a="http://schemas.openxmlformats.org/drawingml/2006/main" cx="6858000" cy="3524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62a2daff4724717"/>
          </a:graphicData>
        </a:graphic>
      </p:graphicFrame>
      <p:sp>
        <p:nvSpPr>
          <p:cNvPr id="8" name="people">
            <a:extLst xmlns:a="http://schemas.openxmlformats.org/drawingml/2006/main">
              <a:ext uri="{FF2B5EF4-FFF2-40B4-BE49-F238E27FC236}">
                <a16:creationId xmlns:a16="http://schemas.microsoft.com/office/drawing/2014/main" id="{CD4D0C3D-AFF2-478D-BDA0-1BBEF6D7A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266950"/>
            <a:ext cx="333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46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defPPr>
            <a:lvl1pPr>
              <a:defRPr sz="46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lvl1pPr>
            <a:lvl2pPr>
              <a:defRPr sz="46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lvl2pPr>
            <a:lvl3pPr>
              <a:defRPr sz="46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lvl3pPr>
            <a:lvl4pPr>
              <a:defRPr sz="46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lvl4pPr>
            <a:lvl5pPr>
              <a:defRPr sz="46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lvl5pPr>
            <a:lvl6pPr>
              <a:defRPr sz="46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lvl6pPr>
            <a:lvl7pPr>
              <a:defRPr sz="46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lvl7pPr>
            <a:lvl8pPr>
              <a:defRPr sz="46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lvl8pPr>
            <a:lvl9pPr>
              <a:defRPr sz="46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46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pPr>
            <a:r>
              <a:rPr sz="4650" b="1">
                <a:solidFill>
                  <a:srgbClr val="512F8D"/>
                </a:solidFill>
                <a:latin typeface="Arial"/>
                <a:ea typeface="Arial"/>
                <a:cs typeface="Arial"/>
              </a:rPr>
              <a:t>1.578.019</a:t>
            </a:r>
          </a:p>
        </p:txBody>
      </p:sp>
      <p:sp>
        <p:nvSpPr>
          <p:cNvPr id="9" name="people-label">
            <a:extLst xmlns:a="http://schemas.openxmlformats.org/drawingml/2006/main">
              <a:ext uri="{FF2B5EF4-FFF2-40B4-BE49-F238E27FC236}">
                <a16:creationId xmlns:a16="http://schemas.microsoft.com/office/drawing/2014/main" id="{E1CDC408-18C3-430E-B0E3-C7E3892D0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048000"/>
            <a:ext cx="3238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777080"/>
                </a:solidFill>
                <a:latin typeface="Arial"/>
                <a:ea typeface="Arial"/>
                <a:cs typeface="Arial"/>
              </a:rPr>
              <a:t>Beneficiarios reportados</a:t>
            </a:r>
          </a:p>
        </p:txBody>
      </p:sp>
      <p:sp>
        <p:nvSpPr>
          <p:cNvPr id="10" name="fiscal">
            <a:extLst xmlns:a="http://schemas.openxmlformats.org/drawingml/2006/main">
              <a:ext uri="{FF2B5EF4-FFF2-40B4-BE49-F238E27FC236}">
                <a16:creationId xmlns:a16="http://schemas.microsoft.com/office/drawing/2014/main" id="{1445C50D-5EC4-4DB4-896C-8C3309CAD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876675"/>
            <a:ext cx="32385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225" b="1">
                <a:solidFill>
                  <a:srgbClr val="20202B"/>
                </a:solidFill>
                <a:latin typeface="Arial"/>
                <a:ea typeface="Arial"/>
                <a:cs typeface="Arial"/>
              </a:defRPr>
            </a:defPPr>
            <a:lvl1pPr>
              <a:defRPr sz="3225" b="1">
                <a:solidFill>
                  <a:srgbClr val="20202B"/>
                </a:solidFill>
                <a:latin typeface="Arial"/>
                <a:ea typeface="Arial"/>
                <a:cs typeface="Arial"/>
              </a:defRPr>
            </a:lvl1pPr>
            <a:lvl2pPr>
              <a:defRPr sz="3225" b="1">
                <a:solidFill>
                  <a:srgbClr val="20202B"/>
                </a:solidFill>
                <a:latin typeface="Arial"/>
                <a:ea typeface="Arial"/>
                <a:cs typeface="Arial"/>
              </a:defRPr>
            </a:lvl2pPr>
            <a:lvl3pPr>
              <a:defRPr sz="3225" b="1">
                <a:solidFill>
                  <a:srgbClr val="20202B"/>
                </a:solidFill>
                <a:latin typeface="Arial"/>
                <a:ea typeface="Arial"/>
                <a:cs typeface="Arial"/>
              </a:defRPr>
            </a:lvl3pPr>
            <a:lvl4pPr>
              <a:defRPr sz="3225" b="1">
                <a:solidFill>
                  <a:srgbClr val="20202B"/>
                </a:solidFill>
                <a:latin typeface="Arial"/>
                <a:ea typeface="Arial"/>
                <a:cs typeface="Arial"/>
              </a:defRPr>
            </a:lvl4pPr>
            <a:lvl5pPr>
              <a:defRPr sz="3225" b="1">
                <a:solidFill>
                  <a:srgbClr val="20202B"/>
                </a:solidFill>
                <a:latin typeface="Arial"/>
                <a:ea typeface="Arial"/>
                <a:cs typeface="Arial"/>
              </a:defRPr>
            </a:lvl5pPr>
            <a:lvl6pPr>
              <a:defRPr sz="3225" b="1">
                <a:solidFill>
                  <a:srgbClr val="20202B"/>
                </a:solidFill>
                <a:latin typeface="Arial"/>
                <a:ea typeface="Arial"/>
                <a:cs typeface="Arial"/>
              </a:defRPr>
            </a:lvl6pPr>
            <a:lvl7pPr>
              <a:defRPr sz="3225" b="1">
                <a:solidFill>
                  <a:srgbClr val="20202B"/>
                </a:solidFill>
                <a:latin typeface="Arial"/>
                <a:ea typeface="Arial"/>
                <a:cs typeface="Arial"/>
              </a:defRPr>
            </a:lvl7pPr>
            <a:lvl8pPr>
              <a:defRPr sz="3225" b="1">
                <a:solidFill>
                  <a:srgbClr val="20202B"/>
                </a:solidFill>
                <a:latin typeface="Arial"/>
                <a:ea typeface="Arial"/>
                <a:cs typeface="Arial"/>
              </a:defRPr>
            </a:lvl8pPr>
            <a:lvl9pPr>
              <a:defRPr sz="3225" b="1">
                <a:solidFill>
                  <a:srgbClr val="2020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20202B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20202B"/>
                </a:solidFill>
                <a:latin typeface="Arial"/>
                <a:ea typeface="Arial"/>
                <a:cs typeface="Arial"/>
              </a:rPr>
              <a:t>USD 1.011,25</a:t>
            </a:r>
          </a:p>
        </p:txBody>
      </p:sp>
      <p:sp>
        <p:nvSpPr>
          <p:cNvPr id="11" name="fiscal-label">
            <a:extLst xmlns:a="http://schemas.openxmlformats.org/drawingml/2006/main">
              <a:ext uri="{FF2B5EF4-FFF2-40B4-BE49-F238E27FC236}">
                <a16:creationId xmlns:a16="http://schemas.microsoft.com/office/drawing/2014/main" id="{AC386503-1134-4017-98DE-7AA63B198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438650"/>
            <a:ext cx="3238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5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defPPr>
            <a:lvl1pPr>
              <a:defRPr sz="15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1pPr>
            <a:lvl2pPr>
              <a:defRPr sz="15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2pPr>
            <a:lvl3pPr>
              <a:defRPr sz="15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3pPr>
            <a:lvl4pPr>
              <a:defRPr sz="15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4pPr>
            <a:lvl5pPr>
              <a:defRPr sz="15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5pPr>
            <a:lvl6pPr>
              <a:defRPr sz="15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6pPr>
            <a:lvl7pPr>
              <a:defRPr sz="15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7pPr>
            <a:lvl8pPr>
              <a:defRPr sz="15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8pPr>
            <a:lvl9pPr>
              <a:defRPr sz="15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777080"/>
                </a:solidFill>
                <a:latin typeface="Arial"/>
                <a:ea typeface="Arial"/>
                <a:cs typeface="Arial"/>
              </a:rPr>
              <a:t>millones en el acumulado fiscal 2026</a:t>
            </a:r>
          </a:p>
        </p:txBody>
      </p:sp>
      <p:sp>
        <p:nvSpPr>
          <p:cNvPr id="12" name="extra-value">
            <a:extLst xmlns:a="http://schemas.openxmlformats.org/drawingml/2006/main">
              <a:ext uri="{FF2B5EF4-FFF2-40B4-BE49-F238E27FC236}">
                <a16:creationId xmlns:a16="http://schemas.microsoft.com/office/drawing/2014/main" id="{2F36CA4E-C032-43B3-8BB7-AD21BF2E6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5095875"/>
            <a:ext cx="3238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850" b="1">
                <a:solidFill>
                  <a:srgbClr val="20202B"/>
                </a:solidFill>
                <a:latin typeface="Arial"/>
                <a:ea typeface="Arial"/>
                <a:cs typeface="Arial"/>
              </a:defRPr>
            </a:defPPr>
            <a:lvl1pPr>
              <a:defRPr sz="2850" b="1">
                <a:solidFill>
                  <a:srgbClr val="20202B"/>
                </a:solidFill>
                <a:latin typeface="Arial"/>
                <a:ea typeface="Arial"/>
                <a:cs typeface="Arial"/>
              </a:defRPr>
            </a:lvl1pPr>
            <a:lvl2pPr>
              <a:defRPr sz="2850" b="1">
                <a:solidFill>
                  <a:srgbClr val="20202B"/>
                </a:solidFill>
                <a:latin typeface="Arial"/>
                <a:ea typeface="Arial"/>
                <a:cs typeface="Arial"/>
              </a:defRPr>
            </a:lvl2pPr>
            <a:lvl3pPr>
              <a:defRPr sz="2850" b="1">
                <a:solidFill>
                  <a:srgbClr val="20202B"/>
                </a:solidFill>
                <a:latin typeface="Arial"/>
                <a:ea typeface="Arial"/>
                <a:cs typeface="Arial"/>
              </a:defRPr>
            </a:lvl3pPr>
            <a:lvl4pPr>
              <a:defRPr sz="2850" b="1">
                <a:solidFill>
                  <a:srgbClr val="20202B"/>
                </a:solidFill>
                <a:latin typeface="Arial"/>
                <a:ea typeface="Arial"/>
                <a:cs typeface="Arial"/>
              </a:defRPr>
            </a:lvl4pPr>
            <a:lvl5pPr>
              <a:defRPr sz="2850" b="1">
                <a:solidFill>
                  <a:srgbClr val="20202B"/>
                </a:solidFill>
                <a:latin typeface="Arial"/>
                <a:ea typeface="Arial"/>
                <a:cs typeface="Arial"/>
              </a:defRPr>
            </a:lvl5pPr>
            <a:lvl6pPr>
              <a:defRPr sz="2850" b="1">
                <a:solidFill>
                  <a:srgbClr val="20202B"/>
                </a:solidFill>
                <a:latin typeface="Arial"/>
                <a:ea typeface="Arial"/>
                <a:cs typeface="Arial"/>
              </a:defRPr>
            </a:lvl6pPr>
            <a:lvl7pPr>
              <a:defRPr sz="2850" b="1">
                <a:solidFill>
                  <a:srgbClr val="20202B"/>
                </a:solidFill>
                <a:latin typeface="Arial"/>
                <a:ea typeface="Arial"/>
                <a:cs typeface="Arial"/>
              </a:defRPr>
            </a:lvl7pPr>
            <a:lvl8pPr>
              <a:defRPr sz="2850" b="1">
                <a:solidFill>
                  <a:srgbClr val="20202B"/>
                </a:solidFill>
                <a:latin typeface="Arial"/>
                <a:ea typeface="Arial"/>
                <a:cs typeface="Arial"/>
              </a:defRPr>
            </a:lvl8pPr>
            <a:lvl9pPr>
              <a:defRPr sz="2850" b="1">
                <a:solidFill>
                  <a:srgbClr val="2020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850" b="1">
                <a:solidFill>
                  <a:srgbClr val="20202B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20202B"/>
                </a:solidFill>
                <a:latin typeface="Arial"/>
                <a:ea typeface="Arial"/>
                <a:cs typeface="Arial"/>
              </a:rPr>
              <a:t>USD 3.758,99</a:t>
            </a:r>
          </a:p>
        </p:txBody>
      </p:sp>
      <p:sp>
        <p:nvSpPr>
          <p:cNvPr id="13" name="extra-label">
            <a:extLst xmlns:a="http://schemas.openxmlformats.org/drawingml/2006/main">
              <a:ext uri="{FF2B5EF4-FFF2-40B4-BE49-F238E27FC236}">
                <a16:creationId xmlns:a16="http://schemas.microsoft.com/office/drawing/2014/main" id="{00D39701-90F9-451C-897F-269ABB662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5581650"/>
            <a:ext cx="323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500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defPPr>
            <a:lvl1pPr>
              <a:defRPr sz="1500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1pPr>
            <a:lvl2pPr>
              <a:defRPr sz="1500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2pPr>
            <a:lvl3pPr>
              <a:defRPr sz="1500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3pPr>
            <a:lvl4pPr>
              <a:defRPr sz="1500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4pPr>
            <a:lvl5pPr>
              <a:defRPr sz="1500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5pPr>
            <a:lvl6pPr>
              <a:defRPr sz="1500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6pPr>
            <a:lvl7pPr>
              <a:defRPr sz="1500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7pPr>
            <a:lvl8pPr>
              <a:defRPr sz="1500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8pPr>
            <a:lvl9pPr>
              <a:defRPr sz="1500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777080"/>
                </a:solidFill>
                <a:latin typeface="Arial"/>
                <a:ea typeface="Arial"/>
                <a:cs typeface="Arial"/>
              </a:rPr>
              <a:t>millones en el acumulado de gobierno</a:t>
            </a:r>
          </a:p>
        </p:txBody>
      </p:sp>
      <p:sp>
        <p:nvSpPr>
          <p:cNvPr id="14" name="count-note">
            <a:extLst xmlns:a="http://schemas.openxmlformats.org/drawingml/2006/main">
              <a:ext uri="{FF2B5EF4-FFF2-40B4-BE49-F238E27FC236}">
                <a16:creationId xmlns:a16="http://schemas.microsoft.com/office/drawing/2014/main" id="{9FD4FD76-6F72-4B1E-B4E6-FA703ABFD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53125"/>
            <a:ext cx="6953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777080"/>
                </a:solidFill>
                <a:latin typeface="Arial"/>
                <a:ea typeface="Arial"/>
                <a:cs typeface="Arial"/>
              </a:rPr>
              <a:t>Conteos reportados. No equivalen a personas únicas verificadas.</a:t>
            </a:r>
          </a:p>
        </p:txBody>
      </p:sp>
    </p:spTree>
    <p:extLst>
      <p:ext uri="{BB962C8B-B14F-4D97-AF65-F5344CB8AC3E}">
        <p14:creationId xmlns:p14="http://schemas.microsoft.com/office/powerpoint/2010/main" val="183035464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eyebrow">
            <a:extLst xmlns:a="http://schemas.openxmlformats.org/drawingml/2006/main">
              <a:ext uri="{FF2B5EF4-FFF2-40B4-BE49-F238E27FC236}">
                <a16:creationId xmlns:a16="http://schemas.microsoft.com/office/drawing/2014/main" id="{14C4B25C-7D63-41AD-B694-D179F3CDC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6858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3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defPPr>
            <a:lvl1pPr>
              <a:defRPr sz="13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lvl1pPr>
            <a:lvl2pPr>
              <a:defRPr sz="13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lvl2pPr>
            <a:lvl3pPr>
              <a:defRPr sz="13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lvl3pPr>
            <a:lvl4pPr>
              <a:defRPr sz="13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lvl4pPr>
            <a:lvl5pPr>
              <a:defRPr sz="13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lvl5pPr>
            <a:lvl6pPr>
              <a:defRPr sz="13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lvl6pPr>
            <a:lvl7pPr>
              <a:defRPr sz="13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lvl7pPr>
            <a:lvl8pPr>
              <a:defRPr sz="13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lvl8pPr>
            <a:lvl9pPr>
              <a:defRPr sz="13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512F8D"/>
                </a:solidFill>
                <a:latin typeface="Arial"/>
                <a:ea typeface="Arial"/>
                <a:cs typeface="Arial"/>
              </a:rPr>
              <a:t>Septiembre 2026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20E9AFB8-D7C6-4EC1-858A-30CA8C5A2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90575"/>
            <a:ext cx="108204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20202B"/>
                </a:solidFill>
                <a:latin typeface="Arial"/>
                <a:ea typeface="Arial"/>
                <a:cs typeface="Arial"/>
              </a:defRPr>
            </a:defPPr>
            <a:lvl1pPr>
              <a:defRPr sz="3300" b="1">
                <a:solidFill>
                  <a:srgbClr val="20202B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20202B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20202B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20202B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20202B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20202B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20202B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20202B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2020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20202B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20202B"/>
                </a:solidFill>
                <a:latin typeface="Arial"/>
                <a:ea typeface="Arial"/>
                <a:cs typeface="Arial"/>
              </a:rPr>
              <a:t>Detalle de bonos y pensiones   1 de 2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89EB817F-669A-4DEB-95C1-F699E469B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1009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defPPr>
            <a:lvl1pPr>
              <a:defRPr sz="9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1pPr>
            <a:lvl2pPr>
              <a:defRPr sz="9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2pPr>
            <a:lvl3pPr>
              <a:defRPr sz="9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3pPr>
            <a:lvl4pPr>
              <a:defRPr sz="9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4pPr>
            <a:lvl5pPr>
              <a:defRPr sz="9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5pPr>
            <a:lvl6pPr>
              <a:defRPr sz="9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6pPr>
            <a:lvl7pPr>
              <a:defRPr sz="9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7pPr>
            <a:lvl8pPr>
              <a:defRPr sz="9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8pPr>
            <a:lvl9pPr>
              <a:defRPr sz="9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9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777080"/>
                </a:solidFill>
                <a:latin typeface="Arial"/>
                <a:ea typeface="Arial"/>
                <a:cs typeface="Arial"/>
              </a:rPr>
              <a:t>MTDH   Septiembre 2026   Nacional - 24 provincias y zona en estudio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4EA3899E-11CC-47B3-9E6C-4C04A7F90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5795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defPPr>
            <a:lvl1pPr>
              <a:defRPr sz="9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1pPr>
            <a:lvl2pPr>
              <a:defRPr sz="9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2pPr>
            <a:lvl3pPr>
              <a:defRPr sz="9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3pPr>
            <a:lvl4pPr>
              <a:defRPr sz="9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4pPr>
            <a:lvl5pPr>
              <a:defRPr sz="9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5pPr>
            <a:lvl6pPr>
              <a:defRPr sz="9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6pPr>
            <a:lvl7pPr>
              <a:defRPr sz="9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7pPr>
            <a:lvl8pPr>
              <a:defRPr sz="9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8pPr>
            <a:lvl9pPr>
              <a:defRPr sz="9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9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777080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5" name="detail-subtitle">
            <a:extLst xmlns:a="http://schemas.openxmlformats.org/drawingml/2006/main">
              <a:ext uri="{FF2B5EF4-FFF2-40B4-BE49-F238E27FC236}">
                <a16:creationId xmlns:a16="http://schemas.microsoft.com/office/drawing/2014/main" id="{CF86538F-5060-4739-A741-165431603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47825"/>
            <a:ext cx="10763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72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777080"/>
                </a:solidFill>
                <a:latin typeface="Arial"/>
                <a:ea typeface="Arial"/>
                <a:cs typeface="Arial"/>
              </a:rPr>
              <a:t>Presupuesto ejecutado: N/D</a:t>
            </a:r>
          </a:p>
        </p:txBody>
      </p:sp>
      <p:graphicFrame>
        <p:nvGraphicFrame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5E76688-058E-4123-8648-46B2C6BB3D9F}"/>
              </a:ext>
            </a:extLst>
          </p:cNvPr>
          <p:cNvGraphicFramePr/>
          <p:nvPr/>
        </p:nvGraphicFramePr>
        <p:xfrm>
          <a:off xmlns:a="http://schemas.openxmlformats.org/drawingml/2006/main" x="685800" y="2114550"/>
          <a:ext xmlns:a="http://schemas.openxmlformats.org/drawingml/2006/main" cx="10820400" cy="2952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191000"/>
                <a:gridCol w="1657350"/>
                <a:gridCol w="1295400"/>
                <a:gridCol w="1838325"/>
                <a:gridCol w="1838325"/>
              </a:tblGrid>
              <a:tr h="552450">
                <a:tc>
                  <a:txBody>
                    <a:bodyPr wrap="square" lIns="114300" tIns="85725" rIns="114300" bIns="85725">
                      <a:noAutofit/>
                    </a:bodyPr>
                    <a:lstStyle/>
                    <a:p>
                      <a:pPr algn="l"/>
                      <a:r>
                        <a:rPr sz="15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Programa o servicio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FFFFF"/>
                      </a:solidFill>
                      <a:prstDash val="solid"/>
                    </a:lnL>
                    <a:lnR w="9525">
                      <a:solidFill>
                        <a:srgbClr val="FFFFFF"/>
                      </a:solidFill>
                      <a:prstDash val="solid"/>
                    </a:lnR>
                    <a:lnT w="9525">
                      <a:solidFill>
                        <a:srgbClr val="FFFFFF"/>
                      </a:solidFill>
                      <a:prstDash val="solid"/>
                    </a:lnT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512F8D"/>
                    </a:solidFill>
                  </a:tcPr>
                </a:tc>
                <a:tc>
                  <a:txBody>
                    <a:bodyPr wrap="square" lIns="114300" tIns="85725" rIns="114300" bIns="85725">
                      <a:noAutofit/>
                    </a:bodyPr>
                    <a:lstStyle/>
                    <a:p>
                      <a:pPr algn="r"/>
                      <a:r>
                        <a:rPr sz="15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Beneficiarios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FFFFF"/>
                      </a:solidFill>
                      <a:prstDash val="solid"/>
                    </a:lnR>
                    <a:lnT w="9525">
                      <a:solidFill>
                        <a:srgbClr val="FFFFFF"/>
                      </a:solidFill>
                      <a:prstDash val="solid"/>
                    </a:lnT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512F8D"/>
                    </a:solidFill>
                  </a:tcPr>
                </a:tc>
                <a:tc>
                  <a:txBody>
                    <a:bodyPr wrap="square" lIns="114300" tIns="85725" rIns="114300" bIns="85725">
                      <a:noAutofit/>
                    </a:bodyPr>
                    <a:lstStyle/>
                    <a:p>
                      <a:pPr algn="r"/>
                      <a:r>
                        <a:rPr sz="15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Unidades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FFFFF"/>
                      </a:solidFill>
                      <a:prstDash val="solid"/>
                    </a:lnR>
                    <a:lnT w="9525">
                      <a:solidFill>
                        <a:srgbClr val="FFFFFF"/>
                      </a:solidFill>
                      <a:prstDash val="solid"/>
                    </a:lnT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512F8D"/>
                    </a:solidFill>
                  </a:tcPr>
                </a:tc>
                <a:tc>
                  <a:txBody>
                    <a:bodyPr wrap="square" lIns="114300" tIns="85725" rIns="114300" bIns="85725">
                      <a:noAutofit/>
                    </a:bodyPr>
                    <a:lstStyle/>
                    <a:p>
                      <a:pPr algn="r"/>
                      <a:r>
                        <a:rPr sz="15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Fiscal 2026</a:t>
                      </a:r>
                    </a:p>
                    <a:p>
                      <a:pPr algn="r"/>
                      <a:r>
                        <a:rPr sz="15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USD millones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FFFFF"/>
                      </a:solidFill>
                      <a:prstDash val="solid"/>
                    </a:lnR>
                    <a:lnT w="9525">
                      <a:solidFill>
                        <a:srgbClr val="FFFFFF"/>
                      </a:solidFill>
                      <a:prstDash val="solid"/>
                    </a:lnT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512F8D"/>
                    </a:solidFill>
                  </a:tcPr>
                </a:tc>
                <a:tc>
                  <a:txBody>
                    <a:bodyPr wrap="square" lIns="114300" tIns="85725" rIns="114300" bIns="85725">
                      <a:noAutofit/>
                    </a:bodyPr>
                    <a:lstStyle/>
                    <a:p>
                      <a:pPr algn="r"/>
                      <a:r>
                        <a:rPr sz="15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Gobierno</a:t>
                      </a:r>
                    </a:p>
                    <a:p>
                      <a:pPr algn="r"/>
                      <a:r>
                        <a:rPr sz="15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USD millones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FFFFF"/>
                      </a:solidFill>
                      <a:prstDash val="solid"/>
                    </a:lnR>
                    <a:lnT w="9525">
                      <a:solidFill>
                        <a:srgbClr val="FFFFFF"/>
                      </a:solidFill>
                      <a:prstDash val="solid"/>
                    </a:lnT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512F8D"/>
                    </a:solidFill>
                  </a:tcPr>
                </a:tc>
              </a:tr>
              <a:tr h="600075">
                <a:tc>
                  <a:txBody>
                    <a:bodyPr wrap="square" lIns="114300" tIns="85725" rIns="114300" bIns="85725">
                      <a:noAutofit/>
                    </a:bodyPr>
                    <a:lstStyle/>
                    <a:p>
                      <a:pPr algn="l"/>
                      <a:r>
                        <a:rPr sz="1575" b="0">
                          <a:solidFill>
                            <a:srgbClr val="20202B"/>
                          </a:solidFill>
                          <a:latin typeface="Arial"/>
                          <a:ea typeface="Arial"/>
                          <a:cs typeface="Arial"/>
                        </a:rPr>
                        <a:t>Bono de Desarrollo Humano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FFFFF"/>
                      </a:solidFill>
                      <a:prstDash val="solid"/>
                    </a:lnL>
                    <a:lnR w="9525">
                      <a:solidFill>
                        <a:srgbClr val="FFFFFF"/>
                      </a:solidFill>
                      <a:prstDash val="solid"/>
                    </a:lnR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F7F5FA"/>
                    </a:solidFill>
                  </a:tcPr>
                </a:tc>
                <a:tc>
                  <a:txBody>
                    <a:bodyPr wrap="square" lIns="114300" tIns="85725" rIns="114300" bIns="85725">
                      <a:noAutofit/>
                    </a:bodyPr>
                    <a:lstStyle/>
                    <a:p>
                      <a:pPr algn="r"/>
                      <a:r>
                        <a:rPr sz="1575" b="0">
                          <a:solidFill>
                            <a:srgbClr val="20202B"/>
                          </a:solidFill>
                          <a:latin typeface="Arial"/>
                          <a:ea typeface="Arial"/>
                          <a:cs typeface="Arial"/>
                        </a:rPr>
                        <a:t>619.073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FFFFF"/>
                      </a:solidFill>
                      <a:prstDash val="solid"/>
                    </a:lnR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F7F5FA"/>
                    </a:solidFill>
                  </a:tcPr>
                </a:tc>
                <a:tc>
                  <a:txBody>
                    <a:bodyPr wrap="square" lIns="114300" tIns="85725" rIns="114300" bIns="85725">
                      <a:noAutofit/>
                    </a:bodyPr>
                    <a:lstStyle/>
                    <a:p>
                      <a:pPr algn="r"/>
                      <a:r>
                        <a:rPr sz="1575" b="0">
                          <a:solidFill>
                            <a:srgbClr val="20202B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FFFFF"/>
                      </a:solidFill>
                      <a:prstDash val="solid"/>
                    </a:lnR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F7F5FA"/>
                    </a:solidFill>
                  </a:tcPr>
                </a:tc>
                <a:tc>
                  <a:txBody>
                    <a:bodyPr wrap="square" lIns="114300" tIns="85725" rIns="114300" bIns="85725">
                      <a:noAutofit/>
                    </a:bodyPr>
                    <a:lstStyle/>
                    <a:p>
                      <a:pPr algn="r"/>
                      <a:r>
                        <a:rPr sz="1575" b="0">
                          <a:solidFill>
                            <a:srgbClr val="20202B"/>
                          </a:solidFill>
                          <a:latin typeface="Arial"/>
                          <a:ea typeface="Arial"/>
                          <a:cs typeface="Arial"/>
                        </a:rPr>
                        <a:t>270,24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FFFFF"/>
                      </a:solidFill>
                      <a:prstDash val="solid"/>
                    </a:lnR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F7F5FA"/>
                    </a:solidFill>
                  </a:tcPr>
                </a:tc>
                <a:tc>
                  <a:txBody>
                    <a:bodyPr wrap="square" lIns="114300" tIns="85725" rIns="114300" bIns="85725">
                      <a:noAutofit/>
                    </a:bodyPr>
                    <a:lstStyle/>
                    <a:p>
                      <a:pPr algn="r"/>
                      <a:r>
                        <a:rPr sz="1575" b="0">
                          <a:solidFill>
                            <a:srgbClr val="20202B"/>
                          </a:solidFill>
                          <a:latin typeface="Arial"/>
                          <a:ea typeface="Arial"/>
                          <a:cs typeface="Arial"/>
                        </a:rPr>
                        <a:t>1.072,51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FFFFF"/>
                      </a:solidFill>
                      <a:prstDash val="solid"/>
                    </a:lnR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F7F5FA"/>
                    </a:solidFill>
                  </a:tcPr>
                </a:tc>
              </a:tr>
              <a:tr h="600075">
                <a:tc>
                  <a:txBody>
                    <a:bodyPr wrap="square" lIns="114300" tIns="85725" rIns="114300" bIns="85725">
                      <a:noAutofit/>
                    </a:bodyPr>
                    <a:lstStyle/>
                    <a:p>
                      <a:pPr algn="l"/>
                      <a:r>
                        <a:rPr sz="1575" b="0">
                          <a:solidFill>
                            <a:srgbClr val="20202B"/>
                          </a:solidFill>
                          <a:latin typeface="Arial"/>
                          <a:ea typeface="Arial"/>
                          <a:cs typeface="Arial"/>
                        </a:rPr>
                        <a:t>Bono de Desarrollo Humano Variable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FFFFF"/>
                      </a:solidFill>
                      <a:prstDash val="solid"/>
                    </a:lnL>
                    <a:lnR w="9525">
                      <a:solidFill>
                        <a:srgbClr val="FFFFFF"/>
                      </a:solidFill>
                      <a:prstDash val="solid"/>
                    </a:lnR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114300" tIns="85725" rIns="114300" bIns="85725">
                      <a:noAutofit/>
                    </a:bodyPr>
                    <a:lstStyle/>
                    <a:p>
                      <a:pPr algn="r"/>
                      <a:r>
                        <a:rPr sz="1575" b="0">
                          <a:solidFill>
                            <a:srgbClr val="20202B"/>
                          </a:solidFill>
                          <a:latin typeface="Arial"/>
                          <a:ea typeface="Arial"/>
                          <a:cs typeface="Arial"/>
                        </a:rPr>
                        <a:t>367.289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FFFFF"/>
                      </a:solidFill>
                      <a:prstDash val="solid"/>
                    </a:lnR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114300" tIns="85725" rIns="114300" bIns="85725">
                      <a:noAutofit/>
                    </a:bodyPr>
                    <a:lstStyle/>
                    <a:p>
                      <a:pPr algn="r"/>
                      <a:r>
                        <a:rPr sz="1575" b="0">
                          <a:solidFill>
                            <a:srgbClr val="20202B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FFFFF"/>
                      </a:solidFill>
                      <a:prstDash val="solid"/>
                    </a:lnR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114300" tIns="85725" rIns="114300" bIns="85725">
                      <a:noAutofit/>
                    </a:bodyPr>
                    <a:lstStyle/>
                    <a:p>
                      <a:pPr algn="r"/>
                      <a:r>
                        <a:rPr sz="1575" b="0">
                          <a:solidFill>
                            <a:srgbClr val="20202B"/>
                          </a:solidFill>
                          <a:latin typeface="Arial"/>
                          <a:ea typeface="Arial"/>
                          <a:cs typeface="Arial"/>
                        </a:rPr>
                        <a:t>226,00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FFFFF"/>
                      </a:solidFill>
                      <a:prstDash val="solid"/>
                    </a:lnR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114300" tIns="85725" rIns="114300" bIns="85725">
                      <a:noAutofit/>
                    </a:bodyPr>
                    <a:lstStyle/>
                    <a:p>
                      <a:pPr algn="r"/>
                      <a:r>
                        <a:rPr sz="1575" b="0">
                          <a:solidFill>
                            <a:srgbClr val="20202B"/>
                          </a:solidFill>
                          <a:latin typeface="Arial"/>
                          <a:ea typeface="Arial"/>
                          <a:cs typeface="Arial"/>
                        </a:rPr>
                        <a:t>805,61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FFFFF"/>
                      </a:solidFill>
                      <a:prstDash val="solid"/>
                    </a:lnR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0075">
                <a:tc>
                  <a:txBody>
                    <a:bodyPr wrap="square" lIns="114300" tIns="85725" rIns="114300" bIns="85725">
                      <a:noAutofit/>
                    </a:bodyPr>
                    <a:lstStyle/>
                    <a:p>
                      <a:pPr algn="l"/>
                      <a:r>
                        <a:rPr sz="1575" b="0">
                          <a:solidFill>
                            <a:srgbClr val="20202B"/>
                          </a:solidFill>
                          <a:latin typeface="Arial"/>
                          <a:ea typeface="Arial"/>
                          <a:cs typeface="Arial"/>
                        </a:rPr>
                        <a:t>Pensión Mis Mejores Años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FFFFF"/>
                      </a:solidFill>
                      <a:prstDash val="solid"/>
                    </a:lnL>
                    <a:lnR w="9525">
                      <a:solidFill>
                        <a:srgbClr val="FFFFFF"/>
                      </a:solidFill>
                      <a:prstDash val="solid"/>
                    </a:lnR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F7F5FA"/>
                    </a:solidFill>
                  </a:tcPr>
                </a:tc>
                <a:tc>
                  <a:txBody>
                    <a:bodyPr wrap="square" lIns="114300" tIns="85725" rIns="114300" bIns="85725">
                      <a:noAutofit/>
                    </a:bodyPr>
                    <a:lstStyle/>
                    <a:p>
                      <a:pPr algn="r"/>
                      <a:r>
                        <a:rPr sz="1575" b="0">
                          <a:solidFill>
                            <a:srgbClr val="20202B"/>
                          </a:solidFill>
                          <a:latin typeface="Arial"/>
                          <a:ea typeface="Arial"/>
                          <a:cs typeface="Arial"/>
                        </a:rPr>
                        <a:t>303.845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FFFFF"/>
                      </a:solidFill>
                      <a:prstDash val="solid"/>
                    </a:lnR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F7F5FA"/>
                    </a:solidFill>
                  </a:tcPr>
                </a:tc>
                <a:tc>
                  <a:txBody>
                    <a:bodyPr wrap="square" lIns="114300" tIns="85725" rIns="114300" bIns="85725">
                      <a:noAutofit/>
                    </a:bodyPr>
                    <a:lstStyle/>
                    <a:p>
                      <a:pPr algn="r"/>
                      <a:r>
                        <a:rPr sz="1575" b="0">
                          <a:solidFill>
                            <a:srgbClr val="20202B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FFFFF"/>
                      </a:solidFill>
                      <a:prstDash val="solid"/>
                    </a:lnR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F7F5FA"/>
                    </a:solidFill>
                  </a:tcPr>
                </a:tc>
                <a:tc>
                  <a:txBody>
                    <a:bodyPr wrap="square" lIns="114300" tIns="85725" rIns="114300" bIns="85725">
                      <a:noAutofit/>
                    </a:bodyPr>
                    <a:lstStyle/>
                    <a:p>
                      <a:pPr algn="r"/>
                      <a:r>
                        <a:rPr sz="1575" b="0">
                          <a:solidFill>
                            <a:srgbClr val="20202B"/>
                          </a:solidFill>
                          <a:latin typeface="Arial"/>
                          <a:ea typeface="Arial"/>
                          <a:cs typeface="Arial"/>
                        </a:rPr>
                        <a:t>259,22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FFFFF"/>
                      </a:solidFill>
                      <a:prstDash val="solid"/>
                    </a:lnR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F7F5FA"/>
                    </a:solidFill>
                  </a:tcPr>
                </a:tc>
                <a:tc>
                  <a:txBody>
                    <a:bodyPr wrap="square" lIns="114300" tIns="85725" rIns="114300" bIns="85725">
                      <a:noAutofit/>
                    </a:bodyPr>
                    <a:lstStyle/>
                    <a:p>
                      <a:pPr algn="r"/>
                      <a:r>
                        <a:rPr sz="1575" b="0">
                          <a:solidFill>
                            <a:srgbClr val="20202B"/>
                          </a:solidFill>
                          <a:latin typeface="Arial"/>
                          <a:ea typeface="Arial"/>
                          <a:cs typeface="Arial"/>
                        </a:rPr>
                        <a:t>988,53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FFFFF"/>
                      </a:solidFill>
                      <a:prstDash val="solid"/>
                    </a:lnR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F7F5FA"/>
                    </a:solidFill>
                  </a:tcPr>
                </a:tc>
              </a:tr>
              <a:tr h="600075">
                <a:tc>
                  <a:txBody>
                    <a:bodyPr wrap="square" lIns="114300" tIns="85725" rIns="114300" bIns="85725">
                      <a:noAutofit/>
                    </a:bodyPr>
                    <a:lstStyle/>
                    <a:p>
                      <a:pPr algn="l"/>
                      <a:r>
                        <a:rPr sz="1575" b="0">
                          <a:solidFill>
                            <a:srgbClr val="20202B"/>
                          </a:solidFill>
                          <a:latin typeface="Arial"/>
                          <a:ea typeface="Arial"/>
                          <a:cs typeface="Arial"/>
                        </a:rPr>
                        <a:t>Bono 1.000 Días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FFFFF"/>
                      </a:solidFill>
                      <a:prstDash val="solid"/>
                    </a:lnL>
                    <a:lnR w="9525">
                      <a:solidFill>
                        <a:srgbClr val="FFFFFF"/>
                      </a:solidFill>
                      <a:prstDash val="solid"/>
                    </a:lnR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114300" tIns="85725" rIns="114300" bIns="85725">
                      <a:noAutofit/>
                    </a:bodyPr>
                    <a:lstStyle/>
                    <a:p>
                      <a:pPr algn="r"/>
                      <a:r>
                        <a:rPr sz="1575" b="0">
                          <a:solidFill>
                            <a:srgbClr val="20202B"/>
                          </a:solidFill>
                          <a:latin typeface="Arial"/>
                          <a:ea typeface="Arial"/>
                          <a:cs typeface="Arial"/>
                        </a:rPr>
                        <a:t>164.983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FFFFF"/>
                      </a:solidFill>
                      <a:prstDash val="solid"/>
                    </a:lnR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114300" tIns="85725" rIns="114300" bIns="85725">
                      <a:noAutofit/>
                    </a:bodyPr>
                    <a:lstStyle/>
                    <a:p>
                      <a:pPr algn="r"/>
                      <a:r>
                        <a:rPr sz="1575" b="0">
                          <a:solidFill>
                            <a:srgbClr val="20202B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FFFFF"/>
                      </a:solidFill>
                      <a:prstDash val="solid"/>
                    </a:lnR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114300" tIns="85725" rIns="114300" bIns="85725">
                      <a:noAutofit/>
                    </a:bodyPr>
                    <a:lstStyle/>
                    <a:p>
                      <a:pPr algn="r"/>
                      <a:r>
                        <a:rPr sz="1575" b="0">
                          <a:solidFill>
                            <a:srgbClr val="20202B"/>
                          </a:solidFill>
                          <a:latin typeface="Arial"/>
                          <a:ea typeface="Arial"/>
                          <a:cs typeface="Arial"/>
                        </a:rPr>
                        <a:t>84,69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FFFFF"/>
                      </a:solidFill>
                      <a:prstDash val="solid"/>
                    </a:lnR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114300" tIns="85725" rIns="114300" bIns="85725">
                      <a:noAutofit/>
                    </a:bodyPr>
                    <a:lstStyle/>
                    <a:p>
                      <a:pPr algn="r"/>
                      <a:r>
                        <a:rPr sz="1575" b="0">
                          <a:solidFill>
                            <a:srgbClr val="20202B"/>
                          </a:solidFill>
                          <a:latin typeface="Arial"/>
                          <a:ea typeface="Arial"/>
                          <a:cs typeface="Arial"/>
                        </a:rPr>
                        <a:t>263,81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FFFFF"/>
                      </a:solidFill>
                      <a:prstDash val="solid"/>
                    </a:lnR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detail-note">
            <a:extLst xmlns:a="http://schemas.openxmlformats.org/drawingml/2006/main">
              <a:ext uri="{FF2B5EF4-FFF2-40B4-BE49-F238E27FC236}">
                <a16:creationId xmlns:a16="http://schemas.microsoft.com/office/drawing/2014/main" id="{5269671E-030F-45B7-BC34-0EA8781F6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67425"/>
            <a:ext cx="10820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777080"/>
                </a:solidFill>
                <a:latin typeface="Arial"/>
                <a:ea typeface="Arial"/>
                <a:cs typeface="Arial"/>
              </a:rPr>
              <a:t>Fiscal y gobierno son acumulados superpuestos. No se suman entre sí. N/D: no disponible o no aplica.</a:t>
            </a:r>
          </a:p>
        </p:txBody>
      </p:sp>
    </p:spTree>
    <p:extLst>
      <p:ext uri="{BB962C8B-B14F-4D97-AF65-F5344CB8AC3E}">
        <p14:creationId xmlns:p14="http://schemas.microsoft.com/office/powerpoint/2010/main" val="175328494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eyebrow">
            <a:extLst xmlns:a="http://schemas.openxmlformats.org/drawingml/2006/main">
              <a:ext uri="{FF2B5EF4-FFF2-40B4-BE49-F238E27FC236}">
                <a16:creationId xmlns:a16="http://schemas.microsoft.com/office/drawing/2014/main" id="{14C4B25C-7D63-41AD-B694-D179F3CDC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6858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3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defPPr>
            <a:lvl1pPr>
              <a:defRPr sz="13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lvl1pPr>
            <a:lvl2pPr>
              <a:defRPr sz="13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lvl2pPr>
            <a:lvl3pPr>
              <a:defRPr sz="13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lvl3pPr>
            <a:lvl4pPr>
              <a:defRPr sz="13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lvl4pPr>
            <a:lvl5pPr>
              <a:defRPr sz="13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lvl5pPr>
            <a:lvl6pPr>
              <a:defRPr sz="13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lvl6pPr>
            <a:lvl7pPr>
              <a:defRPr sz="13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lvl7pPr>
            <a:lvl8pPr>
              <a:defRPr sz="13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lvl8pPr>
            <a:lvl9pPr>
              <a:defRPr sz="13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512F8D"/>
                </a:solidFill>
                <a:latin typeface="Arial"/>
                <a:ea typeface="Arial"/>
                <a:cs typeface="Arial"/>
              </a:rPr>
              <a:t>Septiembre 2026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20E9AFB8-D7C6-4EC1-858A-30CA8C5A2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90575"/>
            <a:ext cx="108204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20202B"/>
                </a:solidFill>
                <a:latin typeface="Arial"/>
                <a:ea typeface="Arial"/>
                <a:cs typeface="Arial"/>
              </a:defRPr>
            </a:defPPr>
            <a:lvl1pPr>
              <a:defRPr sz="3300" b="1">
                <a:solidFill>
                  <a:srgbClr val="20202B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20202B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20202B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20202B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20202B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20202B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20202B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20202B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2020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20202B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20202B"/>
                </a:solidFill>
                <a:latin typeface="Arial"/>
                <a:ea typeface="Arial"/>
                <a:cs typeface="Arial"/>
              </a:rPr>
              <a:t>Detalle de bonos y pensiones   2 de 2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89EB817F-669A-4DEB-95C1-F699E469B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1009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defPPr>
            <a:lvl1pPr>
              <a:defRPr sz="9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1pPr>
            <a:lvl2pPr>
              <a:defRPr sz="9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2pPr>
            <a:lvl3pPr>
              <a:defRPr sz="9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3pPr>
            <a:lvl4pPr>
              <a:defRPr sz="9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4pPr>
            <a:lvl5pPr>
              <a:defRPr sz="9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5pPr>
            <a:lvl6pPr>
              <a:defRPr sz="9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6pPr>
            <a:lvl7pPr>
              <a:defRPr sz="9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7pPr>
            <a:lvl8pPr>
              <a:defRPr sz="9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8pPr>
            <a:lvl9pPr>
              <a:defRPr sz="9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9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777080"/>
                </a:solidFill>
                <a:latin typeface="Arial"/>
                <a:ea typeface="Arial"/>
                <a:cs typeface="Arial"/>
              </a:rPr>
              <a:t>MTDH   Septiembre 2026   Nacional - 24 provincias y zona en estudio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4EA3899E-11CC-47B3-9E6C-4C04A7F90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5795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defPPr>
            <a:lvl1pPr>
              <a:defRPr sz="9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1pPr>
            <a:lvl2pPr>
              <a:defRPr sz="9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2pPr>
            <a:lvl3pPr>
              <a:defRPr sz="9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3pPr>
            <a:lvl4pPr>
              <a:defRPr sz="9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4pPr>
            <a:lvl5pPr>
              <a:defRPr sz="9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5pPr>
            <a:lvl6pPr>
              <a:defRPr sz="9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6pPr>
            <a:lvl7pPr>
              <a:defRPr sz="9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7pPr>
            <a:lvl8pPr>
              <a:defRPr sz="9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8pPr>
            <a:lvl9pPr>
              <a:defRPr sz="9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9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777080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5" name="detail-subtitle">
            <a:extLst xmlns:a="http://schemas.openxmlformats.org/drawingml/2006/main">
              <a:ext uri="{FF2B5EF4-FFF2-40B4-BE49-F238E27FC236}">
                <a16:creationId xmlns:a16="http://schemas.microsoft.com/office/drawing/2014/main" id="{CF86538F-5060-4739-A741-165431603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47825"/>
            <a:ext cx="10763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72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777080"/>
                </a:solidFill>
                <a:latin typeface="Arial"/>
                <a:ea typeface="Arial"/>
                <a:cs typeface="Arial"/>
              </a:rPr>
              <a:t>Presupuesto ejecutado: N/D</a:t>
            </a:r>
          </a:p>
        </p:txBody>
      </p:sp>
      <p:graphicFrame>
        <p:nvGraphicFrame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5E76688-058E-4123-8648-46B2C6BB3D9F}"/>
              </a:ext>
            </a:extLst>
          </p:cNvPr>
          <p:cNvGraphicFramePr/>
          <p:nvPr/>
        </p:nvGraphicFramePr>
        <p:xfrm>
          <a:off xmlns:a="http://schemas.openxmlformats.org/drawingml/2006/main" x="685800" y="2114550"/>
          <a:ext xmlns:a="http://schemas.openxmlformats.org/drawingml/2006/main" cx="10820400" cy="34575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191000"/>
                <a:gridCol w="1657350"/>
                <a:gridCol w="1295400"/>
                <a:gridCol w="1838325"/>
                <a:gridCol w="1838325"/>
              </a:tblGrid>
              <a:tr h="552450">
                <a:tc>
                  <a:txBody>
                    <a:bodyPr wrap="square" lIns="114300" tIns="85725" rIns="114300" bIns="85725">
                      <a:noAutofit/>
                    </a:bodyPr>
                    <a:lstStyle/>
                    <a:p>
                      <a:pPr algn="l"/>
                      <a:r>
                        <a:rPr sz="15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Programa o servicio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FFFFF"/>
                      </a:solidFill>
                      <a:prstDash val="solid"/>
                    </a:lnL>
                    <a:lnR w="9525">
                      <a:solidFill>
                        <a:srgbClr val="FFFFFF"/>
                      </a:solidFill>
                      <a:prstDash val="solid"/>
                    </a:lnR>
                    <a:lnT w="9525">
                      <a:solidFill>
                        <a:srgbClr val="FFFFFF"/>
                      </a:solidFill>
                      <a:prstDash val="solid"/>
                    </a:lnT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512F8D"/>
                    </a:solidFill>
                  </a:tcPr>
                </a:tc>
                <a:tc>
                  <a:txBody>
                    <a:bodyPr wrap="square" lIns="114300" tIns="85725" rIns="114300" bIns="85725">
                      <a:noAutofit/>
                    </a:bodyPr>
                    <a:lstStyle/>
                    <a:p>
                      <a:pPr algn="r"/>
                      <a:r>
                        <a:rPr sz="15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Beneficiarios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FFFFF"/>
                      </a:solidFill>
                      <a:prstDash val="solid"/>
                    </a:lnR>
                    <a:lnT w="9525">
                      <a:solidFill>
                        <a:srgbClr val="FFFFFF"/>
                      </a:solidFill>
                      <a:prstDash val="solid"/>
                    </a:lnT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512F8D"/>
                    </a:solidFill>
                  </a:tcPr>
                </a:tc>
                <a:tc>
                  <a:txBody>
                    <a:bodyPr wrap="square" lIns="114300" tIns="85725" rIns="114300" bIns="85725">
                      <a:noAutofit/>
                    </a:bodyPr>
                    <a:lstStyle/>
                    <a:p>
                      <a:pPr algn="r"/>
                      <a:r>
                        <a:rPr sz="15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Unidades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FFFFF"/>
                      </a:solidFill>
                      <a:prstDash val="solid"/>
                    </a:lnR>
                    <a:lnT w="9525">
                      <a:solidFill>
                        <a:srgbClr val="FFFFFF"/>
                      </a:solidFill>
                      <a:prstDash val="solid"/>
                    </a:lnT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512F8D"/>
                    </a:solidFill>
                  </a:tcPr>
                </a:tc>
                <a:tc>
                  <a:txBody>
                    <a:bodyPr wrap="square" lIns="114300" tIns="85725" rIns="114300" bIns="85725">
                      <a:noAutofit/>
                    </a:bodyPr>
                    <a:lstStyle/>
                    <a:p>
                      <a:pPr algn="r"/>
                      <a:r>
                        <a:rPr sz="15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Fiscal 2026</a:t>
                      </a:r>
                    </a:p>
                    <a:p>
                      <a:pPr algn="r"/>
                      <a:r>
                        <a:rPr sz="15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USD millones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FFFFF"/>
                      </a:solidFill>
                      <a:prstDash val="solid"/>
                    </a:lnR>
                    <a:lnT w="9525">
                      <a:solidFill>
                        <a:srgbClr val="FFFFFF"/>
                      </a:solidFill>
                      <a:prstDash val="solid"/>
                    </a:lnT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512F8D"/>
                    </a:solidFill>
                  </a:tcPr>
                </a:tc>
                <a:tc>
                  <a:txBody>
                    <a:bodyPr wrap="square" lIns="114300" tIns="85725" rIns="114300" bIns="85725">
                      <a:noAutofit/>
                    </a:bodyPr>
                    <a:lstStyle/>
                    <a:p>
                      <a:pPr algn="r"/>
                      <a:r>
                        <a:rPr sz="15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Gobierno</a:t>
                      </a:r>
                    </a:p>
                    <a:p>
                      <a:pPr algn="r"/>
                      <a:r>
                        <a:rPr sz="15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USD millones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FFFFF"/>
                      </a:solidFill>
                      <a:prstDash val="solid"/>
                    </a:lnR>
                    <a:lnT w="9525">
                      <a:solidFill>
                        <a:srgbClr val="FFFFFF"/>
                      </a:solidFill>
                      <a:prstDash val="solid"/>
                    </a:lnT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512F8D"/>
                    </a:solidFill>
                  </a:tcPr>
                </a:tc>
              </a:tr>
              <a:tr h="600075">
                <a:tc>
                  <a:txBody>
                    <a:bodyPr wrap="square" lIns="114300" tIns="85725" rIns="114300" bIns="85725">
                      <a:noAutofit/>
                    </a:bodyPr>
                    <a:lstStyle/>
                    <a:p>
                      <a:pPr algn="l"/>
                      <a:r>
                        <a:rPr sz="1575" b="0">
                          <a:solidFill>
                            <a:srgbClr val="20202B"/>
                          </a:solidFill>
                          <a:latin typeface="Arial"/>
                          <a:ea typeface="Arial"/>
                          <a:cs typeface="Arial"/>
                        </a:rPr>
                        <a:t>Pensión Toda Una Vida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FFFFF"/>
                      </a:solidFill>
                      <a:prstDash val="solid"/>
                    </a:lnL>
                    <a:lnR w="9525">
                      <a:solidFill>
                        <a:srgbClr val="FFFFFF"/>
                      </a:solidFill>
                      <a:prstDash val="solid"/>
                    </a:lnR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F7F5FA"/>
                    </a:solidFill>
                  </a:tcPr>
                </a:tc>
                <a:tc>
                  <a:txBody>
                    <a:bodyPr wrap="square" lIns="114300" tIns="85725" rIns="114300" bIns="85725">
                      <a:noAutofit/>
                    </a:bodyPr>
                    <a:lstStyle/>
                    <a:p>
                      <a:pPr algn="r"/>
                      <a:r>
                        <a:rPr sz="1575" b="0">
                          <a:solidFill>
                            <a:srgbClr val="20202B"/>
                          </a:solidFill>
                          <a:latin typeface="Arial"/>
                          <a:ea typeface="Arial"/>
                          <a:cs typeface="Arial"/>
                        </a:rPr>
                        <a:t>72.700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FFFFF"/>
                      </a:solidFill>
                      <a:prstDash val="solid"/>
                    </a:lnR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F7F5FA"/>
                    </a:solidFill>
                  </a:tcPr>
                </a:tc>
                <a:tc>
                  <a:txBody>
                    <a:bodyPr wrap="square" lIns="114300" tIns="85725" rIns="114300" bIns="85725">
                      <a:noAutofit/>
                    </a:bodyPr>
                    <a:lstStyle/>
                    <a:p>
                      <a:pPr algn="r"/>
                      <a:r>
                        <a:rPr sz="1575" b="0">
                          <a:solidFill>
                            <a:srgbClr val="20202B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FFFFF"/>
                      </a:solidFill>
                      <a:prstDash val="solid"/>
                    </a:lnR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F7F5FA"/>
                    </a:solidFill>
                  </a:tcPr>
                </a:tc>
                <a:tc>
                  <a:txBody>
                    <a:bodyPr wrap="square" lIns="114300" tIns="85725" rIns="114300" bIns="85725">
                      <a:noAutofit/>
                    </a:bodyPr>
                    <a:lstStyle/>
                    <a:p>
                      <a:pPr algn="r"/>
                      <a:r>
                        <a:rPr sz="1575" b="0">
                          <a:solidFill>
                            <a:srgbClr val="20202B"/>
                          </a:solidFill>
                          <a:latin typeface="Arial"/>
                          <a:ea typeface="Arial"/>
                          <a:cs typeface="Arial"/>
                        </a:rPr>
                        <a:t>64,08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FFFFF"/>
                      </a:solidFill>
                      <a:prstDash val="solid"/>
                    </a:lnR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F7F5FA"/>
                    </a:solidFill>
                  </a:tcPr>
                </a:tc>
                <a:tc>
                  <a:txBody>
                    <a:bodyPr wrap="square" lIns="114300" tIns="85725" rIns="114300" bIns="85725">
                      <a:noAutofit/>
                    </a:bodyPr>
                    <a:lstStyle/>
                    <a:p>
                      <a:pPr algn="r"/>
                      <a:r>
                        <a:rPr sz="1575" b="0">
                          <a:solidFill>
                            <a:srgbClr val="20202B"/>
                          </a:solidFill>
                          <a:latin typeface="Arial"/>
                          <a:ea typeface="Arial"/>
                          <a:cs typeface="Arial"/>
                        </a:rPr>
                        <a:t>247,69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FFFFF"/>
                      </a:solidFill>
                      <a:prstDash val="solid"/>
                    </a:lnR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F7F5FA"/>
                    </a:solidFill>
                  </a:tcPr>
                </a:tc>
              </a:tr>
              <a:tr h="600075">
                <a:tc>
                  <a:txBody>
                    <a:bodyPr wrap="square" lIns="114300" tIns="85725" rIns="114300" bIns="85725">
                      <a:noAutofit/>
                    </a:bodyPr>
                    <a:lstStyle/>
                    <a:p>
                      <a:pPr algn="l"/>
                      <a:r>
                        <a:rPr sz="1575" b="0">
                          <a:solidFill>
                            <a:srgbClr val="20202B"/>
                          </a:solidFill>
                          <a:latin typeface="Arial"/>
                          <a:ea typeface="Arial"/>
                          <a:cs typeface="Arial"/>
                        </a:rPr>
                        <a:t>Bono Joaquín Gallegos Lara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FFFFF"/>
                      </a:solidFill>
                      <a:prstDash val="solid"/>
                    </a:lnL>
                    <a:lnR w="9525">
                      <a:solidFill>
                        <a:srgbClr val="FFFFFF"/>
                      </a:solidFill>
                      <a:prstDash val="solid"/>
                    </a:lnR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114300" tIns="85725" rIns="114300" bIns="85725">
                      <a:noAutofit/>
                    </a:bodyPr>
                    <a:lstStyle/>
                    <a:p>
                      <a:pPr algn="r"/>
                      <a:r>
                        <a:rPr sz="1575" b="0">
                          <a:solidFill>
                            <a:srgbClr val="20202B"/>
                          </a:solidFill>
                          <a:latin typeface="Arial"/>
                          <a:ea typeface="Arial"/>
                          <a:cs typeface="Arial"/>
                        </a:rPr>
                        <a:t>50.129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FFFFF"/>
                      </a:solidFill>
                      <a:prstDash val="solid"/>
                    </a:lnR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114300" tIns="85725" rIns="114300" bIns="85725">
                      <a:noAutofit/>
                    </a:bodyPr>
                    <a:lstStyle/>
                    <a:p>
                      <a:pPr algn="r"/>
                      <a:r>
                        <a:rPr sz="1575" b="0">
                          <a:solidFill>
                            <a:srgbClr val="20202B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FFFFF"/>
                      </a:solidFill>
                      <a:prstDash val="solid"/>
                    </a:lnR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114300" tIns="85725" rIns="114300" bIns="85725">
                      <a:noAutofit/>
                    </a:bodyPr>
                    <a:lstStyle/>
                    <a:p>
                      <a:pPr algn="r"/>
                      <a:r>
                        <a:rPr sz="1575" b="0">
                          <a:solidFill>
                            <a:srgbClr val="20202B"/>
                          </a:solidFill>
                          <a:latin typeface="Arial"/>
                          <a:ea typeface="Arial"/>
                          <a:cs typeface="Arial"/>
                        </a:rPr>
                        <a:t>107,03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FFFFF"/>
                      </a:solidFill>
                      <a:prstDash val="solid"/>
                    </a:lnR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114300" tIns="85725" rIns="114300" bIns="85725">
                      <a:noAutofit/>
                    </a:bodyPr>
                    <a:lstStyle/>
                    <a:p>
                      <a:pPr algn="r"/>
                      <a:r>
                        <a:rPr sz="1575" b="0">
                          <a:solidFill>
                            <a:srgbClr val="20202B"/>
                          </a:solidFill>
                          <a:latin typeface="Arial"/>
                          <a:ea typeface="Arial"/>
                          <a:cs typeface="Arial"/>
                        </a:rPr>
                        <a:t>380,56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FFFFF"/>
                      </a:solidFill>
                      <a:prstDash val="solid"/>
                    </a:lnR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0075">
                <a:tc>
                  <a:txBody>
                    <a:bodyPr wrap="square" lIns="114300" tIns="85725" rIns="114300" bIns="85725">
                      <a:noAutofit/>
                    </a:bodyPr>
                    <a:lstStyle/>
                    <a:p>
                      <a:pPr algn="l"/>
                      <a:r>
                        <a:rPr sz="1575" b="0">
                          <a:solidFill>
                            <a:srgbClr val="20202B"/>
                          </a:solidFill>
                          <a:latin typeface="Arial"/>
                          <a:ea typeface="Arial"/>
                          <a:cs typeface="Arial"/>
                        </a:rPr>
                        <a:t>Pensión para Adultos Mayores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FFFFF"/>
                      </a:solidFill>
                      <a:prstDash val="solid"/>
                    </a:lnL>
                    <a:lnR w="9525">
                      <a:solidFill>
                        <a:srgbClr val="FFFFFF"/>
                      </a:solidFill>
                      <a:prstDash val="solid"/>
                    </a:lnR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F7F5FA"/>
                    </a:solidFill>
                  </a:tcPr>
                </a:tc>
                <a:tc>
                  <a:txBody>
                    <a:bodyPr wrap="square" lIns="114300" tIns="85725" rIns="114300" bIns="85725">
                      <a:noAutofit/>
                    </a:bodyPr>
                    <a:lstStyle/>
                    <a:p>
                      <a:pPr algn="r"/>
                      <a:r>
                        <a:rPr sz="1575" b="0">
                          <a:solidFill>
                            <a:srgbClr val="20202B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FFFFF"/>
                      </a:solidFill>
                      <a:prstDash val="solid"/>
                    </a:lnR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F7F5FA"/>
                    </a:solidFill>
                  </a:tcPr>
                </a:tc>
                <a:tc>
                  <a:txBody>
                    <a:bodyPr wrap="square" lIns="114300" tIns="85725" rIns="114300" bIns="85725">
                      <a:noAutofit/>
                    </a:bodyPr>
                    <a:lstStyle/>
                    <a:p>
                      <a:pPr algn="r"/>
                      <a:r>
                        <a:rPr sz="1575" b="0">
                          <a:solidFill>
                            <a:srgbClr val="20202B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FFFFF"/>
                      </a:solidFill>
                      <a:prstDash val="solid"/>
                    </a:lnR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F7F5FA"/>
                    </a:solidFill>
                  </a:tcPr>
                </a:tc>
                <a:tc>
                  <a:txBody>
                    <a:bodyPr wrap="square" lIns="114300" tIns="85725" rIns="114300" bIns="85725">
                      <a:noAutofit/>
                    </a:bodyPr>
                    <a:lstStyle/>
                    <a:p>
                      <a:pPr algn="r"/>
                      <a:r>
                        <a:rPr sz="1575" b="0">
                          <a:solidFill>
                            <a:srgbClr val="20202B"/>
                          </a:solidFill>
                          <a:latin typeface="Arial"/>
                          <a:ea typeface="Arial"/>
                          <a:cs typeface="Arial"/>
                        </a:rPr>
                        <a:t>0,00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FFFFF"/>
                      </a:solidFill>
                      <a:prstDash val="solid"/>
                    </a:lnR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F7F5FA"/>
                    </a:solidFill>
                  </a:tcPr>
                </a:tc>
                <a:tc>
                  <a:txBody>
                    <a:bodyPr wrap="square" lIns="114300" tIns="85725" rIns="114300" bIns="85725">
                      <a:noAutofit/>
                    </a:bodyPr>
                    <a:lstStyle/>
                    <a:p>
                      <a:pPr algn="r"/>
                      <a:r>
                        <a:rPr sz="1575" b="0">
                          <a:solidFill>
                            <a:srgbClr val="20202B"/>
                          </a:solidFill>
                          <a:latin typeface="Arial"/>
                          <a:ea typeface="Arial"/>
                          <a:cs typeface="Arial"/>
                        </a:rPr>
                        <a:t>0,21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FFFFF"/>
                      </a:solidFill>
                      <a:prstDash val="solid"/>
                    </a:lnR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F7F5FA"/>
                    </a:solidFill>
                  </a:tcPr>
                </a:tc>
              </a:tr>
              <a:tr h="600075">
                <a:tc>
                  <a:txBody>
                    <a:bodyPr wrap="square" lIns="114300" tIns="85725" rIns="114300" bIns="85725">
                      <a:noAutofit/>
                    </a:bodyPr>
                    <a:lstStyle/>
                    <a:p>
                      <a:pPr algn="l"/>
                      <a:r>
                        <a:rPr sz="1575" b="0">
                          <a:solidFill>
                            <a:srgbClr val="20202B"/>
                          </a:solidFill>
                          <a:latin typeface="Arial"/>
                          <a:ea typeface="Arial"/>
                          <a:cs typeface="Arial"/>
                        </a:rPr>
                        <a:t>Pensión para Personas con Discapacidad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FFFFF"/>
                      </a:solidFill>
                      <a:prstDash val="solid"/>
                    </a:lnL>
                    <a:lnR w="9525">
                      <a:solidFill>
                        <a:srgbClr val="FFFFFF"/>
                      </a:solidFill>
                      <a:prstDash val="solid"/>
                    </a:lnR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114300" tIns="85725" rIns="114300" bIns="85725">
                      <a:noAutofit/>
                    </a:bodyPr>
                    <a:lstStyle/>
                    <a:p>
                      <a:pPr algn="r"/>
                      <a:r>
                        <a:rPr sz="1575" b="0">
                          <a:solidFill>
                            <a:srgbClr val="20202B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FFFFF"/>
                      </a:solidFill>
                      <a:prstDash val="solid"/>
                    </a:lnR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114300" tIns="85725" rIns="114300" bIns="85725">
                      <a:noAutofit/>
                    </a:bodyPr>
                    <a:lstStyle/>
                    <a:p>
                      <a:pPr algn="r"/>
                      <a:r>
                        <a:rPr sz="1575" b="0">
                          <a:solidFill>
                            <a:srgbClr val="20202B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FFFFF"/>
                      </a:solidFill>
                      <a:prstDash val="solid"/>
                    </a:lnR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114300" tIns="85725" rIns="114300" bIns="85725">
                      <a:noAutofit/>
                    </a:bodyPr>
                    <a:lstStyle/>
                    <a:p>
                      <a:pPr algn="r"/>
                      <a:r>
                        <a:rPr sz="1575" b="0">
                          <a:solidFill>
                            <a:srgbClr val="20202B"/>
                          </a:solidFill>
                          <a:latin typeface="Arial"/>
                          <a:ea typeface="Arial"/>
                          <a:cs typeface="Arial"/>
                        </a:rPr>
                        <a:t>0,00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FFFFF"/>
                      </a:solidFill>
                      <a:prstDash val="solid"/>
                    </a:lnR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114300" tIns="85725" rIns="114300" bIns="85725">
                      <a:noAutofit/>
                    </a:bodyPr>
                    <a:lstStyle/>
                    <a:p>
                      <a:pPr algn="r"/>
                      <a:r>
                        <a:rPr sz="1575" b="0">
                          <a:solidFill>
                            <a:srgbClr val="20202B"/>
                          </a:solidFill>
                          <a:latin typeface="Arial"/>
                          <a:ea typeface="Arial"/>
                          <a:cs typeface="Arial"/>
                        </a:rPr>
                        <a:t>0,07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FFFFF"/>
                      </a:solidFill>
                      <a:prstDash val="solid"/>
                    </a:lnR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04825">
                <a:tc>
                  <a:txBody>
                    <a:bodyPr wrap="square" lIns="114300" tIns="85725" rIns="114300" bIns="85725">
                      <a:noAutofit/>
                    </a:bodyPr>
                    <a:lstStyle/>
                    <a:p>
                      <a:pPr algn="l"/>
                      <a:r>
                        <a:rPr sz="1575" b="1">
                          <a:solidFill>
                            <a:srgbClr val="20202B"/>
                          </a:solidFill>
                          <a:latin typeface="Arial"/>
                          <a:ea typeface="Arial"/>
                          <a:cs typeface="Arial"/>
                        </a:rPr>
                        <a:t>Total de la selección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FFFFF"/>
                      </a:solidFill>
                      <a:prstDash val="solid"/>
                    </a:lnL>
                    <a:lnR w="9525">
                      <a:solidFill>
                        <a:srgbClr val="FFFFFF"/>
                      </a:solidFill>
                      <a:prstDash val="solid"/>
                    </a:lnR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EBE5F3"/>
                    </a:solidFill>
                  </a:tcPr>
                </a:tc>
                <a:tc>
                  <a:txBody>
                    <a:bodyPr wrap="square" lIns="114300" tIns="85725" rIns="114300" bIns="85725">
                      <a:noAutofit/>
                    </a:bodyPr>
                    <a:lstStyle/>
                    <a:p>
                      <a:pPr algn="r"/>
                      <a:r>
                        <a:rPr sz="1575" b="1">
                          <a:solidFill>
                            <a:srgbClr val="20202B"/>
                          </a:solidFill>
                          <a:latin typeface="Arial"/>
                          <a:ea typeface="Arial"/>
                          <a:cs typeface="Arial"/>
                        </a:rPr>
                        <a:t>1.578.019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FFFFF"/>
                      </a:solidFill>
                      <a:prstDash val="solid"/>
                    </a:lnR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EBE5F3"/>
                    </a:solidFill>
                  </a:tcPr>
                </a:tc>
                <a:tc>
                  <a:txBody>
                    <a:bodyPr wrap="square" lIns="114300" tIns="85725" rIns="114300" bIns="85725">
                      <a:noAutofit/>
                    </a:bodyPr>
                    <a:lstStyle/>
                    <a:p>
                      <a:pPr algn="r"/>
                      <a:r>
                        <a:rPr sz="1575" b="1">
                          <a:solidFill>
                            <a:srgbClr val="20202B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FFFFF"/>
                      </a:solidFill>
                      <a:prstDash val="solid"/>
                    </a:lnR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EBE5F3"/>
                    </a:solidFill>
                  </a:tcPr>
                </a:tc>
                <a:tc>
                  <a:txBody>
                    <a:bodyPr wrap="square" lIns="114300" tIns="85725" rIns="114300" bIns="85725">
                      <a:noAutofit/>
                    </a:bodyPr>
                    <a:lstStyle/>
                    <a:p>
                      <a:pPr algn="r"/>
                      <a:r>
                        <a:rPr sz="1575" b="1">
                          <a:solidFill>
                            <a:srgbClr val="20202B"/>
                          </a:solidFill>
                          <a:latin typeface="Arial"/>
                          <a:ea typeface="Arial"/>
                          <a:cs typeface="Arial"/>
                        </a:rPr>
                        <a:t>1.011,25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FFFFF"/>
                      </a:solidFill>
                      <a:prstDash val="solid"/>
                    </a:lnR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EBE5F3"/>
                    </a:solidFill>
                  </a:tcPr>
                </a:tc>
                <a:tc>
                  <a:txBody>
                    <a:bodyPr wrap="square" lIns="114300" tIns="85725" rIns="114300" bIns="85725">
                      <a:noAutofit/>
                    </a:bodyPr>
                    <a:lstStyle/>
                    <a:p>
                      <a:pPr algn="r"/>
                      <a:r>
                        <a:rPr sz="1575" b="1">
                          <a:solidFill>
                            <a:srgbClr val="20202B"/>
                          </a:solidFill>
                          <a:latin typeface="Arial"/>
                          <a:ea typeface="Arial"/>
                          <a:cs typeface="Arial"/>
                        </a:rPr>
                        <a:t>3.758,99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FFFFF"/>
                      </a:solidFill>
                      <a:prstDash val="solid"/>
                    </a:lnR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EBE5F3"/>
                    </a:solidFill>
                  </a:tcPr>
                </a:tc>
              </a:tr>
            </a:tbl>
          </a:graphicData>
        </a:graphic>
      </p:graphicFrame>
      <p:sp>
        <p:nvSpPr>
          <p:cNvPr id="7" name="detail-note">
            <a:extLst xmlns:a="http://schemas.openxmlformats.org/drawingml/2006/main">
              <a:ext uri="{FF2B5EF4-FFF2-40B4-BE49-F238E27FC236}">
                <a16:creationId xmlns:a16="http://schemas.microsoft.com/office/drawing/2014/main" id="{5269671E-030F-45B7-BC34-0EA8781F6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67425"/>
            <a:ext cx="10820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777080"/>
                </a:solidFill>
                <a:latin typeface="Arial"/>
                <a:ea typeface="Arial"/>
                <a:cs typeface="Arial"/>
              </a:rPr>
              <a:t>Fiscal y gobierno son acumulados superpuestos. No se suman entre sí. N/D: no disponible o no aplica.</a:t>
            </a:r>
          </a:p>
        </p:txBody>
      </p:sp>
    </p:spTree>
    <p:extLst>
      <p:ext uri="{BB962C8B-B14F-4D97-AF65-F5344CB8AC3E}">
        <p14:creationId xmlns:p14="http://schemas.microsoft.com/office/powerpoint/2010/main" val="175328494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eyebrow">
            <a:extLst xmlns:a="http://schemas.openxmlformats.org/drawingml/2006/main">
              <a:ext uri="{FF2B5EF4-FFF2-40B4-BE49-F238E27FC236}">
                <a16:creationId xmlns:a16="http://schemas.microsoft.com/office/drawing/2014/main" id="{A2F39FF5-86E4-4158-9343-A95E1D71F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6858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3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defPPr>
            <a:lvl1pPr>
              <a:defRPr sz="13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lvl1pPr>
            <a:lvl2pPr>
              <a:defRPr sz="13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lvl2pPr>
            <a:lvl3pPr>
              <a:defRPr sz="13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lvl3pPr>
            <a:lvl4pPr>
              <a:defRPr sz="13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lvl4pPr>
            <a:lvl5pPr>
              <a:defRPr sz="13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lvl5pPr>
            <a:lvl6pPr>
              <a:defRPr sz="13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lvl6pPr>
            <a:lvl7pPr>
              <a:defRPr sz="13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lvl7pPr>
            <a:lvl8pPr>
              <a:defRPr sz="13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lvl8pPr>
            <a:lvl9pPr>
              <a:defRPr sz="13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512F8D"/>
                </a:solidFill>
                <a:latin typeface="Arial"/>
                <a:ea typeface="Arial"/>
                <a:cs typeface="Arial"/>
              </a:rPr>
              <a:t>Septiembre 2026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3E080AA5-C22D-42AD-B299-AAD89EFA7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90575"/>
            <a:ext cx="108204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20202B"/>
                </a:solidFill>
                <a:latin typeface="Arial"/>
                <a:ea typeface="Arial"/>
                <a:cs typeface="Arial"/>
              </a:defRPr>
            </a:defPPr>
            <a:lvl1pPr>
              <a:defRPr sz="3300" b="1">
                <a:solidFill>
                  <a:srgbClr val="20202B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20202B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20202B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20202B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20202B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20202B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20202B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20202B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2020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20202B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20202B"/>
                </a:solidFill>
                <a:latin typeface="Arial"/>
                <a:ea typeface="Arial"/>
                <a:cs typeface="Arial"/>
              </a:rPr>
              <a:t>Bonos y pensiones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FAAE6F17-2045-42AD-9C3F-2D16D0BC5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1009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defPPr>
            <a:lvl1pPr>
              <a:defRPr sz="9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1pPr>
            <a:lvl2pPr>
              <a:defRPr sz="9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2pPr>
            <a:lvl3pPr>
              <a:defRPr sz="9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3pPr>
            <a:lvl4pPr>
              <a:defRPr sz="9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4pPr>
            <a:lvl5pPr>
              <a:defRPr sz="9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5pPr>
            <a:lvl6pPr>
              <a:defRPr sz="9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6pPr>
            <a:lvl7pPr>
              <a:defRPr sz="9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7pPr>
            <a:lvl8pPr>
              <a:defRPr sz="9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8pPr>
            <a:lvl9pPr>
              <a:defRPr sz="9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9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777080"/>
                </a:solidFill>
                <a:latin typeface="Arial"/>
                <a:ea typeface="Arial"/>
                <a:cs typeface="Arial"/>
              </a:rPr>
              <a:t>MTDH   Septiembre 2026   Nacional - 24 provincias y zona en estudio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A50823AF-44F3-4A56-9FFD-18615B6ED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5795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defPPr>
            <a:lvl1pPr>
              <a:defRPr sz="9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1pPr>
            <a:lvl2pPr>
              <a:defRPr sz="9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2pPr>
            <a:lvl3pPr>
              <a:defRPr sz="9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3pPr>
            <a:lvl4pPr>
              <a:defRPr sz="9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4pPr>
            <a:lvl5pPr>
              <a:defRPr sz="9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5pPr>
            <a:lvl6pPr>
              <a:defRPr sz="9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6pPr>
            <a:lvl7pPr>
              <a:defRPr sz="9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7pPr>
            <a:lvl8pPr>
              <a:defRPr sz="9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8pPr>
            <a:lvl9pPr>
              <a:defRPr sz="9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9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777080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1F6A866-1996-4A9D-ABE8-8D9D454E145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08b10a0efa14e3b"/>
          <a:stretch xmlns:a="http://schemas.openxmlformats.org/drawingml/2006/main"/>
        </p:blipFill>
        <p:spPr>
          <a:xfrm xmlns:a="http://schemas.openxmlformats.org/drawingml/2006/main">
            <a:off x="685800" y="1600200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6" name="chart-subtitle">
            <a:extLst xmlns:a="http://schemas.openxmlformats.org/drawingml/2006/main">
              <a:ext uri="{FF2B5EF4-FFF2-40B4-BE49-F238E27FC236}">
                <a16:creationId xmlns:a16="http://schemas.microsoft.com/office/drawing/2014/main" id="{419D38B1-6BF5-475F-B3A0-D1FCDEBC1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" y="1657350"/>
            <a:ext cx="952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6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512F8D"/>
                </a:solidFill>
                <a:latin typeface="Arial"/>
                <a:ea typeface="Arial"/>
                <a:cs typeface="Arial"/>
              </a:rPr>
              <a:t>Los 8 ámbitos territoriales con mayor cobertura</a:t>
            </a:r>
          </a:p>
        </p:txBody>
      </p:sp>
      <p:graphicFrame>
        <p:nvGraphicFramePr>
          <p:cNvPr id="7" name="Chart">
            <a:extLst xmlns:a="http://schemas.openxmlformats.org/drawingml/2006/main">
              <a:ext uri="{FF2B5EF4-FFF2-40B4-BE49-F238E27FC236}">
                <a16:creationId xmlns:a16="http://schemas.microsoft.com/office/drawing/2014/main" id="{916E42B1-0333-452B-903A-D31420004C67}"/>
              </a:ext>
            </a:extLst>
          </p:cNvPr>
          <p:cNvGraphicFramePr/>
          <p:nvPr/>
        </p:nvGraphicFramePr>
        <p:xfrm>
          <a:off xmlns:a="http://schemas.openxmlformats.org/drawingml/2006/main" x="552450" y="2247900"/>
          <a:ext xmlns:a="http://schemas.openxmlformats.org/drawingml/2006/main" cx="6858000" cy="3524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62a2daff4724717"/>
          </a:graphicData>
        </a:graphic>
      </p:graphicFrame>
      <p:sp>
        <p:nvSpPr>
          <p:cNvPr id="8" name="people">
            <a:extLst xmlns:a="http://schemas.openxmlformats.org/drawingml/2006/main">
              <a:ext uri="{FF2B5EF4-FFF2-40B4-BE49-F238E27FC236}">
                <a16:creationId xmlns:a16="http://schemas.microsoft.com/office/drawing/2014/main" id="{CD4D0C3D-AFF2-478D-BDA0-1BBEF6D7A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266950"/>
            <a:ext cx="333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46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defPPr>
            <a:lvl1pPr>
              <a:defRPr sz="46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lvl1pPr>
            <a:lvl2pPr>
              <a:defRPr sz="46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lvl2pPr>
            <a:lvl3pPr>
              <a:defRPr sz="46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lvl3pPr>
            <a:lvl4pPr>
              <a:defRPr sz="46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lvl4pPr>
            <a:lvl5pPr>
              <a:defRPr sz="46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lvl5pPr>
            <a:lvl6pPr>
              <a:defRPr sz="46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lvl6pPr>
            <a:lvl7pPr>
              <a:defRPr sz="46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lvl7pPr>
            <a:lvl8pPr>
              <a:defRPr sz="46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lvl8pPr>
            <a:lvl9pPr>
              <a:defRPr sz="46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46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pPr>
            <a:r>
              <a:rPr sz="4650" b="1">
                <a:solidFill>
                  <a:srgbClr val="512F8D"/>
                </a:solidFill>
                <a:latin typeface="Arial"/>
                <a:ea typeface="Arial"/>
                <a:cs typeface="Arial"/>
              </a:rPr>
              <a:t>1.578.019</a:t>
            </a:r>
          </a:p>
        </p:txBody>
      </p:sp>
      <p:sp>
        <p:nvSpPr>
          <p:cNvPr id="9" name="people-label">
            <a:extLst xmlns:a="http://schemas.openxmlformats.org/drawingml/2006/main">
              <a:ext uri="{FF2B5EF4-FFF2-40B4-BE49-F238E27FC236}">
                <a16:creationId xmlns:a16="http://schemas.microsoft.com/office/drawing/2014/main" id="{E1CDC408-18C3-430E-B0E3-C7E3892D0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048000"/>
            <a:ext cx="3238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777080"/>
                </a:solidFill>
                <a:latin typeface="Arial"/>
                <a:ea typeface="Arial"/>
                <a:cs typeface="Arial"/>
              </a:rPr>
              <a:t>Beneficiarios reportados</a:t>
            </a:r>
          </a:p>
        </p:txBody>
      </p:sp>
      <p:sp>
        <p:nvSpPr>
          <p:cNvPr id="10" name="fiscal">
            <a:extLst xmlns:a="http://schemas.openxmlformats.org/drawingml/2006/main">
              <a:ext uri="{FF2B5EF4-FFF2-40B4-BE49-F238E27FC236}">
                <a16:creationId xmlns:a16="http://schemas.microsoft.com/office/drawing/2014/main" id="{1445C50D-5EC4-4DB4-896C-8C3309CAD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876675"/>
            <a:ext cx="32385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225" b="1">
                <a:solidFill>
                  <a:srgbClr val="20202B"/>
                </a:solidFill>
                <a:latin typeface="Arial"/>
                <a:ea typeface="Arial"/>
                <a:cs typeface="Arial"/>
              </a:defRPr>
            </a:defPPr>
            <a:lvl1pPr>
              <a:defRPr sz="3225" b="1">
                <a:solidFill>
                  <a:srgbClr val="20202B"/>
                </a:solidFill>
                <a:latin typeface="Arial"/>
                <a:ea typeface="Arial"/>
                <a:cs typeface="Arial"/>
              </a:defRPr>
            </a:lvl1pPr>
            <a:lvl2pPr>
              <a:defRPr sz="3225" b="1">
                <a:solidFill>
                  <a:srgbClr val="20202B"/>
                </a:solidFill>
                <a:latin typeface="Arial"/>
                <a:ea typeface="Arial"/>
                <a:cs typeface="Arial"/>
              </a:defRPr>
            </a:lvl2pPr>
            <a:lvl3pPr>
              <a:defRPr sz="3225" b="1">
                <a:solidFill>
                  <a:srgbClr val="20202B"/>
                </a:solidFill>
                <a:latin typeface="Arial"/>
                <a:ea typeface="Arial"/>
                <a:cs typeface="Arial"/>
              </a:defRPr>
            </a:lvl3pPr>
            <a:lvl4pPr>
              <a:defRPr sz="3225" b="1">
                <a:solidFill>
                  <a:srgbClr val="20202B"/>
                </a:solidFill>
                <a:latin typeface="Arial"/>
                <a:ea typeface="Arial"/>
                <a:cs typeface="Arial"/>
              </a:defRPr>
            </a:lvl4pPr>
            <a:lvl5pPr>
              <a:defRPr sz="3225" b="1">
                <a:solidFill>
                  <a:srgbClr val="20202B"/>
                </a:solidFill>
                <a:latin typeface="Arial"/>
                <a:ea typeface="Arial"/>
                <a:cs typeface="Arial"/>
              </a:defRPr>
            </a:lvl5pPr>
            <a:lvl6pPr>
              <a:defRPr sz="3225" b="1">
                <a:solidFill>
                  <a:srgbClr val="20202B"/>
                </a:solidFill>
                <a:latin typeface="Arial"/>
                <a:ea typeface="Arial"/>
                <a:cs typeface="Arial"/>
              </a:defRPr>
            </a:lvl6pPr>
            <a:lvl7pPr>
              <a:defRPr sz="3225" b="1">
                <a:solidFill>
                  <a:srgbClr val="20202B"/>
                </a:solidFill>
                <a:latin typeface="Arial"/>
                <a:ea typeface="Arial"/>
                <a:cs typeface="Arial"/>
              </a:defRPr>
            </a:lvl7pPr>
            <a:lvl8pPr>
              <a:defRPr sz="3225" b="1">
                <a:solidFill>
                  <a:srgbClr val="20202B"/>
                </a:solidFill>
                <a:latin typeface="Arial"/>
                <a:ea typeface="Arial"/>
                <a:cs typeface="Arial"/>
              </a:defRPr>
            </a:lvl8pPr>
            <a:lvl9pPr>
              <a:defRPr sz="3225" b="1">
                <a:solidFill>
                  <a:srgbClr val="2020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20202B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20202B"/>
                </a:solidFill>
                <a:latin typeface="Arial"/>
                <a:ea typeface="Arial"/>
                <a:cs typeface="Arial"/>
              </a:rPr>
              <a:t>USD 1.011,25</a:t>
            </a:r>
          </a:p>
        </p:txBody>
      </p:sp>
      <p:sp>
        <p:nvSpPr>
          <p:cNvPr id="11" name="fiscal-label">
            <a:extLst xmlns:a="http://schemas.openxmlformats.org/drawingml/2006/main">
              <a:ext uri="{FF2B5EF4-FFF2-40B4-BE49-F238E27FC236}">
                <a16:creationId xmlns:a16="http://schemas.microsoft.com/office/drawing/2014/main" id="{AC386503-1134-4017-98DE-7AA63B198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438650"/>
            <a:ext cx="3238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5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defPPr>
            <a:lvl1pPr>
              <a:defRPr sz="15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1pPr>
            <a:lvl2pPr>
              <a:defRPr sz="15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2pPr>
            <a:lvl3pPr>
              <a:defRPr sz="15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3pPr>
            <a:lvl4pPr>
              <a:defRPr sz="15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4pPr>
            <a:lvl5pPr>
              <a:defRPr sz="15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5pPr>
            <a:lvl6pPr>
              <a:defRPr sz="15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6pPr>
            <a:lvl7pPr>
              <a:defRPr sz="15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7pPr>
            <a:lvl8pPr>
              <a:defRPr sz="15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8pPr>
            <a:lvl9pPr>
              <a:defRPr sz="15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777080"/>
                </a:solidFill>
                <a:latin typeface="Arial"/>
                <a:ea typeface="Arial"/>
                <a:cs typeface="Arial"/>
              </a:rPr>
              <a:t>millones en el acumulado fiscal 2026</a:t>
            </a:r>
          </a:p>
        </p:txBody>
      </p:sp>
      <p:sp>
        <p:nvSpPr>
          <p:cNvPr id="12" name="extra-value">
            <a:extLst xmlns:a="http://schemas.openxmlformats.org/drawingml/2006/main">
              <a:ext uri="{FF2B5EF4-FFF2-40B4-BE49-F238E27FC236}">
                <a16:creationId xmlns:a16="http://schemas.microsoft.com/office/drawing/2014/main" id="{2F36CA4E-C032-43B3-8BB7-AD21BF2E6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5095875"/>
            <a:ext cx="3238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850" b="1">
                <a:solidFill>
                  <a:srgbClr val="20202B"/>
                </a:solidFill>
                <a:latin typeface="Arial"/>
                <a:ea typeface="Arial"/>
                <a:cs typeface="Arial"/>
              </a:defRPr>
            </a:defPPr>
            <a:lvl1pPr>
              <a:defRPr sz="2850" b="1">
                <a:solidFill>
                  <a:srgbClr val="20202B"/>
                </a:solidFill>
                <a:latin typeface="Arial"/>
                <a:ea typeface="Arial"/>
                <a:cs typeface="Arial"/>
              </a:defRPr>
            </a:lvl1pPr>
            <a:lvl2pPr>
              <a:defRPr sz="2850" b="1">
                <a:solidFill>
                  <a:srgbClr val="20202B"/>
                </a:solidFill>
                <a:latin typeface="Arial"/>
                <a:ea typeface="Arial"/>
                <a:cs typeface="Arial"/>
              </a:defRPr>
            </a:lvl2pPr>
            <a:lvl3pPr>
              <a:defRPr sz="2850" b="1">
                <a:solidFill>
                  <a:srgbClr val="20202B"/>
                </a:solidFill>
                <a:latin typeface="Arial"/>
                <a:ea typeface="Arial"/>
                <a:cs typeface="Arial"/>
              </a:defRPr>
            </a:lvl3pPr>
            <a:lvl4pPr>
              <a:defRPr sz="2850" b="1">
                <a:solidFill>
                  <a:srgbClr val="20202B"/>
                </a:solidFill>
                <a:latin typeface="Arial"/>
                <a:ea typeface="Arial"/>
                <a:cs typeface="Arial"/>
              </a:defRPr>
            </a:lvl4pPr>
            <a:lvl5pPr>
              <a:defRPr sz="2850" b="1">
                <a:solidFill>
                  <a:srgbClr val="20202B"/>
                </a:solidFill>
                <a:latin typeface="Arial"/>
                <a:ea typeface="Arial"/>
                <a:cs typeface="Arial"/>
              </a:defRPr>
            </a:lvl5pPr>
            <a:lvl6pPr>
              <a:defRPr sz="2850" b="1">
                <a:solidFill>
                  <a:srgbClr val="20202B"/>
                </a:solidFill>
                <a:latin typeface="Arial"/>
                <a:ea typeface="Arial"/>
                <a:cs typeface="Arial"/>
              </a:defRPr>
            </a:lvl6pPr>
            <a:lvl7pPr>
              <a:defRPr sz="2850" b="1">
                <a:solidFill>
                  <a:srgbClr val="20202B"/>
                </a:solidFill>
                <a:latin typeface="Arial"/>
                <a:ea typeface="Arial"/>
                <a:cs typeface="Arial"/>
              </a:defRPr>
            </a:lvl7pPr>
            <a:lvl8pPr>
              <a:defRPr sz="2850" b="1">
                <a:solidFill>
                  <a:srgbClr val="20202B"/>
                </a:solidFill>
                <a:latin typeface="Arial"/>
                <a:ea typeface="Arial"/>
                <a:cs typeface="Arial"/>
              </a:defRPr>
            </a:lvl8pPr>
            <a:lvl9pPr>
              <a:defRPr sz="2850" b="1">
                <a:solidFill>
                  <a:srgbClr val="2020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850" b="1">
                <a:solidFill>
                  <a:srgbClr val="20202B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20202B"/>
                </a:solidFill>
                <a:latin typeface="Arial"/>
                <a:ea typeface="Arial"/>
                <a:cs typeface="Arial"/>
              </a:rPr>
              <a:t>USD 3.758,99</a:t>
            </a:r>
          </a:p>
        </p:txBody>
      </p:sp>
      <p:sp>
        <p:nvSpPr>
          <p:cNvPr id="13" name="extra-label">
            <a:extLst xmlns:a="http://schemas.openxmlformats.org/drawingml/2006/main">
              <a:ext uri="{FF2B5EF4-FFF2-40B4-BE49-F238E27FC236}">
                <a16:creationId xmlns:a16="http://schemas.microsoft.com/office/drawing/2014/main" id="{00D39701-90F9-451C-897F-269ABB662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5581650"/>
            <a:ext cx="323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500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defPPr>
            <a:lvl1pPr>
              <a:defRPr sz="1500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1pPr>
            <a:lvl2pPr>
              <a:defRPr sz="1500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2pPr>
            <a:lvl3pPr>
              <a:defRPr sz="1500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3pPr>
            <a:lvl4pPr>
              <a:defRPr sz="1500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4pPr>
            <a:lvl5pPr>
              <a:defRPr sz="1500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5pPr>
            <a:lvl6pPr>
              <a:defRPr sz="1500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6pPr>
            <a:lvl7pPr>
              <a:defRPr sz="1500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7pPr>
            <a:lvl8pPr>
              <a:defRPr sz="1500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8pPr>
            <a:lvl9pPr>
              <a:defRPr sz="1500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777080"/>
                </a:solidFill>
                <a:latin typeface="Arial"/>
                <a:ea typeface="Arial"/>
                <a:cs typeface="Arial"/>
              </a:rPr>
              <a:t>millones en el acumulado de gobierno</a:t>
            </a:r>
          </a:p>
        </p:txBody>
      </p:sp>
      <p:sp>
        <p:nvSpPr>
          <p:cNvPr id="14" name="count-note">
            <a:extLst xmlns:a="http://schemas.openxmlformats.org/drawingml/2006/main">
              <a:ext uri="{FF2B5EF4-FFF2-40B4-BE49-F238E27FC236}">
                <a16:creationId xmlns:a16="http://schemas.microsoft.com/office/drawing/2014/main" id="{9FD4FD76-6F72-4B1E-B4E6-FA703ABFD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53125"/>
            <a:ext cx="6953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777080"/>
                </a:solidFill>
                <a:latin typeface="Arial"/>
                <a:ea typeface="Arial"/>
                <a:cs typeface="Arial"/>
              </a:rPr>
              <a:t>El gráfico muestra los ámbitos seleccionados con mayor conteo reportado.</a:t>
            </a:r>
          </a:p>
        </p:txBody>
      </p:sp>
    </p:spTree>
    <p:extLst>
      <p:ext uri="{BB962C8B-B14F-4D97-AF65-F5344CB8AC3E}">
        <p14:creationId xmlns:p14="http://schemas.microsoft.com/office/powerpoint/2010/main" val="183035464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eyebrow">
            <a:extLst xmlns:a="http://schemas.openxmlformats.org/drawingml/2006/main">
              <a:ext uri="{FF2B5EF4-FFF2-40B4-BE49-F238E27FC236}">
                <a16:creationId xmlns:a16="http://schemas.microsoft.com/office/drawing/2014/main" id="{A2F39FF5-86E4-4158-9343-A95E1D71F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6858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3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defPPr>
            <a:lvl1pPr>
              <a:defRPr sz="13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lvl1pPr>
            <a:lvl2pPr>
              <a:defRPr sz="13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lvl2pPr>
            <a:lvl3pPr>
              <a:defRPr sz="13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lvl3pPr>
            <a:lvl4pPr>
              <a:defRPr sz="13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lvl4pPr>
            <a:lvl5pPr>
              <a:defRPr sz="13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lvl5pPr>
            <a:lvl6pPr>
              <a:defRPr sz="13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lvl6pPr>
            <a:lvl7pPr>
              <a:defRPr sz="13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lvl7pPr>
            <a:lvl8pPr>
              <a:defRPr sz="13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lvl8pPr>
            <a:lvl9pPr>
              <a:defRPr sz="13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512F8D"/>
                </a:solidFill>
                <a:latin typeface="Arial"/>
                <a:ea typeface="Arial"/>
                <a:cs typeface="Arial"/>
              </a:rPr>
              <a:t>Septiembre 2026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3E080AA5-C22D-42AD-B299-AAD89EFA7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90575"/>
            <a:ext cx="108204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20202B"/>
                </a:solidFill>
                <a:latin typeface="Arial"/>
                <a:ea typeface="Arial"/>
                <a:cs typeface="Arial"/>
              </a:defRPr>
            </a:defPPr>
            <a:lvl1pPr>
              <a:defRPr sz="3300" b="1">
                <a:solidFill>
                  <a:srgbClr val="20202B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20202B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20202B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20202B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20202B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20202B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20202B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20202B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2020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20202B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20202B"/>
                </a:solidFill>
                <a:latin typeface="Arial"/>
                <a:ea typeface="Arial"/>
                <a:cs typeface="Arial"/>
              </a:rPr>
              <a:t>Servicios de protección integral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FAAE6F17-2045-42AD-9C3F-2D16D0BC5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1009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defPPr>
            <a:lvl1pPr>
              <a:defRPr sz="9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1pPr>
            <a:lvl2pPr>
              <a:defRPr sz="9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2pPr>
            <a:lvl3pPr>
              <a:defRPr sz="9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3pPr>
            <a:lvl4pPr>
              <a:defRPr sz="9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4pPr>
            <a:lvl5pPr>
              <a:defRPr sz="9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5pPr>
            <a:lvl6pPr>
              <a:defRPr sz="9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6pPr>
            <a:lvl7pPr>
              <a:defRPr sz="9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7pPr>
            <a:lvl8pPr>
              <a:defRPr sz="9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8pPr>
            <a:lvl9pPr>
              <a:defRPr sz="9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9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777080"/>
                </a:solidFill>
                <a:latin typeface="Arial"/>
                <a:ea typeface="Arial"/>
                <a:cs typeface="Arial"/>
              </a:rPr>
              <a:t>MTDH   Septiembre 2026   Nacional - 24 provincias y zona en estudio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A50823AF-44F3-4A56-9FFD-18615B6ED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5795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defPPr>
            <a:lvl1pPr>
              <a:defRPr sz="9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1pPr>
            <a:lvl2pPr>
              <a:defRPr sz="9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2pPr>
            <a:lvl3pPr>
              <a:defRPr sz="9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3pPr>
            <a:lvl4pPr>
              <a:defRPr sz="9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4pPr>
            <a:lvl5pPr>
              <a:defRPr sz="9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5pPr>
            <a:lvl6pPr>
              <a:defRPr sz="9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6pPr>
            <a:lvl7pPr>
              <a:defRPr sz="9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7pPr>
            <a:lvl8pPr>
              <a:defRPr sz="9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8pPr>
            <a:lvl9pPr>
              <a:defRPr sz="9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9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777080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1F6A866-1996-4A9D-ABE8-8D9D454E145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08b10a0efa14e3b"/>
          <a:stretch xmlns:a="http://schemas.openxmlformats.org/drawingml/2006/main"/>
        </p:blipFill>
        <p:spPr>
          <a:xfrm xmlns:a="http://schemas.openxmlformats.org/drawingml/2006/main">
            <a:off x="685800" y="1600200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6" name="chart-subtitle">
            <a:extLst xmlns:a="http://schemas.openxmlformats.org/drawingml/2006/main">
              <a:ext uri="{FF2B5EF4-FFF2-40B4-BE49-F238E27FC236}">
                <a16:creationId xmlns:a16="http://schemas.microsoft.com/office/drawing/2014/main" id="{419D38B1-6BF5-475F-B3A0-D1FCDEBC1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" y="1657350"/>
            <a:ext cx="952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6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512F8D"/>
                </a:solidFill>
                <a:latin typeface="Arial"/>
                <a:ea typeface="Arial"/>
                <a:cs typeface="Arial"/>
              </a:rPr>
              <a:t>Distribución por servicio</a:t>
            </a:r>
          </a:p>
        </p:txBody>
      </p:sp>
      <p:graphicFrame>
        <p:nvGraphicFramePr>
          <p:cNvPr id="7" name="Chart">
            <a:extLst xmlns:a="http://schemas.openxmlformats.org/drawingml/2006/main">
              <a:ext uri="{FF2B5EF4-FFF2-40B4-BE49-F238E27FC236}">
                <a16:creationId xmlns:a16="http://schemas.microsoft.com/office/drawing/2014/main" id="{916E42B1-0333-452B-903A-D31420004C67}"/>
              </a:ext>
            </a:extLst>
          </p:cNvPr>
          <p:cNvGraphicFramePr/>
          <p:nvPr/>
        </p:nvGraphicFramePr>
        <p:xfrm>
          <a:off xmlns:a="http://schemas.openxmlformats.org/drawingml/2006/main" x="552450" y="2247900"/>
          <a:ext xmlns:a="http://schemas.openxmlformats.org/drawingml/2006/main" cx="6858000" cy="3524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62a2daff4724717"/>
          </a:graphicData>
        </a:graphic>
      </p:graphicFrame>
      <p:sp>
        <p:nvSpPr>
          <p:cNvPr id="8" name="people">
            <a:extLst xmlns:a="http://schemas.openxmlformats.org/drawingml/2006/main">
              <a:ext uri="{FF2B5EF4-FFF2-40B4-BE49-F238E27FC236}">
                <a16:creationId xmlns:a16="http://schemas.microsoft.com/office/drawing/2014/main" id="{CD4D0C3D-AFF2-478D-BDA0-1BBEF6D7A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266950"/>
            <a:ext cx="333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46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defPPr>
            <a:lvl1pPr>
              <a:defRPr sz="46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lvl1pPr>
            <a:lvl2pPr>
              <a:defRPr sz="46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lvl2pPr>
            <a:lvl3pPr>
              <a:defRPr sz="46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lvl3pPr>
            <a:lvl4pPr>
              <a:defRPr sz="46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lvl4pPr>
            <a:lvl5pPr>
              <a:defRPr sz="46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lvl5pPr>
            <a:lvl6pPr>
              <a:defRPr sz="46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lvl6pPr>
            <a:lvl7pPr>
              <a:defRPr sz="46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lvl7pPr>
            <a:lvl8pPr>
              <a:defRPr sz="46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lvl8pPr>
            <a:lvl9pPr>
              <a:defRPr sz="46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46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pPr>
            <a:r>
              <a:rPr sz="4650" b="1">
                <a:solidFill>
                  <a:srgbClr val="512F8D"/>
                </a:solidFill>
                <a:latin typeface="Arial"/>
                <a:ea typeface="Arial"/>
                <a:cs typeface="Arial"/>
              </a:rPr>
              <a:t>456.239</a:t>
            </a:r>
          </a:p>
        </p:txBody>
      </p:sp>
      <p:sp>
        <p:nvSpPr>
          <p:cNvPr id="9" name="people-label">
            <a:extLst xmlns:a="http://schemas.openxmlformats.org/drawingml/2006/main">
              <a:ext uri="{FF2B5EF4-FFF2-40B4-BE49-F238E27FC236}">
                <a16:creationId xmlns:a16="http://schemas.microsoft.com/office/drawing/2014/main" id="{E1CDC408-18C3-430E-B0E3-C7E3892D0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048000"/>
            <a:ext cx="3238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777080"/>
                </a:solidFill>
                <a:latin typeface="Arial"/>
                <a:ea typeface="Arial"/>
                <a:cs typeface="Arial"/>
              </a:rPr>
              <a:t>Usuarios reportados</a:t>
            </a:r>
          </a:p>
        </p:txBody>
      </p:sp>
      <p:sp>
        <p:nvSpPr>
          <p:cNvPr id="10" name="fiscal">
            <a:extLst xmlns:a="http://schemas.openxmlformats.org/drawingml/2006/main">
              <a:ext uri="{FF2B5EF4-FFF2-40B4-BE49-F238E27FC236}">
                <a16:creationId xmlns:a16="http://schemas.microsoft.com/office/drawing/2014/main" id="{1445C50D-5EC4-4DB4-896C-8C3309CAD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876675"/>
            <a:ext cx="32385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225" b="1">
                <a:solidFill>
                  <a:srgbClr val="20202B"/>
                </a:solidFill>
                <a:latin typeface="Arial"/>
                <a:ea typeface="Arial"/>
                <a:cs typeface="Arial"/>
              </a:defRPr>
            </a:defPPr>
            <a:lvl1pPr>
              <a:defRPr sz="3225" b="1">
                <a:solidFill>
                  <a:srgbClr val="20202B"/>
                </a:solidFill>
                <a:latin typeface="Arial"/>
                <a:ea typeface="Arial"/>
                <a:cs typeface="Arial"/>
              </a:defRPr>
            </a:lvl1pPr>
            <a:lvl2pPr>
              <a:defRPr sz="3225" b="1">
                <a:solidFill>
                  <a:srgbClr val="20202B"/>
                </a:solidFill>
                <a:latin typeface="Arial"/>
                <a:ea typeface="Arial"/>
                <a:cs typeface="Arial"/>
              </a:defRPr>
            </a:lvl2pPr>
            <a:lvl3pPr>
              <a:defRPr sz="3225" b="1">
                <a:solidFill>
                  <a:srgbClr val="20202B"/>
                </a:solidFill>
                <a:latin typeface="Arial"/>
                <a:ea typeface="Arial"/>
                <a:cs typeface="Arial"/>
              </a:defRPr>
            </a:lvl3pPr>
            <a:lvl4pPr>
              <a:defRPr sz="3225" b="1">
                <a:solidFill>
                  <a:srgbClr val="20202B"/>
                </a:solidFill>
                <a:latin typeface="Arial"/>
                <a:ea typeface="Arial"/>
                <a:cs typeface="Arial"/>
              </a:defRPr>
            </a:lvl4pPr>
            <a:lvl5pPr>
              <a:defRPr sz="3225" b="1">
                <a:solidFill>
                  <a:srgbClr val="20202B"/>
                </a:solidFill>
                <a:latin typeface="Arial"/>
                <a:ea typeface="Arial"/>
                <a:cs typeface="Arial"/>
              </a:defRPr>
            </a:lvl5pPr>
            <a:lvl6pPr>
              <a:defRPr sz="3225" b="1">
                <a:solidFill>
                  <a:srgbClr val="20202B"/>
                </a:solidFill>
                <a:latin typeface="Arial"/>
                <a:ea typeface="Arial"/>
                <a:cs typeface="Arial"/>
              </a:defRPr>
            </a:lvl6pPr>
            <a:lvl7pPr>
              <a:defRPr sz="3225" b="1">
                <a:solidFill>
                  <a:srgbClr val="20202B"/>
                </a:solidFill>
                <a:latin typeface="Arial"/>
                <a:ea typeface="Arial"/>
                <a:cs typeface="Arial"/>
              </a:defRPr>
            </a:lvl7pPr>
            <a:lvl8pPr>
              <a:defRPr sz="3225" b="1">
                <a:solidFill>
                  <a:srgbClr val="20202B"/>
                </a:solidFill>
                <a:latin typeface="Arial"/>
                <a:ea typeface="Arial"/>
                <a:cs typeface="Arial"/>
              </a:defRPr>
            </a:lvl8pPr>
            <a:lvl9pPr>
              <a:defRPr sz="3225" b="1">
                <a:solidFill>
                  <a:srgbClr val="2020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20202B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20202B"/>
                </a:solidFill>
                <a:latin typeface="Arial"/>
                <a:ea typeface="Arial"/>
                <a:cs typeface="Arial"/>
              </a:rPr>
              <a:t>USD 168,75</a:t>
            </a:r>
          </a:p>
        </p:txBody>
      </p:sp>
      <p:sp>
        <p:nvSpPr>
          <p:cNvPr id="11" name="fiscal-label">
            <a:extLst xmlns:a="http://schemas.openxmlformats.org/drawingml/2006/main">
              <a:ext uri="{FF2B5EF4-FFF2-40B4-BE49-F238E27FC236}">
                <a16:creationId xmlns:a16="http://schemas.microsoft.com/office/drawing/2014/main" id="{AC386503-1134-4017-98DE-7AA63B198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438650"/>
            <a:ext cx="3238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5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defPPr>
            <a:lvl1pPr>
              <a:defRPr sz="15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1pPr>
            <a:lvl2pPr>
              <a:defRPr sz="15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2pPr>
            <a:lvl3pPr>
              <a:defRPr sz="15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3pPr>
            <a:lvl4pPr>
              <a:defRPr sz="15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4pPr>
            <a:lvl5pPr>
              <a:defRPr sz="15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5pPr>
            <a:lvl6pPr>
              <a:defRPr sz="15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6pPr>
            <a:lvl7pPr>
              <a:defRPr sz="15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7pPr>
            <a:lvl8pPr>
              <a:defRPr sz="15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8pPr>
            <a:lvl9pPr>
              <a:defRPr sz="15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777080"/>
                </a:solidFill>
                <a:latin typeface="Arial"/>
                <a:ea typeface="Arial"/>
                <a:cs typeface="Arial"/>
              </a:rPr>
              <a:t>millones en el acumulado fiscal 2026</a:t>
            </a:r>
          </a:p>
        </p:txBody>
      </p:sp>
      <p:sp>
        <p:nvSpPr>
          <p:cNvPr id="12" name="extra-value">
            <a:extLst xmlns:a="http://schemas.openxmlformats.org/drawingml/2006/main">
              <a:ext uri="{FF2B5EF4-FFF2-40B4-BE49-F238E27FC236}">
                <a16:creationId xmlns:a16="http://schemas.microsoft.com/office/drawing/2014/main" id="{2F36CA4E-C032-43B3-8BB7-AD21BF2E6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5095875"/>
            <a:ext cx="3238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850" b="1">
                <a:solidFill>
                  <a:srgbClr val="20202B"/>
                </a:solidFill>
                <a:latin typeface="Arial"/>
                <a:ea typeface="Arial"/>
                <a:cs typeface="Arial"/>
              </a:defRPr>
            </a:defPPr>
            <a:lvl1pPr>
              <a:defRPr sz="2850" b="1">
                <a:solidFill>
                  <a:srgbClr val="20202B"/>
                </a:solidFill>
                <a:latin typeface="Arial"/>
                <a:ea typeface="Arial"/>
                <a:cs typeface="Arial"/>
              </a:defRPr>
            </a:lvl1pPr>
            <a:lvl2pPr>
              <a:defRPr sz="2850" b="1">
                <a:solidFill>
                  <a:srgbClr val="20202B"/>
                </a:solidFill>
                <a:latin typeface="Arial"/>
                <a:ea typeface="Arial"/>
                <a:cs typeface="Arial"/>
              </a:defRPr>
            </a:lvl2pPr>
            <a:lvl3pPr>
              <a:defRPr sz="2850" b="1">
                <a:solidFill>
                  <a:srgbClr val="20202B"/>
                </a:solidFill>
                <a:latin typeface="Arial"/>
                <a:ea typeface="Arial"/>
                <a:cs typeface="Arial"/>
              </a:defRPr>
            </a:lvl3pPr>
            <a:lvl4pPr>
              <a:defRPr sz="2850" b="1">
                <a:solidFill>
                  <a:srgbClr val="20202B"/>
                </a:solidFill>
                <a:latin typeface="Arial"/>
                <a:ea typeface="Arial"/>
                <a:cs typeface="Arial"/>
              </a:defRPr>
            </a:lvl4pPr>
            <a:lvl5pPr>
              <a:defRPr sz="2850" b="1">
                <a:solidFill>
                  <a:srgbClr val="20202B"/>
                </a:solidFill>
                <a:latin typeface="Arial"/>
                <a:ea typeface="Arial"/>
                <a:cs typeface="Arial"/>
              </a:defRPr>
            </a:lvl5pPr>
            <a:lvl6pPr>
              <a:defRPr sz="2850" b="1">
                <a:solidFill>
                  <a:srgbClr val="20202B"/>
                </a:solidFill>
                <a:latin typeface="Arial"/>
                <a:ea typeface="Arial"/>
                <a:cs typeface="Arial"/>
              </a:defRPr>
            </a:lvl6pPr>
            <a:lvl7pPr>
              <a:defRPr sz="2850" b="1">
                <a:solidFill>
                  <a:srgbClr val="20202B"/>
                </a:solidFill>
                <a:latin typeface="Arial"/>
                <a:ea typeface="Arial"/>
                <a:cs typeface="Arial"/>
              </a:defRPr>
            </a:lvl7pPr>
            <a:lvl8pPr>
              <a:defRPr sz="2850" b="1">
                <a:solidFill>
                  <a:srgbClr val="20202B"/>
                </a:solidFill>
                <a:latin typeface="Arial"/>
                <a:ea typeface="Arial"/>
                <a:cs typeface="Arial"/>
              </a:defRPr>
            </a:lvl8pPr>
            <a:lvl9pPr>
              <a:defRPr sz="2850" b="1">
                <a:solidFill>
                  <a:srgbClr val="2020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850" b="1">
                <a:solidFill>
                  <a:srgbClr val="20202B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20202B"/>
                </a:solidFill>
                <a:latin typeface="Arial"/>
                <a:ea typeface="Arial"/>
                <a:cs typeface="Arial"/>
              </a:rPr>
              <a:t>11.158</a:t>
            </a:r>
          </a:p>
        </p:txBody>
      </p:sp>
      <p:sp>
        <p:nvSpPr>
          <p:cNvPr id="13" name="extra-label">
            <a:extLst xmlns:a="http://schemas.openxmlformats.org/drawingml/2006/main">
              <a:ext uri="{FF2B5EF4-FFF2-40B4-BE49-F238E27FC236}">
                <a16:creationId xmlns:a16="http://schemas.microsoft.com/office/drawing/2014/main" id="{00D39701-90F9-451C-897F-269ABB662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5581650"/>
            <a:ext cx="323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500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defPPr>
            <a:lvl1pPr>
              <a:defRPr sz="1500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1pPr>
            <a:lvl2pPr>
              <a:defRPr sz="1500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2pPr>
            <a:lvl3pPr>
              <a:defRPr sz="1500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3pPr>
            <a:lvl4pPr>
              <a:defRPr sz="1500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4pPr>
            <a:lvl5pPr>
              <a:defRPr sz="1500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5pPr>
            <a:lvl6pPr>
              <a:defRPr sz="1500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6pPr>
            <a:lvl7pPr>
              <a:defRPr sz="1500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7pPr>
            <a:lvl8pPr>
              <a:defRPr sz="1500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8pPr>
            <a:lvl9pPr>
              <a:defRPr sz="1500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777080"/>
                </a:solidFill>
                <a:latin typeface="Arial"/>
                <a:ea typeface="Arial"/>
                <a:cs typeface="Arial"/>
              </a:rPr>
              <a:t>unidades reportadas</a:t>
            </a:r>
          </a:p>
        </p:txBody>
      </p:sp>
      <p:sp>
        <p:nvSpPr>
          <p:cNvPr id="14" name="count-note">
            <a:extLst xmlns:a="http://schemas.openxmlformats.org/drawingml/2006/main">
              <a:ext uri="{FF2B5EF4-FFF2-40B4-BE49-F238E27FC236}">
                <a16:creationId xmlns:a16="http://schemas.microsoft.com/office/drawing/2014/main" id="{9FD4FD76-6F72-4B1E-B4E6-FA703ABFD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53125"/>
            <a:ext cx="6953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777080"/>
                </a:solidFill>
                <a:latin typeface="Arial"/>
                <a:ea typeface="Arial"/>
                <a:cs typeface="Arial"/>
              </a:rPr>
              <a:t>Conteos reportados. No equivalen a personas únicas verificadas.</a:t>
            </a:r>
          </a:p>
        </p:txBody>
      </p:sp>
    </p:spTree>
    <p:extLst>
      <p:ext uri="{BB962C8B-B14F-4D97-AF65-F5344CB8AC3E}">
        <p14:creationId xmlns:p14="http://schemas.microsoft.com/office/powerpoint/2010/main" val="183035464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eyebrow">
            <a:extLst xmlns:a="http://schemas.openxmlformats.org/drawingml/2006/main">
              <a:ext uri="{FF2B5EF4-FFF2-40B4-BE49-F238E27FC236}">
                <a16:creationId xmlns:a16="http://schemas.microsoft.com/office/drawing/2014/main" id="{14C4B25C-7D63-41AD-B694-D179F3CDC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6858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3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defPPr>
            <a:lvl1pPr>
              <a:defRPr sz="13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lvl1pPr>
            <a:lvl2pPr>
              <a:defRPr sz="13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lvl2pPr>
            <a:lvl3pPr>
              <a:defRPr sz="13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lvl3pPr>
            <a:lvl4pPr>
              <a:defRPr sz="13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lvl4pPr>
            <a:lvl5pPr>
              <a:defRPr sz="13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lvl5pPr>
            <a:lvl6pPr>
              <a:defRPr sz="13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lvl6pPr>
            <a:lvl7pPr>
              <a:defRPr sz="13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lvl7pPr>
            <a:lvl8pPr>
              <a:defRPr sz="13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lvl8pPr>
            <a:lvl9pPr>
              <a:defRPr sz="13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512F8D"/>
                </a:solidFill>
                <a:latin typeface="Arial"/>
                <a:ea typeface="Arial"/>
                <a:cs typeface="Arial"/>
              </a:rPr>
              <a:t>Septiembre 2026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20E9AFB8-D7C6-4EC1-858A-30CA8C5A2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90575"/>
            <a:ext cx="108204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20202B"/>
                </a:solidFill>
                <a:latin typeface="Arial"/>
                <a:ea typeface="Arial"/>
                <a:cs typeface="Arial"/>
              </a:defRPr>
            </a:defPPr>
            <a:lvl1pPr>
              <a:defRPr sz="3300" b="1">
                <a:solidFill>
                  <a:srgbClr val="20202B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20202B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20202B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20202B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20202B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20202B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20202B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20202B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2020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20202B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20202B"/>
                </a:solidFill>
                <a:latin typeface="Arial"/>
                <a:ea typeface="Arial"/>
                <a:cs typeface="Arial"/>
              </a:rPr>
              <a:t>Detalle de protección integral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89EB817F-669A-4DEB-95C1-F699E469B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1009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defPPr>
            <a:lvl1pPr>
              <a:defRPr sz="9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1pPr>
            <a:lvl2pPr>
              <a:defRPr sz="9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2pPr>
            <a:lvl3pPr>
              <a:defRPr sz="9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3pPr>
            <a:lvl4pPr>
              <a:defRPr sz="9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4pPr>
            <a:lvl5pPr>
              <a:defRPr sz="9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5pPr>
            <a:lvl6pPr>
              <a:defRPr sz="9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6pPr>
            <a:lvl7pPr>
              <a:defRPr sz="9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7pPr>
            <a:lvl8pPr>
              <a:defRPr sz="9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8pPr>
            <a:lvl9pPr>
              <a:defRPr sz="9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9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777080"/>
                </a:solidFill>
                <a:latin typeface="Arial"/>
                <a:ea typeface="Arial"/>
                <a:cs typeface="Arial"/>
              </a:rPr>
              <a:t>MTDH   Septiembre 2026   Nacional - 24 provincias y zona en estudio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4EA3899E-11CC-47B3-9E6C-4C04A7F90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5795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defPPr>
            <a:lvl1pPr>
              <a:defRPr sz="9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1pPr>
            <a:lvl2pPr>
              <a:defRPr sz="9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2pPr>
            <a:lvl3pPr>
              <a:defRPr sz="9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3pPr>
            <a:lvl4pPr>
              <a:defRPr sz="9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4pPr>
            <a:lvl5pPr>
              <a:defRPr sz="9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5pPr>
            <a:lvl6pPr>
              <a:defRPr sz="9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6pPr>
            <a:lvl7pPr>
              <a:defRPr sz="9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7pPr>
            <a:lvl8pPr>
              <a:defRPr sz="9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8pPr>
            <a:lvl9pPr>
              <a:defRPr sz="9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9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777080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5" name="detail-subtitle">
            <a:extLst xmlns:a="http://schemas.openxmlformats.org/drawingml/2006/main">
              <a:ext uri="{FF2B5EF4-FFF2-40B4-BE49-F238E27FC236}">
                <a16:creationId xmlns:a16="http://schemas.microsoft.com/office/drawing/2014/main" id="{CF86538F-5060-4739-A741-165431603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47825"/>
            <a:ext cx="10763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72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777080"/>
                </a:solidFill>
                <a:latin typeface="Arial"/>
                <a:ea typeface="Arial"/>
                <a:cs typeface="Arial"/>
              </a:rPr>
              <a:t>Presupuesto ejecutado: N/D</a:t>
            </a:r>
          </a:p>
        </p:txBody>
      </p:sp>
      <p:graphicFrame>
        <p:nvGraphicFrame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5E76688-058E-4123-8648-46B2C6BB3D9F}"/>
              </a:ext>
            </a:extLst>
          </p:cNvPr>
          <p:cNvGraphicFramePr/>
          <p:nvPr/>
        </p:nvGraphicFramePr>
        <p:xfrm>
          <a:off xmlns:a="http://schemas.openxmlformats.org/drawingml/2006/main" x="685800" y="2114550"/>
          <a:ext xmlns:a="http://schemas.openxmlformats.org/drawingml/2006/main" cx="10820400" cy="34575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191000"/>
                <a:gridCol w="1657350"/>
                <a:gridCol w="1295400"/>
                <a:gridCol w="1838325"/>
                <a:gridCol w="1838325"/>
              </a:tblGrid>
              <a:tr h="552450">
                <a:tc>
                  <a:txBody>
                    <a:bodyPr wrap="square" lIns="114300" tIns="85725" rIns="114300" bIns="85725">
                      <a:noAutofit/>
                    </a:bodyPr>
                    <a:lstStyle/>
                    <a:p>
                      <a:pPr algn="l"/>
                      <a:r>
                        <a:rPr sz="15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Programa o servicio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FFFFF"/>
                      </a:solidFill>
                      <a:prstDash val="solid"/>
                    </a:lnL>
                    <a:lnR w="9525">
                      <a:solidFill>
                        <a:srgbClr val="FFFFFF"/>
                      </a:solidFill>
                      <a:prstDash val="solid"/>
                    </a:lnR>
                    <a:lnT w="9525">
                      <a:solidFill>
                        <a:srgbClr val="FFFFFF"/>
                      </a:solidFill>
                      <a:prstDash val="solid"/>
                    </a:lnT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512F8D"/>
                    </a:solidFill>
                  </a:tcPr>
                </a:tc>
                <a:tc>
                  <a:txBody>
                    <a:bodyPr wrap="square" lIns="114300" tIns="85725" rIns="114300" bIns="85725">
                      <a:noAutofit/>
                    </a:bodyPr>
                    <a:lstStyle/>
                    <a:p>
                      <a:pPr algn="r"/>
                      <a:r>
                        <a:rPr sz="15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Usuarios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FFFFF"/>
                      </a:solidFill>
                      <a:prstDash val="solid"/>
                    </a:lnR>
                    <a:lnT w="9525">
                      <a:solidFill>
                        <a:srgbClr val="FFFFFF"/>
                      </a:solidFill>
                      <a:prstDash val="solid"/>
                    </a:lnT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512F8D"/>
                    </a:solidFill>
                  </a:tcPr>
                </a:tc>
                <a:tc>
                  <a:txBody>
                    <a:bodyPr wrap="square" lIns="114300" tIns="85725" rIns="114300" bIns="85725">
                      <a:noAutofit/>
                    </a:bodyPr>
                    <a:lstStyle/>
                    <a:p>
                      <a:pPr algn="r"/>
                      <a:r>
                        <a:rPr sz="15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Unidades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FFFFF"/>
                      </a:solidFill>
                      <a:prstDash val="solid"/>
                    </a:lnR>
                    <a:lnT w="9525">
                      <a:solidFill>
                        <a:srgbClr val="FFFFFF"/>
                      </a:solidFill>
                      <a:prstDash val="solid"/>
                    </a:lnT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512F8D"/>
                    </a:solidFill>
                  </a:tcPr>
                </a:tc>
                <a:tc>
                  <a:txBody>
                    <a:bodyPr wrap="square" lIns="114300" tIns="85725" rIns="114300" bIns="85725">
                      <a:noAutofit/>
                    </a:bodyPr>
                    <a:lstStyle/>
                    <a:p>
                      <a:pPr algn="r"/>
                      <a:r>
                        <a:rPr sz="15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Fiscal 2026</a:t>
                      </a:r>
                    </a:p>
                    <a:p>
                      <a:pPr algn="r"/>
                      <a:r>
                        <a:rPr sz="15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USD millones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FFFFF"/>
                      </a:solidFill>
                      <a:prstDash val="solid"/>
                    </a:lnR>
                    <a:lnT w="9525">
                      <a:solidFill>
                        <a:srgbClr val="FFFFFF"/>
                      </a:solidFill>
                      <a:prstDash val="solid"/>
                    </a:lnT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512F8D"/>
                    </a:solidFill>
                  </a:tcPr>
                </a:tc>
                <a:tc>
                  <a:txBody>
                    <a:bodyPr wrap="square" lIns="114300" tIns="85725" rIns="114300" bIns="85725">
                      <a:noAutofit/>
                    </a:bodyPr>
                    <a:lstStyle/>
                    <a:p>
                      <a:pPr algn="r"/>
                      <a:r>
                        <a:rPr sz="15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Gobierno</a:t>
                      </a:r>
                    </a:p>
                    <a:p>
                      <a:pPr algn="r"/>
                      <a:r>
                        <a:rPr sz="15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USD millones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FFFFF"/>
                      </a:solidFill>
                      <a:prstDash val="solid"/>
                    </a:lnR>
                    <a:lnT w="9525">
                      <a:solidFill>
                        <a:srgbClr val="FFFFFF"/>
                      </a:solidFill>
                      <a:prstDash val="solid"/>
                    </a:lnT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512F8D"/>
                    </a:solidFill>
                  </a:tcPr>
                </a:tc>
              </a:tr>
              <a:tr h="600075">
                <a:tc>
                  <a:txBody>
                    <a:bodyPr wrap="square" lIns="114300" tIns="85725" rIns="114300" bIns="85725">
                      <a:noAutofit/>
                    </a:bodyPr>
                    <a:lstStyle/>
                    <a:p>
                      <a:pPr algn="l"/>
                      <a:r>
                        <a:rPr sz="1575" b="0">
                          <a:solidFill>
                            <a:srgbClr val="20202B"/>
                          </a:solidFill>
                          <a:latin typeface="Arial"/>
                          <a:ea typeface="Arial"/>
                          <a:cs typeface="Arial"/>
                        </a:rPr>
                        <a:t>Desarrollo Infantil Integral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FFFFF"/>
                      </a:solidFill>
                      <a:prstDash val="solid"/>
                    </a:lnL>
                    <a:lnR w="9525">
                      <a:solidFill>
                        <a:srgbClr val="FFFFFF"/>
                      </a:solidFill>
                      <a:prstDash val="solid"/>
                    </a:lnR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F7F5FA"/>
                    </a:solidFill>
                  </a:tcPr>
                </a:tc>
                <a:tc>
                  <a:txBody>
                    <a:bodyPr wrap="square" lIns="114300" tIns="85725" rIns="114300" bIns="85725">
                      <a:noAutofit/>
                    </a:bodyPr>
                    <a:lstStyle/>
                    <a:p>
                      <a:pPr algn="r"/>
                      <a:r>
                        <a:rPr sz="1575" b="0">
                          <a:solidFill>
                            <a:srgbClr val="20202B"/>
                          </a:solidFill>
                          <a:latin typeface="Arial"/>
                          <a:ea typeface="Arial"/>
                          <a:cs typeface="Arial"/>
                        </a:rPr>
                        <a:t>274.975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FFFFF"/>
                      </a:solidFill>
                      <a:prstDash val="solid"/>
                    </a:lnR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F7F5FA"/>
                    </a:solidFill>
                  </a:tcPr>
                </a:tc>
                <a:tc>
                  <a:txBody>
                    <a:bodyPr wrap="square" lIns="114300" tIns="85725" rIns="114300" bIns="85725">
                      <a:noAutofit/>
                    </a:bodyPr>
                    <a:lstStyle/>
                    <a:p>
                      <a:pPr algn="r"/>
                      <a:r>
                        <a:rPr sz="1575" b="0">
                          <a:solidFill>
                            <a:srgbClr val="20202B"/>
                          </a:solidFill>
                          <a:latin typeface="Arial"/>
                          <a:ea typeface="Arial"/>
                          <a:cs typeface="Arial"/>
                        </a:rPr>
                        <a:t>6.759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FFFFF"/>
                      </a:solidFill>
                      <a:prstDash val="solid"/>
                    </a:lnR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F7F5FA"/>
                    </a:solidFill>
                  </a:tcPr>
                </a:tc>
                <a:tc>
                  <a:txBody>
                    <a:bodyPr wrap="square" lIns="114300" tIns="85725" rIns="114300" bIns="85725">
                      <a:noAutofit/>
                    </a:bodyPr>
                    <a:lstStyle/>
                    <a:p>
                      <a:pPr algn="r"/>
                      <a:r>
                        <a:rPr sz="1575" b="0">
                          <a:solidFill>
                            <a:srgbClr val="20202B"/>
                          </a:solidFill>
                          <a:latin typeface="Arial"/>
                          <a:ea typeface="Arial"/>
                          <a:cs typeface="Arial"/>
                        </a:rPr>
                        <a:t>106,08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FFFFF"/>
                      </a:solidFill>
                      <a:prstDash val="solid"/>
                    </a:lnR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F7F5FA"/>
                    </a:solidFill>
                  </a:tcPr>
                </a:tc>
                <a:tc>
                  <a:txBody>
                    <a:bodyPr wrap="square" lIns="114300" tIns="85725" rIns="114300" bIns="85725">
                      <a:noAutofit/>
                    </a:bodyPr>
                    <a:lstStyle/>
                    <a:p>
                      <a:pPr algn="r"/>
                      <a:r>
                        <a:rPr sz="1575" b="0">
                          <a:solidFill>
                            <a:srgbClr val="20202B"/>
                          </a:solidFill>
                          <a:latin typeface="Arial"/>
                          <a:ea typeface="Arial"/>
                          <a:cs typeface="Arial"/>
                        </a:rPr>
                        <a:t>478,82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FFFFF"/>
                      </a:solidFill>
                      <a:prstDash val="solid"/>
                    </a:lnR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F7F5FA"/>
                    </a:solidFill>
                  </a:tcPr>
                </a:tc>
              </a:tr>
              <a:tr h="600075">
                <a:tc>
                  <a:txBody>
                    <a:bodyPr wrap="square" lIns="114300" tIns="85725" rIns="114300" bIns="85725">
                      <a:noAutofit/>
                    </a:bodyPr>
                    <a:lstStyle/>
                    <a:p>
                      <a:pPr algn="l"/>
                      <a:r>
                        <a:rPr sz="1575" b="0">
                          <a:solidFill>
                            <a:srgbClr val="20202B"/>
                          </a:solidFill>
                          <a:latin typeface="Arial"/>
                          <a:ea typeface="Arial"/>
                          <a:cs typeface="Arial"/>
                        </a:rPr>
                        <a:t>Personas adultas mayores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FFFFF"/>
                      </a:solidFill>
                      <a:prstDash val="solid"/>
                    </a:lnL>
                    <a:lnR w="9525">
                      <a:solidFill>
                        <a:srgbClr val="FFFFFF"/>
                      </a:solidFill>
                      <a:prstDash val="solid"/>
                    </a:lnR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114300" tIns="85725" rIns="114300" bIns="85725">
                      <a:noAutofit/>
                    </a:bodyPr>
                    <a:lstStyle/>
                    <a:p>
                      <a:pPr algn="r"/>
                      <a:r>
                        <a:rPr sz="1575" b="0">
                          <a:solidFill>
                            <a:srgbClr val="20202B"/>
                          </a:solidFill>
                          <a:latin typeface="Arial"/>
                          <a:ea typeface="Arial"/>
                          <a:cs typeface="Arial"/>
                        </a:rPr>
                        <a:t>114.697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FFFFF"/>
                      </a:solidFill>
                      <a:prstDash val="solid"/>
                    </a:lnR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114300" tIns="85725" rIns="114300" bIns="85725">
                      <a:noAutofit/>
                    </a:bodyPr>
                    <a:lstStyle/>
                    <a:p>
                      <a:pPr algn="r"/>
                      <a:r>
                        <a:rPr sz="1575" b="0">
                          <a:solidFill>
                            <a:srgbClr val="20202B"/>
                          </a:solidFill>
                          <a:latin typeface="Arial"/>
                          <a:ea typeface="Arial"/>
                          <a:cs typeface="Arial"/>
                        </a:rPr>
                        <a:t>2.792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FFFFF"/>
                      </a:solidFill>
                      <a:prstDash val="solid"/>
                    </a:lnR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114300" tIns="85725" rIns="114300" bIns="85725">
                      <a:noAutofit/>
                    </a:bodyPr>
                    <a:lstStyle/>
                    <a:p>
                      <a:pPr algn="r"/>
                      <a:r>
                        <a:rPr sz="1575" b="0">
                          <a:solidFill>
                            <a:srgbClr val="20202B"/>
                          </a:solidFill>
                          <a:latin typeface="Arial"/>
                          <a:ea typeface="Arial"/>
                          <a:cs typeface="Arial"/>
                        </a:rPr>
                        <a:t>34,61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FFFFF"/>
                      </a:solidFill>
                      <a:prstDash val="solid"/>
                    </a:lnR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114300" tIns="85725" rIns="114300" bIns="85725">
                      <a:noAutofit/>
                    </a:bodyPr>
                    <a:lstStyle/>
                    <a:p>
                      <a:pPr algn="r"/>
                      <a:r>
                        <a:rPr sz="1575" b="0">
                          <a:solidFill>
                            <a:srgbClr val="20202B"/>
                          </a:solidFill>
                          <a:latin typeface="Arial"/>
                          <a:ea typeface="Arial"/>
                          <a:cs typeface="Arial"/>
                        </a:rPr>
                        <a:t>145,81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FFFFF"/>
                      </a:solidFill>
                      <a:prstDash val="solid"/>
                    </a:lnR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0075">
                <a:tc>
                  <a:txBody>
                    <a:bodyPr wrap="square" lIns="114300" tIns="85725" rIns="114300" bIns="85725">
                      <a:noAutofit/>
                    </a:bodyPr>
                    <a:lstStyle/>
                    <a:p>
                      <a:pPr algn="l"/>
                      <a:r>
                        <a:rPr sz="1575" b="0">
                          <a:solidFill>
                            <a:srgbClr val="20202B"/>
                          </a:solidFill>
                          <a:latin typeface="Arial"/>
                          <a:ea typeface="Arial"/>
                          <a:cs typeface="Arial"/>
                        </a:rPr>
                        <a:t>Personas con discapacidad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FFFFF"/>
                      </a:solidFill>
                      <a:prstDash val="solid"/>
                    </a:lnL>
                    <a:lnR w="9525">
                      <a:solidFill>
                        <a:srgbClr val="FFFFFF"/>
                      </a:solidFill>
                      <a:prstDash val="solid"/>
                    </a:lnR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F7F5FA"/>
                    </a:solidFill>
                  </a:tcPr>
                </a:tc>
                <a:tc>
                  <a:txBody>
                    <a:bodyPr wrap="square" lIns="114300" tIns="85725" rIns="114300" bIns="85725">
                      <a:noAutofit/>
                    </a:bodyPr>
                    <a:lstStyle/>
                    <a:p>
                      <a:pPr algn="r"/>
                      <a:r>
                        <a:rPr sz="1575" b="0">
                          <a:solidFill>
                            <a:srgbClr val="20202B"/>
                          </a:solidFill>
                          <a:latin typeface="Arial"/>
                          <a:ea typeface="Arial"/>
                          <a:cs typeface="Arial"/>
                        </a:rPr>
                        <a:t>37.039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FFFFF"/>
                      </a:solidFill>
                      <a:prstDash val="solid"/>
                    </a:lnR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F7F5FA"/>
                    </a:solidFill>
                  </a:tcPr>
                </a:tc>
                <a:tc>
                  <a:txBody>
                    <a:bodyPr wrap="square" lIns="114300" tIns="85725" rIns="114300" bIns="85725">
                      <a:noAutofit/>
                    </a:bodyPr>
                    <a:lstStyle/>
                    <a:p>
                      <a:pPr algn="r"/>
                      <a:r>
                        <a:rPr sz="1575" b="0">
                          <a:solidFill>
                            <a:srgbClr val="20202B"/>
                          </a:solidFill>
                          <a:latin typeface="Arial"/>
                          <a:ea typeface="Arial"/>
                          <a:cs typeface="Arial"/>
                        </a:rPr>
                        <a:t>1.229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FFFFF"/>
                      </a:solidFill>
                      <a:prstDash val="solid"/>
                    </a:lnR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F7F5FA"/>
                    </a:solidFill>
                  </a:tcPr>
                </a:tc>
                <a:tc>
                  <a:txBody>
                    <a:bodyPr wrap="square" lIns="114300" tIns="85725" rIns="114300" bIns="85725">
                      <a:noAutofit/>
                    </a:bodyPr>
                    <a:lstStyle/>
                    <a:p>
                      <a:pPr algn="r"/>
                      <a:r>
                        <a:rPr sz="1575" b="0">
                          <a:solidFill>
                            <a:srgbClr val="20202B"/>
                          </a:solidFill>
                          <a:latin typeface="Arial"/>
                          <a:ea typeface="Arial"/>
                          <a:cs typeface="Arial"/>
                        </a:rPr>
                        <a:t>12,05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FFFFF"/>
                      </a:solidFill>
                      <a:prstDash val="solid"/>
                    </a:lnR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F7F5FA"/>
                    </a:solidFill>
                  </a:tcPr>
                </a:tc>
                <a:tc>
                  <a:txBody>
                    <a:bodyPr wrap="square" lIns="114300" tIns="85725" rIns="114300" bIns="85725">
                      <a:noAutofit/>
                    </a:bodyPr>
                    <a:lstStyle/>
                    <a:p>
                      <a:pPr algn="r"/>
                      <a:r>
                        <a:rPr sz="1575" b="0">
                          <a:solidFill>
                            <a:srgbClr val="20202B"/>
                          </a:solidFill>
                          <a:latin typeface="Arial"/>
                          <a:ea typeface="Arial"/>
                          <a:cs typeface="Arial"/>
                        </a:rPr>
                        <a:t>50,92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FFFFF"/>
                      </a:solidFill>
                      <a:prstDash val="solid"/>
                    </a:lnR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F7F5FA"/>
                    </a:solidFill>
                  </a:tcPr>
                </a:tc>
              </a:tr>
              <a:tr h="600075">
                <a:tc>
                  <a:txBody>
                    <a:bodyPr wrap="square" lIns="114300" tIns="85725" rIns="114300" bIns="85725">
                      <a:noAutofit/>
                    </a:bodyPr>
                    <a:lstStyle/>
                    <a:p>
                      <a:pPr algn="l"/>
                      <a:r>
                        <a:rPr sz="1575" b="0">
                          <a:solidFill>
                            <a:srgbClr val="20202B"/>
                          </a:solidFill>
                          <a:latin typeface="Arial"/>
                          <a:ea typeface="Arial"/>
                          <a:cs typeface="Arial"/>
                        </a:rPr>
                        <a:t>Protección Especial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FFFFF"/>
                      </a:solidFill>
                      <a:prstDash val="solid"/>
                    </a:lnL>
                    <a:lnR w="9525">
                      <a:solidFill>
                        <a:srgbClr val="FFFFFF"/>
                      </a:solidFill>
                      <a:prstDash val="solid"/>
                    </a:lnR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114300" tIns="85725" rIns="114300" bIns="85725">
                      <a:noAutofit/>
                    </a:bodyPr>
                    <a:lstStyle/>
                    <a:p>
                      <a:pPr algn="r"/>
                      <a:r>
                        <a:rPr sz="1575" b="0">
                          <a:solidFill>
                            <a:srgbClr val="20202B"/>
                          </a:solidFill>
                          <a:latin typeface="Arial"/>
                          <a:ea typeface="Arial"/>
                          <a:cs typeface="Arial"/>
                        </a:rPr>
                        <a:t>29.528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FFFFF"/>
                      </a:solidFill>
                      <a:prstDash val="solid"/>
                    </a:lnR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114300" tIns="85725" rIns="114300" bIns="85725">
                      <a:noAutofit/>
                    </a:bodyPr>
                    <a:lstStyle/>
                    <a:p>
                      <a:pPr algn="r"/>
                      <a:r>
                        <a:rPr sz="1575" b="0">
                          <a:solidFill>
                            <a:srgbClr val="20202B"/>
                          </a:solidFill>
                          <a:latin typeface="Arial"/>
                          <a:ea typeface="Arial"/>
                          <a:cs typeface="Arial"/>
                        </a:rPr>
                        <a:t>378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FFFFF"/>
                      </a:solidFill>
                      <a:prstDash val="solid"/>
                    </a:lnR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114300" tIns="85725" rIns="114300" bIns="85725">
                      <a:noAutofit/>
                    </a:bodyPr>
                    <a:lstStyle/>
                    <a:p>
                      <a:pPr algn="r"/>
                      <a:r>
                        <a:rPr sz="1575" b="0">
                          <a:solidFill>
                            <a:srgbClr val="20202B"/>
                          </a:solidFill>
                          <a:latin typeface="Arial"/>
                          <a:ea typeface="Arial"/>
                          <a:cs typeface="Arial"/>
                        </a:rPr>
                        <a:t>16,01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FFFFF"/>
                      </a:solidFill>
                      <a:prstDash val="solid"/>
                    </a:lnR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114300" tIns="85725" rIns="114300" bIns="85725">
                      <a:noAutofit/>
                    </a:bodyPr>
                    <a:lstStyle/>
                    <a:p>
                      <a:pPr algn="r"/>
                      <a:r>
                        <a:rPr sz="1575" b="0">
                          <a:solidFill>
                            <a:srgbClr val="20202B"/>
                          </a:solidFill>
                          <a:latin typeface="Arial"/>
                          <a:ea typeface="Arial"/>
                          <a:cs typeface="Arial"/>
                        </a:rPr>
                        <a:t>77,85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FFFFF"/>
                      </a:solidFill>
                      <a:prstDash val="solid"/>
                    </a:lnR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04825">
                <a:tc>
                  <a:txBody>
                    <a:bodyPr wrap="square" lIns="114300" tIns="85725" rIns="114300" bIns="85725">
                      <a:noAutofit/>
                    </a:bodyPr>
                    <a:lstStyle/>
                    <a:p>
                      <a:pPr algn="l"/>
                      <a:r>
                        <a:rPr sz="1575" b="1">
                          <a:solidFill>
                            <a:srgbClr val="20202B"/>
                          </a:solidFill>
                          <a:latin typeface="Arial"/>
                          <a:ea typeface="Arial"/>
                          <a:cs typeface="Arial"/>
                        </a:rPr>
                        <a:t>Total de la selección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FFFFF"/>
                      </a:solidFill>
                      <a:prstDash val="solid"/>
                    </a:lnL>
                    <a:lnR w="9525">
                      <a:solidFill>
                        <a:srgbClr val="FFFFFF"/>
                      </a:solidFill>
                      <a:prstDash val="solid"/>
                    </a:lnR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EBE5F3"/>
                    </a:solidFill>
                  </a:tcPr>
                </a:tc>
                <a:tc>
                  <a:txBody>
                    <a:bodyPr wrap="square" lIns="114300" tIns="85725" rIns="114300" bIns="85725">
                      <a:noAutofit/>
                    </a:bodyPr>
                    <a:lstStyle/>
                    <a:p>
                      <a:pPr algn="r"/>
                      <a:r>
                        <a:rPr sz="1575" b="1">
                          <a:solidFill>
                            <a:srgbClr val="20202B"/>
                          </a:solidFill>
                          <a:latin typeface="Arial"/>
                          <a:ea typeface="Arial"/>
                          <a:cs typeface="Arial"/>
                        </a:rPr>
                        <a:t>456.239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FFFFF"/>
                      </a:solidFill>
                      <a:prstDash val="solid"/>
                    </a:lnR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EBE5F3"/>
                    </a:solidFill>
                  </a:tcPr>
                </a:tc>
                <a:tc>
                  <a:txBody>
                    <a:bodyPr wrap="square" lIns="114300" tIns="85725" rIns="114300" bIns="85725">
                      <a:noAutofit/>
                    </a:bodyPr>
                    <a:lstStyle/>
                    <a:p>
                      <a:pPr algn="r"/>
                      <a:r>
                        <a:rPr sz="1575" b="1">
                          <a:solidFill>
                            <a:srgbClr val="20202B"/>
                          </a:solidFill>
                          <a:latin typeface="Arial"/>
                          <a:ea typeface="Arial"/>
                          <a:cs typeface="Arial"/>
                        </a:rPr>
                        <a:t>11.158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FFFFF"/>
                      </a:solidFill>
                      <a:prstDash val="solid"/>
                    </a:lnR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EBE5F3"/>
                    </a:solidFill>
                  </a:tcPr>
                </a:tc>
                <a:tc>
                  <a:txBody>
                    <a:bodyPr wrap="square" lIns="114300" tIns="85725" rIns="114300" bIns="85725">
                      <a:noAutofit/>
                    </a:bodyPr>
                    <a:lstStyle/>
                    <a:p>
                      <a:pPr algn="r"/>
                      <a:r>
                        <a:rPr sz="1575" b="1">
                          <a:solidFill>
                            <a:srgbClr val="20202B"/>
                          </a:solidFill>
                          <a:latin typeface="Arial"/>
                          <a:ea typeface="Arial"/>
                          <a:cs typeface="Arial"/>
                        </a:rPr>
                        <a:t>168,75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FFFFF"/>
                      </a:solidFill>
                      <a:prstDash val="solid"/>
                    </a:lnR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EBE5F3"/>
                    </a:solidFill>
                  </a:tcPr>
                </a:tc>
                <a:tc>
                  <a:txBody>
                    <a:bodyPr wrap="square" lIns="114300" tIns="85725" rIns="114300" bIns="85725">
                      <a:noAutofit/>
                    </a:bodyPr>
                    <a:lstStyle/>
                    <a:p>
                      <a:pPr algn="r"/>
                      <a:r>
                        <a:rPr sz="1575" b="1">
                          <a:solidFill>
                            <a:srgbClr val="20202B"/>
                          </a:solidFill>
                          <a:latin typeface="Arial"/>
                          <a:ea typeface="Arial"/>
                          <a:cs typeface="Arial"/>
                        </a:rPr>
                        <a:t>753,41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FFFFF"/>
                      </a:solidFill>
                      <a:prstDash val="solid"/>
                    </a:lnR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EBE5F3"/>
                    </a:solidFill>
                  </a:tcPr>
                </a:tc>
              </a:tr>
            </a:tbl>
          </a:graphicData>
        </a:graphic>
      </p:graphicFrame>
      <p:sp>
        <p:nvSpPr>
          <p:cNvPr id="7" name="detail-note">
            <a:extLst xmlns:a="http://schemas.openxmlformats.org/drawingml/2006/main">
              <a:ext uri="{FF2B5EF4-FFF2-40B4-BE49-F238E27FC236}">
                <a16:creationId xmlns:a16="http://schemas.microsoft.com/office/drawing/2014/main" id="{5269671E-030F-45B7-BC34-0EA8781F6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67425"/>
            <a:ext cx="10820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777080"/>
                </a:solidFill>
                <a:latin typeface="Arial"/>
                <a:ea typeface="Arial"/>
                <a:cs typeface="Arial"/>
              </a:rPr>
              <a:t>Fiscal y gobierno son acumulados superpuestos. No se suman entre sí. N/D: no disponible o no aplica.</a:t>
            </a:r>
          </a:p>
        </p:txBody>
      </p:sp>
    </p:spTree>
    <p:extLst>
      <p:ext uri="{BB962C8B-B14F-4D97-AF65-F5344CB8AC3E}">
        <p14:creationId xmlns:p14="http://schemas.microsoft.com/office/powerpoint/2010/main" val="175328494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eyebrow">
            <a:extLst xmlns:a="http://schemas.openxmlformats.org/drawingml/2006/main">
              <a:ext uri="{FF2B5EF4-FFF2-40B4-BE49-F238E27FC236}">
                <a16:creationId xmlns:a16="http://schemas.microsoft.com/office/drawing/2014/main" id="{A2F39FF5-86E4-4158-9343-A95E1D71F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6858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3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defPPr>
            <a:lvl1pPr>
              <a:defRPr sz="13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lvl1pPr>
            <a:lvl2pPr>
              <a:defRPr sz="13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lvl2pPr>
            <a:lvl3pPr>
              <a:defRPr sz="13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lvl3pPr>
            <a:lvl4pPr>
              <a:defRPr sz="13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lvl4pPr>
            <a:lvl5pPr>
              <a:defRPr sz="13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lvl5pPr>
            <a:lvl6pPr>
              <a:defRPr sz="13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lvl6pPr>
            <a:lvl7pPr>
              <a:defRPr sz="13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lvl7pPr>
            <a:lvl8pPr>
              <a:defRPr sz="13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lvl8pPr>
            <a:lvl9pPr>
              <a:defRPr sz="13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512F8D"/>
                </a:solidFill>
                <a:latin typeface="Arial"/>
                <a:ea typeface="Arial"/>
                <a:cs typeface="Arial"/>
              </a:rPr>
              <a:t>Septiembre 2026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3E080AA5-C22D-42AD-B299-AAD89EFA7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90575"/>
            <a:ext cx="108204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20202B"/>
                </a:solidFill>
                <a:latin typeface="Arial"/>
                <a:ea typeface="Arial"/>
                <a:cs typeface="Arial"/>
              </a:defRPr>
            </a:defPPr>
            <a:lvl1pPr>
              <a:defRPr sz="3300" b="1">
                <a:solidFill>
                  <a:srgbClr val="20202B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20202B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20202B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20202B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20202B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20202B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20202B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20202B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2020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20202B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20202B"/>
                </a:solidFill>
                <a:latin typeface="Arial"/>
                <a:ea typeface="Arial"/>
                <a:cs typeface="Arial"/>
              </a:rPr>
              <a:t>Servicios de protección integral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FAAE6F17-2045-42AD-9C3F-2D16D0BC5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1009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defPPr>
            <a:lvl1pPr>
              <a:defRPr sz="9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1pPr>
            <a:lvl2pPr>
              <a:defRPr sz="9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2pPr>
            <a:lvl3pPr>
              <a:defRPr sz="9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3pPr>
            <a:lvl4pPr>
              <a:defRPr sz="9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4pPr>
            <a:lvl5pPr>
              <a:defRPr sz="9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5pPr>
            <a:lvl6pPr>
              <a:defRPr sz="9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6pPr>
            <a:lvl7pPr>
              <a:defRPr sz="9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7pPr>
            <a:lvl8pPr>
              <a:defRPr sz="9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8pPr>
            <a:lvl9pPr>
              <a:defRPr sz="9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9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777080"/>
                </a:solidFill>
                <a:latin typeface="Arial"/>
                <a:ea typeface="Arial"/>
                <a:cs typeface="Arial"/>
              </a:rPr>
              <a:t>MTDH   Septiembre 2026   Nacional - 24 provincias y zona en estudio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A50823AF-44F3-4A56-9FFD-18615B6ED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5795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defPPr>
            <a:lvl1pPr>
              <a:defRPr sz="9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1pPr>
            <a:lvl2pPr>
              <a:defRPr sz="9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2pPr>
            <a:lvl3pPr>
              <a:defRPr sz="9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3pPr>
            <a:lvl4pPr>
              <a:defRPr sz="9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4pPr>
            <a:lvl5pPr>
              <a:defRPr sz="9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5pPr>
            <a:lvl6pPr>
              <a:defRPr sz="9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6pPr>
            <a:lvl7pPr>
              <a:defRPr sz="9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7pPr>
            <a:lvl8pPr>
              <a:defRPr sz="9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8pPr>
            <a:lvl9pPr>
              <a:defRPr sz="9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9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777080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1F6A866-1996-4A9D-ABE8-8D9D454E145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08b10a0efa14e3b"/>
          <a:stretch xmlns:a="http://schemas.openxmlformats.org/drawingml/2006/main"/>
        </p:blipFill>
        <p:spPr>
          <a:xfrm xmlns:a="http://schemas.openxmlformats.org/drawingml/2006/main">
            <a:off x="685800" y="1600200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6" name="chart-subtitle">
            <a:extLst xmlns:a="http://schemas.openxmlformats.org/drawingml/2006/main">
              <a:ext uri="{FF2B5EF4-FFF2-40B4-BE49-F238E27FC236}">
                <a16:creationId xmlns:a16="http://schemas.microsoft.com/office/drawing/2014/main" id="{419D38B1-6BF5-475F-B3A0-D1FCDEBC1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" y="1657350"/>
            <a:ext cx="952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6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512F8D"/>
                </a:solidFill>
                <a:latin typeface="Arial"/>
                <a:ea typeface="Arial"/>
                <a:cs typeface="Arial"/>
              </a:rPr>
              <a:t>Los 8 ámbitos territoriales con mayor cobertura</a:t>
            </a:r>
          </a:p>
        </p:txBody>
      </p:sp>
      <p:graphicFrame>
        <p:nvGraphicFramePr>
          <p:cNvPr id="7" name="Chart">
            <a:extLst xmlns:a="http://schemas.openxmlformats.org/drawingml/2006/main">
              <a:ext uri="{FF2B5EF4-FFF2-40B4-BE49-F238E27FC236}">
                <a16:creationId xmlns:a16="http://schemas.microsoft.com/office/drawing/2014/main" id="{916E42B1-0333-452B-903A-D31420004C67}"/>
              </a:ext>
            </a:extLst>
          </p:cNvPr>
          <p:cNvGraphicFramePr/>
          <p:nvPr/>
        </p:nvGraphicFramePr>
        <p:xfrm>
          <a:off xmlns:a="http://schemas.openxmlformats.org/drawingml/2006/main" x="552450" y="2247900"/>
          <a:ext xmlns:a="http://schemas.openxmlformats.org/drawingml/2006/main" cx="6858000" cy="3524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62a2daff4724717"/>
          </a:graphicData>
        </a:graphic>
      </p:graphicFrame>
      <p:sp>
        <p:nvSpPr>
          <p:cNvPr id="8" name="people">
            <a:extLst xmlns:a="http://schemas.openxmlformats.org/drawingml/2006/main">
              <a:ext uri="{FF2B5EF4-FFF2-40B4-BE49-F238E27FC236}">
                <a16:creationId xmlns:a16="http://schemas.microsoft.com/office/drawing/2014/main" id="{CD4D0C3D-AFF2-478D-BDA0-1BBEF6D7A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266950"/>
            <a:ext cx="333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46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defPPr>
            <a:lvl1pPr>
              <a:defRPr sz="46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lvl1pPr>
            <a:lvl2pPr>
              <a:defRPr sz="46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lvl2pPr>
            <a:lvl3pPr>
              <a:defRPr sz="46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lvl3pPr>
            <a:lvl4pPr>
              <a:defRPr sz="46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lvl4pPr>
            <a:lvl5pPr>
              <a:defRPr sz="46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lvl5pPr>
            <a:lvl6pPr>
              <a:defRPr sz="46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lvl6pPr>
            <a:lvl7pPr>
              <a:defRPr sz="46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lvl7pPr>
            <a:lvl8pPr>
              <a:defRPr sz="46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lvl8pPr>
            <a:lvl9pPr>
              <a:defRPr sz="46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46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pPr>
            <a:r>
              <a:rPr sz="4650" b="1">
                <a:solidFill>
                  <a:srgbClr val="512F8D"/>
                </a:solidFill>
                <a:latin typeface="Arial"/>
                <a:ea typeface="Arial"/>
                <a:cs typeface="Arial"/>
              </a:rPr>
              <a:t>456.239</a:t>
            </a:r>
          </a:p>
        </p:txBody>
      </p:sp>
      <p:sp>
        <p:nvSpPr>
          <p:cNvPr id="9" name="people-label">
            <a:extLst xmlns:a="http://schemas.openxmlformats.org/drawingml/2006/main">
              <a:ext uri="{FF2B5EF4-FFF2-40B4-BE49-F238E27FC236}">
                <a16:creationId xmlns:a16="http://schemas.microsoft.com/office/drawing/2014/main" id="{E1CDC408-18C3-430E-B0E3-C7E3892D0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048000"/>
            <a:ext cx="3238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777080"/>
                </a:solidFill>
                <a:latin typeface="Arial"/>
                <a:ea typeface="Arial"/>
                <a:cs typeface="Arial"/>
              </a:rPr>
              <a:t>Usuarios reportados</a:t>
            </a:r>
          </a:p>
        </p:txBody>
      </p:sp>
      <p:sp>
        <p:nvSpPr>
          <p:cNvPr id="10" name="fiscal">
            <a:extLst xmlns:a="http://schemas.openxmlformats.org/drawingml/2006/main">
              <a:ext uri="{FF2B5EF4-FFF2-40B4-BE49-F238E27FC236}">
                <a16:creationId xmlns:a16="http://schemas.microsoft.com/office/drawing/2014/main" id="{1445C50D-5EC4-4DB4-896C-8C3309CAD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876675"/>
            <a:ext cx="32385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225" b="1">
                <a:solidFill>
                  <a:srgbClr val="20202B"/>
                </a:solidFill>
                <a:latin typeface="Arial"/>
                <a:ea typeface="Arial"/>
                <a:cs typeface="Arial"/>
              </a:defRPr>
            </a:defPPr>
            <a:lvl1pPr>
              <a:defRPr sz="3225" b="1">
                <a:solidFill>
                  <a:srgbClr val="20202B"/>
                </a:solidFill>
                <a:latin typeface="Arial"/>
                <a:ea typeface="Arial"/>
                <a:cs typeface="Arial"/>
              </a:defRPr>
            </a:lvl1pPr>
            <a:lvl2pPr>
              <a:defRPr sz="3225" b="1">
                <a:solidFill>
                  <a:srgbClr val="20202B"/>
                </a:solidFill>
                <a:latin typeface="Arial"/>
                <a:ea typeface="Arial"/>
                <a:cs typeface="Arial"/>
              </a:defRPr>
            </a:lvl2pPr>
            <a:lvl3pPr>
              <a:defRPr sz="3225" b="1">
                <a:solidFill>
                  <a:srgbClr val="20202B"/>
                </a:solidFill>
                <a:latin typeface="Arial"/>
                <a:ea typeface="Arial"/>
                <a:cs typeface="Arial"/>
              </a:defRPr>
            </a:lvl3pPr>
            <a:lvl4pPr>
              <a:defRPr sz="3225" b="1">
                <a:solidFill>
                  <a:srgbClr val="20202B"/>
                </a:solidFill>
                <a:latin typeface="Arial"/>
                <a:ea typeface="Arial"/>
                <a:cs typeface="Arial"/>
              </a:defRPr>
            </a:lvl4pPr>
            <a:lvl5pPr>
              <a:defRPr sz="3225" b="1">
                <a:solidFill>
                  <a:srgbClr val="20202B"/>
                </a:solidFill>
                <a:latin typeface="Arial"/>
                <a:ea typeface="Arial"/>
                <a:cs typeface="Arial"/>
              </a:defRPr>
            </a:lvl5pPr>
            <a:lvl6pPr>
              <a:defRPr sz="3225" b="1">
                <a:solidFill>
                  <a:srgbClr val="20202B"/>
                </a:solidFill>
                <a:latin typeface="Arial"/>
                <a:ea typeface="Arial"/>
                <a:cs typeface="Arial"/>
              </a:defRPr>
            </a:lvl6pPr>
            <a:lvl7pPr>
              <a:defRPr sz="3225" b="1">
                <a:solidFill>
                  <a:srgbClr val="20202B"/>
                </a:solidFill>
                <a:latin typeface="Arial"/>
                <a:ea typeface="Arial"/>
                <a:cs typeface="Arial"/>
              </a:defRPr>
            </a:lvl7pPr>
            <a:lvl8pPr>
              <a:defRPr sz="3225" b="1">
                <a:solidFill>
                  <a:srgbClr val="20202B"/>
                </a:solidFill>
                <a:latin typeface="Arial"/>
                <a:ea typeface="Arial"/>
                <a:cs typeface="Arial"/>
              </a:defRPr>
            </a:lvl8pPr>
            <a:lvl9pPr>
              <a:defRPr sz="3225" b="1">
                <a:solidFill>
                  <a:srgbClr val="2020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20202B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20202B"/>
                </a:solidFill>
                <a:latin typeface="Arial"/>
                <a:ea typeface="Arial"/>
                <a:cs typeface="Arial"/>
              </a:rPr>
              <a:t>USD 168,75</a:t>
            </a:r>
          </a:p>
        </p:txBody>
      </p:sp>
      <p:sp>
        <p:nvSpPr>
          <p:cNvPr id="11" name="fiscal-label">
            <a:extLst xmlns:a="http://schemas.openxmlformats.org/drawingml/2006/main">
              <a:ext uri="{FF2B5EF4-FFF2-40B4-BE49-F238E27FC236}">
                <a16:creationId xmlns:a16="http://schemas.microsoft.com/office/drawing/2014/main" id="{AC386503-1134-4017-98DE-7AA63B198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438650"/>
            <a:ext cx="3238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5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defPPr>
            <a:lvl1pPr>
              <a:defRPr sz="15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1pPr>
            <a:lvl2pPr>
              <a:defRPr sz="15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2pPr>
            <a:lvl3pPr>
              <a:defRPr sz="15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3pPr>
            <a:lvl4pPr>
              <a:defRPr sz="15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4pPr>
            <a:lvl5pPr>
              <a:defRPr sz="15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5pPr>
            <a:lvl6pPr>
              <a:defRPr sz="15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6pPr>
            <a:lvl7pPr>
              <a:defRPr sz="15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7pPr>
            <a:lvl8pPr>
              <a:defRPr sz="15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8pPr>
            <a:lvl9pPr>
              <a:defRPr sz="15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777080"/>
                </a:solidFill>
                <a:latin typeface="Arial"/>
                <a:ea typeface="Arial"/>
                <a:cs typeface="Arial"/>
              </a:rPr>
              <a:t>millones en el acumulado fiscal 2026</a:t>
            </a:r>
          </a:p>
        </p:txBody>
      </p:sp>
      <p:sp>
        <p:nvSpPr>
          <p:cNvPr id="12" name="extra-value">
            <a:extLst xmlns:a="http://schemas.openxmlformats.org/drawingml/2006/main">
              <a:ext uri="{FF2B5EF4-FFF2-40B4-BE49-F238E27FC236}">
                <a16:creationId xmlns:a16="http://schemas.microsoft.com/office/drawing/2014/main" id="{2F36CA4E-C032-43B3-8BB7-AD21BF2E6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5095875"/>
            <a:ext cx="3238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850" b="1">
                <a:solidFill>
                  <a:srgbClr val="20202B"/>
                </a:solidFill>
                <a:latin typeface="Arial"/>
                <a:ea typeface="Arial"/>
                <a:cs typeface="Arial"/>
              </a:defRPr>
            </a:defPPr>
            <a:lvl1pPr>
              <a:defRPr sz="2850" b="1">
                <a:solidFill>
                  <a:srgbClr val="20202B"/>
                </a:solidFill>
                <a:latin typeface="Arial"/>
                <a:ea typeface="Arial"/>
                <a:cs typeface="Arial"/>
              </a:defRPr>
            </a:lvl1pPr>
            <a:lvl2pPr>
              <a:defRPr sz="2850" b="1">
                <a:solidFill>
                  <a:srgbClr val="20202B"/>
                </a:solidFill>
                <a:latin typeface="Arial"/>
                <a:ea typeface="Arial"/>
                <a:cs typeface="Arial"/>
              </a:defRPr>
            </a:lvl2pPr>
            <a:lvl3pPr>
              <a:defRPr sz="2850" b="1">
                <a:solidFill>
                  <a:srgbClr val="20202B"/>
                </a:solidFill>
                <a:latin typeface="Arial"/>
                <a:ea typeface="Arial"/>
                <a:cs typeface="Arial"/>
              </a:defRPr>
            </a:lvl3pPr>
            <a:lvl4pPr>
              <a:defRPr sz="2850" b="1">
                <a:solidFill>
                  <a:srgbClr val="20202B"/>
                </a:solidFill>
                <a:latin typeface="Arial"/>
                <a:ea typeface="Arial"/>
                <a:cs typeface="Arial"/>
              </a:defRPr>
            </a:lvl4pPr>
            <a:lvl5pPr>
              <a:defRPr sz="2850" b="1">
                <a:solidFill>
                  <a:srgbClr val="20202B"/>
                </a:solidFill>
                <a:latin typeface="Arial"/>
                <a:ea typeface="Arial"/>
                <a:cs typeface="Arial"/>
              </a:defRPr>
            </a:lvl5pPr>
            <a:lvl6pPr>
              <a:defRPr sz="2850" b="1">
                <a:solidFill>
                  <a:srgbClr val="20202B"/>
                </a:solidFill>
                <a:latin typeface="Arial"/>
                <a:ea typeface="Arial"/>
                <a:cs typeface="Arial"/>
              </a:defRPr>
            </a:lvl6pPr>
            <a:lvl7pPr>
              <a:defRPr sz="2850" b="1">
                <a:solidFill>
                  <a:srgbClr val="20202B"/>
                </a:solidFill>
                <a:latin typeface="Arial"/>
                <a:ea typeface="Arial"/>
                <a:cs typeface="Arial"/>
              </a:defRPr>
            </a:lvl7pPr>
            <a:lvl8pPr>
              <a:defRPr sz="2850" b="1">
                <a:solidFill>
                  <a:srgbClr val="20202B"/>
                </a:solidFill>
                <a:latin typeface="Arial"/>
                <a:ea typeface="Arial"/>
                <a:cs typeface="Arial"/>
              </a:defRPr>
            </a:lvl8pPr>
            <a:lvl9pPr>
              <a:defRPr sz="2850" b="1">
                <a:solidFill>
                  <a:srgbClr val="2020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850" b="1">
                <a:solidFill>
                  <a:srgbClr val="20202B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20202B"/>
                </a:solidFill>
                <a:latin typeface="Arial"/>
                <a:ea typeface="Arial"/>
                <a:cs typeface="Arial"/>
              </a:rPr>
              <a:t>11.158</a:t>
            </a:r>
          </a:p>
        </p:txBody>
      </p:sp>
      <p:sp>
        <p:nvSpPr>
          <p:cNvPr id="13" name="extra-label">
            <a:extLst xmlns:a="http://schemas.openxmlformats.org/drawingml/2006/main">
              <a:ext uri="{FF2B5EF4-FFF2-40B4-BE49-F238E27FC236}">
                <a16:creationId xmlns:a16="http://schemas.microsoft.com/office/drawing/2014/main" id="{00D39701-90F9-451C-897F-269ABB662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5581650"/>
            <a:ext cx="323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500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defPPr>
            <a:lvl1pPr>
              <a:defRPr sz="1500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1pPr>
            <a:lvl2pPr>
              <a:defRPr sz="1500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2pPr>
            <a:lvl3pPr>
              <a:defRPr sz="1500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3pPr>
            <a:lvl4pPr>
              <a:defRPr sz="1500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4pPr>
            <a:lvl5pPr>
              <a:defRPr sz="1500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5pPr>
            <a:lvl6pPr>
              <a:defRPr sz="1500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6pPr>
            <a:lvl7pPr>
              <a:defRPr sz="1500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7pPr>
            <a:lvl8pPr>
              <a:defRPr sz="1500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8pPr>
            <a:lvl9pPr>
              <a:defRPr sz="1500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777080"/>
                </a:solidFill>
                <a:latin typeface="Arial"/>
                <a:ea typeface="Arial"/>
                <a:cs typeface="Arial"/>
              </a:rPr>
              <a:t>unidades reportadas</a:t>
            </a:r>
          </a:p>
        </p:txBody>
      </p:sp>
      <p:sp>
        <p:nvSpPr>
          <p:cNvPr id="14" name="count-note">
            <a:extLst xmlns:a="http://schemas.openxmlformats.org/drawingml/2006/main">
              <a:ext uri="{FF2B5EF4-FFF2-40B4-BE49-F238E27FC236}">
                <a16:creationId xmlns:a16="http://schemas.microsoft.com/office/drawing/2014/main" id="{9FD4FD76-6F72-4B1E-B4E6-FA703ABFD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53125"/>
            <a:ext cx="6953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777080"/>
                </a:solidFill>
                <a:latin typeface="Arial"/>
                <a:ea typeface="Arial"/>
                <a:cs typeface="Arial"/>
              </a:rPr>
              <a:t>El gráfico muestra los ámbitos seleccionados con mayor conteo reportado.</a:t>
            </a:r>
          </a:p>
        </p:txBody>
      </p:sp>
    </p:spTree>
    <p:extLst>
      <p:ext uri="{BB962C8B-B14F-4D97-AF65-F5344CB8AC3E}">
        <p14:creationId xmlns:p14="http://schemas.microsoft.com/office/powerpoint/2010/main" val="183035464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eyebrow">
            <a:extLst xmlns:a="http://schemas.openxmlformats.org/drawingml/2006/main">
              <a:ext uri="{FF2B5EF4-FFF2-40B4-BE49-F238E27FC236}">
                <a16:creationId xmlns:a16="http://schemas.microsoft.com/office/drawing/2014/main" id="{4EB87881-4BD7-4CC1-A478-5E402BABB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6858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3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defPPr>
            <a:lvl1pPr>
              <a:defRPr sz="13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lvl1pPr>
            <a:lvl2pPr>
              <a:defRPr sz="13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lvl2pPr>
            <a:lvl3pPr>
              <a:defRPr sz="13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lvl3pPr>
            <a:lvl4pPr>
              <a:defRPr sz="13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lvl4pPr>
            <a:lvl5pPr>
              <a:defRPr sz="13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lvl5pPr>
            <a:lvl6pPr>
              <a:defRPr sz="13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lvl6pPr>
            <a:lvl7pPr>
              <a:defRPr sz="13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lvl7pPr>
            <a:lvl8pPr>
              <a:defRPr sz="13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lvl8pPr>
            <a:lvl9pPr>
              <a:defRPr sz="13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512F8D"/>
                </a:solidFill>
                <a:latin typeface="Arial"/>
                <a:ea typeface="Arial"/>
                <a:cs typeface="Arial"/>
              </a:rPr>
              <a:t>Septiembre 2026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37EAA87D-ACA3-4949-A403-118B30B6B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90575"/>
            <a:ext cx="108204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20202B"/>
                </a:solidFill>
                <a:latin typeface="Arial"/>
                <a:ea typeface="Arial"/>
                <a:cs typeface="Arial"/>
              </a:defRPr>
            </a:defPPr>
            <a:lvl1pPr>
              <a:defRPr sz="3300" b="1">
                <a:solidFill>
                  <a:srgbClr val="20202B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20202B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20202B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20202B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20202B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20202B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20202B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20202B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2020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20202B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20202B"/>
                </a:solidFill>
                <a:latin typeface="Arial"/>
                <a:ea typeface="Arial"/>
                <a:cs typeface="Arial"/>
              </a:rPr>
              <a:t>Alcance y lectura de las cifras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76A5493E-8815-4D84-ADD1-62A795A6D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1009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defPPr>
            <a:lvl1pPr>
              <a:defRPr sz="9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1pPr>
            <a:lvl2pPr>
              <a:defRPr sz="9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2pPr>
            <a:lvl3pPr>
              <a:defRPr sz="9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3pPr>
            <a:lvl4pPr>
              <a:defRPr sz="9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4pPr>
            <a:lvl5pPr>
              <a:defRPr sz="9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5pPr>
            <a:lvl6pPr>
              <a:defRPr sz="9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6pPr>
            <a:lvl7pPr>
              <a:defRPr sz="9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7pPr>
            <a:lvl8pPr>
              <a:defRPr sz="9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8pPr>
            <a:lvl9pPr>
              <a:defRPr sz="9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9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777080"/>
                </a:solidFill>
                <a:latin typeface="Arial"/>
                <a:ea typeface="Arial"/>
                <a:cs typeface="Arial"/>
              </a:rPr>
              <a:t>MTDH   Septiembre 2026   Nacional - 24 provincias y zona en estudio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DC718EE2-72E7-4B3D-89A0-0C0DC36BD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5795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defPPr>
            <a:lvl1pPr>
              <a:defRPr sz="9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1pPr>
            <a:lvl2pPr>
              <a:defRPr sz="9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2pPr>
            <a:lvl3pPr>
              <a:defRPr sz="9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3pPr>
            <a:lvl4pPr>
              <a:defRPr sz="9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4pPr>
            <a:lvl5pPr>
              <a:defRPr sz="9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5pPr>
            <a:lvl6pPr>
              <a:defRPr sz="9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6pPr>
            <a:lvl7pPr>
              <a:defRPr sz="9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7pPr>
            <a:lvl8pPr>
              <a:defRPr sz="9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8pPr>
            <a:lvl9pPr>
              <a:defRPr sz="9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975" b="0">
                <a:solidFill>
                  <a:srgbClr val="777080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777080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sp>
        <p:nvSpPr>
          <p:cNvPr id="5" name="method-head-1">
            <a:extLst xmlns:a="http://schemas.openxmlformats.org/drawingml/2006/main">
              <a:ext uri="{FF2B5EF4-FFF2-40B4-BE49-F238E27FC236}">
                <a16:creationId xmlns:a16="http://schemas.microsoft.com/office/drawing/2014/main" id="{5F8AD009-F4F1-4681-B562-6D55F4709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81200"/>
            <a:ext cx="10477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9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defPPr>
            <a:lvl1pPr>
              <a:defRPr sz="19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lvl1pPr>
            <a:lvl2pPr>
              <a:defRPr sz="19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lvl2pPr>
            <a:lvl3pPr>
              <a:defRPr sz="19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lvl3pPr>
            <a:lvl4pPr>
              <a:defRPr sz="19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lvl4pPr>
            <a:lvl5pPr>
              <a:defRPr sz="19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lvl5pPr>
            <a:lvl6pPr>
              <a:defRPr sz="19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lvl6pPr>
            <a:lvl7pPr>
              <a:defRPr sz="19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lvl7pPr>
            <a:lvl8pPr>
              <a:defRPr sz="19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lvl8pPr>
            <a:lvl9pPr>
              <a:defRPr sz="19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512F8D"/>
                </a:solidFill>
                <a:latin typeface="Arial"/>
                <a:ea typeface="Arial"/>
                <a:cs typeface="Arial"/>
              </a:rPr>
              <a:t>Cobertura reportada</a:t>
            </a:r>
          </a:p>
        </p:txBody>
      </p:sp>
      <p:sp>
        <p:nvSpPr>
          <p:cNvPr id="6" name="method-body-1">
            <a:extLst xmlns:a="http://schemas.openxmlformats.org/drawingml/2006/main">
              <a:ext uri="{FF2B5EF4-FFF2-40B4-BE49-F238E27FC236}">
                <a16:creationId xmlns:a16="http://schemas.microsoft.com/office/drawing/2014/main" id="{1660426F-EDEF-4AF7-A845-8FD90D190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81250"/>
            <a:ext cx="10572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20202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20202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20202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20202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20202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20202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20202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20202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20202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2020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20202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0202B"/>
                </a:solidFill>
                <a:latin typeface="Arial"/>
                <a:ea typeface="Arial"/>
                <a:cs typeface="Arial"/>
              </a:rPr>
              <a:t>Conteos agregados de beneficiarios y usuarios. La fuente no permite comprobar personas únicas ni eliminar coincidencias entre programas.</a:t>
            </a:r>
          </a:p>
        </p:txBody>
      </p:sp>
      <p:sp>
        <p:nvSpPr>
          <p:cNvPr id="7" name="method-head-2">
            <a:extLst xmlns:a="http://schemas.openxmlformats.org/drawingml/2006/main">
              <a:ext uri="{FF2B5EF4-FFF2-40B4-BE49-F238E27FC236}">
                <a16:creationId xmlns:a16="http://schemas.microsoft.com/office/drawing/2014/main" id="{1080B6DF-38E8-4480-BA34-DF1DD6B37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71850"/>
            <a:ext cx="10477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9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defPPr>
            <a:lvl1pPr>
              <a:defRPr sz="19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lvl1pPr>
            <a:lvl2pPr>
              <a:defRPr sz="19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lvl2pPr>
            <a:lvl3pPr>
              <a:defRPr sz="19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lvl3pPr>
            <a:lvl4pPr>
              <a:defRPr sz="19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lvl4pPr>
            <a:lvl5pPr>
              <a:defRPr sz="19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lvl5pPr>
            <a:lvl6pPr>
              <a:defRPr sz="19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lvl6pPr>
            <a:lvl7pPr>
              <a:defRPr sz="19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lvl7pPr>
            <a:lvl8pPr>
              <a:defRPr sz="19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lvl8pPr>
            <a:lvl9pPr>
              <a:defRPr sz="19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512F8D"/>
                </a:solidFill>
                <a:latin typeface="Arial"/>
                <a:ea typeface="Arial"/>
                <a:cs typeface="Arial"/>
              </a:rPr>
              <a:t>Montos acumulados</a:t>
            </a:r>
          </a:p>
        </p:txBody>
      </p:sp>
      <p:sp>
        <p:nvSpPr>
          <p:cNvPr id="8" name="method-body-2">
            <a:extLst xmlns:a="http://schemas.openxmlformats.org/drawingml/2006/main">
              <a:ext uri="{FF2B5EF4-FFF2-40B4-BE49-F238E27FC236}">
                <a16:creationId xmlns:a16="http://schemas.microsoft.com/office/drawing/2014/main" id="{9028004D-0C9E-47A3-962F-A6837C5BC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71900"/>
            <a:ext cx="10572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20202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20202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20202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20202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20202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20202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20202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20202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20202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2020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20202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0202B"/>
                </a:solidFill>
                <a:latin typeface="Arial"/>
                <a:ea typeface="Arial"/>
                <a:cs typeface="Arial"/>
              </a:rPr>
              <a:t>El fiscal 2026 corresponde al presupuesto del año en la fuente. El acumulado de gobierno lo incluye y añade períodos anteriores. No se suman entre sí.</a:t>
            </a:r>
          </a:p>
        </p:txBody>
      </p:sp>
      <p:sp>
        <p:nvSpPr>
          <p:cNvPr id="9" name="method-head-3">
            <a:extLst xmlns:a="http://schemas.openxmlformats.org/drawingml/2006/main">
              <a:ext uri="{FF2B5EF4-FFF2-40B4-BE49-F238E27FC236}">
                <a16:creationId xmlns:a16="http://schemas.microsoft.com/office/drawing/2014/main" id="{37A8A915-7ECB-4133-9C46-A14F769A2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0"/>
            <a:ext cx="10477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9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defPPr>
            <a:lvl1pPr>
              <a:defRPr sz="19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lvl1pPr>
            <a:lvl2pPr>
              <a:defRPr sz="19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lvl2pPr>
            <a:lvl3pPr>
              <a:defRPr sz="19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lvl3pPr>
            <a:lvl4pPr>
              <a:defRPr sz="19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lvl4pPr>
            <a:lvl5pPr>
              <a:defRPr sz="19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lvl5pPr>
            <a:lvl6pPr>
              <a:defRPr sz="19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lvl6pPr>
            <a:lvl7pPr>
              <a:defRPr sz="19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lvl7pPr>
            <a:lvl8pPr>
              <a:defRPr sz="19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lvl8pPr>
            <a:lvl9pPr>
              <a:defRPr sz="19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512F8D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512F8D"/>
                </a:solidFill>
                <a:latin typeface="Arial"/>
                <a:ea typeface="Arial"/>
                <a:cs typeface="Arial"/>
              </a:rPr>
              <a:t>Presupuesto ejecutado y unidades</a:t>
            </a:r>
          </a:p>
        </p:txBody>
      </p:sp>
      <p:sp>
        <p:nvSpPr>
          <p:cNvPr id="10" name="method-body-3">
            <a:extLst xmlns:a="http://schemas.openxmlformats.org/drawingml/2006/main">
              <a:ext uri="{FF2B5EF4-FFF2-40B4-BE49-F238E27FC236}">
                <a16:creationId xmlns:a16="http://schemas.microsoft.com/office/drawing/2014/main" id="{901EA0C3-125D-4A64-9AF6-4784152DE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62550"/>
            <a:ext cx="105727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20202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20202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20202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20202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20202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20202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20202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20202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20202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2020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20202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0202B"/>
                </a:solidFill>
                <a:latin typeface="Arial"/>
                <a:ea typeface="Arial"/>
                <a:cs typeface="Arial"/>
              </a:rPr>
              <a:t>Ejecución presupuestaria: N/D. La fuente no certifica el gasto ejecutado. Las unidades corresponden a protección integral. N/D distingue un dato ausente de un cero reportado.</a:t>
            </a:r>
          </a:p>
        </p:txBody>
      </p:sp>
    </p:spTree>
    <p:extLst>
      <p:ext uri="{BB962C8B-B14F-4D97-AF65-F5344CB8AC3E}">
        <p14:creationId xmlns:p14="http://schemas.microsoft.com/office/powerpoint/2010/main" val="210874443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9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Ministerio de Trabajo y Desarrollo Humano</dc:creator>
  <lastModifiedBy>Ministerio de Trabajo y Desarrollo Humano</lastModifiedBy>
  <dc:title>Boletín estadístico institucional</dc:title>
  <dcterms:created xsi:type="dcterms:W3CDTF">2026-10-22T15:40:36.0150000Z</dcterms:created>
  <dcterms:modified xsi:type="dcterms:W3CDTF">2026-10-22T15:40:36.0150000Z</dcterms:modified>
</coreProperties>
</file>