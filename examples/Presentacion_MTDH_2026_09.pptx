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Default Extension="xlsx" ContentType="application/vnd.openxmlformats-officedocument.spreadsheetml.sheet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charts/chart1.xml" ContentType="application/vnd.openxmlformats-officedocument.drawingml.char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charts/chart2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charts/chart3.xml" ContentType="application/vnd.openxmlformats-officedocument.drawingml.chart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charts/chart4.xml" ContentType="application/vnd.openxmlformats-officedocument.drawingml.chart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968ebbdbf4413" /><Relationship Type="http://schemas.openxmlformats.org/officeDocument/2006/relationships/extended-properties" Target="/docProps/app.xml" Id="Red87c280a3604c38" /><Relationship Type="http://schemas.openxmlformats.org/officeDocument/2006/relationships/officeDocument" Target="/ppt/presentation.xml" Id="Rcc2e1f64da79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79ed2e3e741f8"/>
  </p:sldMasterIdLst>
  <p:notesMasterIdLst>
    <p:notesMasterId xmlns:r="http://schemas.openxmlformats.org/officeDocument/2006/relationships" r:id="R6ee156926741413a"/>
  </p:notesMasterIdLst>
  <p:sldIdLst>
    <p:sldId xmlns:ns0="http://schemas.openxmlformats.org/officeDocument/2006/relationships" id="256" ns0:id="rIdReport1"/>
    <p:sldId xmlns:ns1="http://schemas.openxmlformats.org/officeDocument/2006/relationships" id="257" ns1:id="rIdReport2"/>
    <p:sldId xmlns:ns2="http://schemas.openxmlformats.org/officeDocument/2006/relationships" id="258" ns2:id="rIdReport3"/>
    <p:sldId xmlns:ns3="http://schemas.openxmlformats.org/officeDocument/2006/relationships" id="259" ns3:id="rIdReport4"/>
    <p:sldId xmlns:ns4="http://schemas.openxmlformats.org/officeDocument/2006/relationships" id="260" ns4:id="rIdReport5"/>
    <p:sldId xmlns:ns5="http://schemas.openxmlformats.org/officeDocument/2006/relationships" id="261" ns5:id="rIdReport6"/>
    <p:sldId xmlns:ns6="http://schemas.openxmlformats.org/officeDocument/2006/relationships" id="262" ns6:id="rIdReport7"/>
    <p:sldId xmlns:ns7="http://schemas.openxmlformats.org/officeDocument/2006/relationships" id="263" ns7:id="rIdReport8"/>
    <p:sldId xmlns:ns8="http://schemas.openxmlformats.org/officeDocument/2006/relationships" id="264" ns8:id="rIdReport9"/>
    <p:sldId xmlns:ns9="http://schemas.openxmlformats.org/officeDocument/2006/relationships" id="265" ns9:id="rIdReport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22c0b1a56dd474d"/><Relationship Type="http://schemas.openxmlformats.org/officeDocument/2006/relationships/slideMaster" Target="/ppt/slideMasters/slideMaster1.xml" Id="Ree479ed2e3e741f8"/><Relationship Type="http://schemas.openxmlformats.org/officeDocument/2006/relationships/notesMaster" Target="/ppt/notesMasters/notesMaster1.xml" Id="R6ee156926741413a"/><Relationship Type="http://schemas.openxmlformats.org/officeDocument/2006/relationships/presProps" Target="/ppt/presProps.xml" Id="R43a60e9eb94e4148"/><Relationship Type="http://schemas.openxmlformats.org/officeDocument/2006/relationships/tableStyles" Target="/ppt/tableStyles.xml" Id="R0c0d374c909a46bd"/><Relationship Id="rIdReport1" Type="http://schemas.openxmlformats.org/officeDocument/2006/relationships/slide" Target="/ppt/slides/slide1.xml"/><Relationship Id="rIdReport2" Type="http://schemas.openxmlformats.org/officeDocument/2006/relationships/slide" Target="/ppt/slides/slide2.xml"/><Relationship Id="rIdReport3" Type="http://schemas.openxmlformats.org/officeDocument/2006/relationships/slide" Target="/ppt/slides/slide3.xml"/><Relationship Id="rIdReport4" Type="http://schemas.openxmlformats.org/officeDocument/2006/relationships/slide" Target="/ppt/slides/slide4.xml"/><Relationship Id="rIdReport5" Type="http://schemas.openxmlformats.org/officeDocument/2006/relationships/slide" Target="/ppt/slides/slide5.xml"/><Relationship Id="rIdReport6" Type="http://schemas.openxmlformats.org/officeDocument/2006/relationships/slide" Target="/ppt/slides/slide6.xml"/><Relationship Id="rIdReport7" Type="http://schemas.openxmlformats.org/officeDocument/2006/relationships/slide" Target="/ppt/slides/slide7.xml"/><Relationship Id="rIdReport8" Type="http://schemas.openxmlformats.org/officeDocument/2006/relationships/slide" Target="/ppt/slides/slide8.xml"/><Relationship Id="rIdReport9" Type="http://schemas.openxmlformats.org/officeDocument/2006/relationships/slide" Target="/ppt/slides/slide9.xml"/><Relationship Id="rIdReport10" Type="http://schemas.openxmlformats.org/officeDocument/2006/relationships/slide" Target="/ppt/slides/slide10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6afc6a0fc4f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eee15ad0f62445c2"/><Relationship Type="http://schemas.openxmlformats.org/officeDocument/2006/relationships/notesMaster" Target="/ppt/notesMasters/notesMaster1.xml" Id="R618d79bb7c054dba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c75168966d524c46"/><Relationship Type="http://schemas.openxmlformats.org/officeDocument/2006/relationships/notesMaster" Target="/ppt/notesMasters/notesMaster1.xml" Id="Ra731fb0d99dc4b1b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25b0795c79ad4974"/><Relationship Type="http://schemas.openxmlformats.org/officeDocument/2006/relationships/notesMaster" Target="/ppt/notesMasters/notesMaster1.xml" Id="R75f6cedefea44a40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53318acff157429c"/><Relationship Type="http://schemas.openxmlformats.org/officeDocument/2006/relationships/notesMaster" Target="/ppt/notesMasters/notesMaster1.xml" Id="Rf570bd57e0bc41a9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53318acff157429c"/><Relationship Type="http://schemas.openxmlformats.org/officeDocument/2006/relationships/notesMaster" Target="/ppt/notesMasters/notesMaster1.xml" Id="Rf570bd57e0bc41a9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25b0795c79ad4974"/><Relationship Type="http://schemas.openxmlformats.org/officeDocument/2006/relationships/notesMaster" Target="/ppt/notesMasters/notesMaster1.xml" Id="R75f6cedefea44a40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25b0795c79ad4974"/><Relationship Type="http://schemas.openxmlformats.org/officeDocument/2006/relationships/notesMaster" Target="/ppt/notesMasters/notesMaster1.xml" Id="R75f6cedefea44a40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53318acff157429c"/><Relationship Type="http://schemas.openxmlformats.org/officeDocument/2006/relationships/notesMaster" Target="/ppt/notesMasters/notesMaster1.xml" Id="Rf570bd57e0bc41a9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25b0795c79ad4974"/><Relationship Type="http://schemas.openxmlformats.org/officeDocument/2006/relationships/notesMaster" Target="/ppt/notesMasters/notesMaster1.xml" Id="R75f6cedefea44a40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c75168966d524c46"/><Relationship Type="http://schemas.openxmlformats.org/officeDocument/2006/relationships/notesMaster" Target="/ppt/notesMasters/notesMaster1.xml" Id="Ra731fb0d99dc4b1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Acumulado VIS-VIE.xlsx
Beneficiarios y usuarios corresponden a conteos reportados en una base agregada. La fuente no permite comprobar personas únicas ni eliminar coincidencias entre programas.
El monto fiscal corresponde a la columna Presupuesto 2026 de la fuente. El acumulado de gobierno incluye el monto fiscal y los períodos anteriores. No deben sumarse entre sí.
Los montos no representan transferencias del mes. La fuente no certifica por sí sola el presupuesto ejecutado, que se presenta como N/D cuando no existe una validación adicional.
Las unidades corresponden a servicios de protección integral. En bonos y pensiones este indicador no aplica. N/D distingue información no disponible de un cero reportado.
Identificación del corte: Resumen_Ejecutivo_MTDH_2026_09.pdf: Septiembre 2026; totales provinciales conciliados con el boletín.
Íconos Lucide, licencia ISC: https://lucide.dev/license
Selección: a08650cd76fc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0da3946f349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5e3713bda46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4fa5f4b2a48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b940e724e42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e8aa766bb41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93ff733f4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63526F-C9BD-4349-AEDC-680D291E9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6C0B81-F584-4C34-88AD-3763F9B0AA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6017D1-17BE-4E08-B461-C992E3A31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28ABB-52BB-4657-93D7-19C27102B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855281-001B-49A3-A943-BD88DB7F2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3602D2-EE4B-40C3-8D81-54E2B16A0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0B40CE-0C11-4FC4-B850-9B79C2087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8D31ED-8CF1-4372-8372-67CAEE4E6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698B89-D8FD-47F6-A127-D20EEC99C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EDBD1C-3EF4-4006-89C7-CC83169752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264efc0b5429c" /><Relationship Type="http://schemas.openxmlformats.org/officeDocument/2006/relationships/slideLayout" Target="/ppt/slideLayouts/slideLayout1.xml" Id="R9e571078905147cf" /><Relationship Type="http://schemas.openxmlformats.org/officeDocument/2006/relationships/slideLayout" Target="/ppt/slideLayouts/slideLayout2.xml" Id="R757b7971631345b9" /><Relationship Type="http://schemas.openxmlformats.org/officeDocument/2006/relationships/slideLayout" Target="/ppt/slideLayouts/slideLayout3.xml" Id="Readb27053e184eb9" /><Relationship Type="http://schemas.openxmlformats.org/officeDocument/2006/relationships/slideLayout" Target="/ppt/slideLayouts/slideLayout4.xml" Id="R4097694794884074" /><Relationship Type="http://schemas.openxmlformats.org/officeDocument/2006/relationships/slideLayout" Target="/ppt/slideLayouts/slideLayout5.xml" Id="R993c11a0558b4d1d" /><Relationship Type="http://schemas.openxmlformats.org/officeDocument/2006/relationships/slideLayout" Target="/ppt/slideLayouts/slideLayout6.xml" Id="Reefa7334d706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71078905147cf"/>
    <p:sldLayoutId xmlns:r="http://schemas.openxmlformats.org/officeDocument/2006/relationships" id="2147483650" r:id="R757b7971631345b9"/>
    <p:sldLayoutId xmlns:r="http://schemas.openxmlformats.org/officeDocument/2006/relationships" id="2147483651" r:id="Readb27053e184eb9"/>
    <p:sldLayoutId xmlns:r="http://schemas.openxmlformats.org/officeDocument/2006/relationships" id="2147483652" r:id="R4097694794884074"/>
    <p:sldLayoutId xmlns:r="http://schemas.openxmlformats.org/officeDocument/2006/relationships" id="2147483653" r:id="R993c11a0558b4d1d"/>
    <p:sldLayoutId xmlns:r="http://schemas.openxmlformats.org/officeDocument/2006/relationships" id="2147483654" r:id="Reefa7334d706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513122c7d974a89"/><Relationship Type="http://schemas.openxmlformats.org/officeDocument/2006/relationships/image" Target="/ppt/media/image.png" Id="R20f68fde05a84aac"/><Relationship Type="http://schemas.openxmlformats.org/officeDocument/2006/relationships/notesSlide" Target="/ppt/notesSlides/notesSlide1.xml" Id="R9058842a85be4ecc"/><Relationship Id="rIdCoverMap" Type="http://schemas.openxmlformats.org/officeDocument/2006/relationships/image" Target="/ppt/media/cover_map.png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e0a014e1d44bfd"/><Relationship Type="http://schemas.openxmlformats.org/officeDocument/2006/relationships/notesSlide" Target="/ppt/notesSlides/notesSlide2.xml" Id="R69248bd07c5940ef"/><Relationship Id="rIdTerritoryMap" Type="http://schemas.openxmlformats.org/officeDocument/2006/relationships/image" Target="/ppt/media/territory_map.png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28906a8d424659"/><Relationship Type="http://schemas.openxmlformats.org/officeDocument/2006/relationships/image" Target="/ppt/media/image2.png" Id="Rd08b10a0efa14e3b"/><Relationship Type="http://schemas.openxmlformats.org/officeDocument/2006/relationships/chart" Target="/ppt/slides/charts/chart1.xml" Id="Rc62a2daff4724717"/><Relationship Type="http://schemas.openxmlformats.org/officeDocument/2006/relationships/notesSlide" Target="/ppt/notesSlides/notesSlide3.xml" Id="Rac859216be4e4e73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c52e6660884d7a"/><Relationship Type="http://schemas.openxmlformats.org/officeDocument/2006/relationships/notesSlide" Target="/ppt/notesSlides/notesSlide4.xml" Id="R65702180f11247d1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c52e6660884d7a"/><Relationship Type="http://schemas.openxmlformats.org/officeDocument/2006/relationships/notesSlide" Target="/ppt/notesSlides/notesSlide5.xml" Id="R65702180f11247d1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28906a8d424659"/><Relationship Type="http://schemas.openxmlformats.org/officeDocument/2006/relationships/image" Target="/ppt/media/image2.png" Id="Rd08b10a0efa14e3b"/><Relationship Type="http://schemas.openxmlformats.org/officeDocument/2006/relationships/chart" Target="/ppt/slides/charts/chart2.xml" Id="Rc62a2daff4724717"/><Relationship Type="http://schemas.openxmlformats.org/officeDocument/2006/relationships/notesSlide" Target="/ppt/notesSlides/notesSlide6.xml" Id="Rac859216be4e4e73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28906a8d424659"/><Relationship Type="http://schemas.openxmlformats.org/officeDocument/2006/relationships/image" Target="/ppt/media/shield-check.png" Id="Rd08b10a0efa14e3b"/><Relationship Type="http://schemas.openxmlformats.org/officeDocument/2006/relationships/chart" Target="/ppt/slides/charts/chart3.xml" Id="Rc62a2daff4724717"/><Relationship Type="http://schemas.openxmlformats.org/officeDocument/2006/relationships/notesSlide" Target="/ppt/notesSlides/notesSlide7.xml" Id="Rac859216be4e4e73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fc52e6660884d7a"/><Relationship Type="http://schemas.openxmlformats.org/officeDocument/2006/relationships/notesSlide" Target="/ppt/notesSlides/notesSlide8.xml" Id="R65702180f11247d1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28906a8d424659"/><Relationship Type="http://schemas.openxmlformats.org/officeDocument/2006/relationships/image" Target="/ppt/media/shield-check.png" Id="Rd08b10a0efa14e3b"/><Relationship Type="http://schemas.openxmlformats.org/officeDocument/2006/relationships/chart" Target="/ppt/slides/charts/chart4.xml" Id="Rc62a2daff4724717"/><Relationship Type="http://schemas.openxmlformats.org/officeDocument/2006/relationships/notesSlide" Target="/ppt/notesSlides/notesSlide9.xml" Id="Rac859216be4e4e73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e0a014e1d44bfd"/><Relationship Type="http://schemas.openxmlformats.org/officeDocument/2006/relationships/notesSlide" Target="/ppt/notesSlides/notesSlide10.xml" Id="R69248bd07c5940ef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003.xlsx"/></Relationships>
</file>

<file path=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s-EC"/>
  <c:chart>
    <c:plotArea>
      <c:barChart>
        <c:barDir val="bar"/>
        <c:grouping val="clustered"/>
        <c:varyColors val="0"/>
        <c:ser>
          <c:idx val="0"/>
          <c:order val="0"/>
          <c:tx>
            <c:v>Beneficiarios reportados</c:v>
          </c:tx>
          <c:spPr>
            <a:solidFill xmlns:a="http://schemas.openxmlformats.org/drawingml/2006/main">
              <a:srgbClr val="512F8D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50.129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72.700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164.983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303.845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367.289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619.073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Data'!$A$2:$A$7</c:f>
              <c:strCache>
                <c:ptCount val="6"/>
                <c:pt idx="0">
                  <c:v>Bono J. Gallegos Lara</c:v>
                </c:pt>
                <c:pt idx="1">
                  <c:v>Toda Una Vida</c:v>
                </c:pt>
                <c:pt idx="2">
                  <c:v>Bono 1.000 Días</c:v>
                </c:pt>
                <c:pt idx="3">
                  <c:v>Mis Mejores Años</c:v>
                </c:pt>
                <c:pt idx="4">
                  <c:v>BDH variable</c:v>
                </c:pt>
                <c:pt idx="5">
                  <c:v>BDH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50129.0</c:v>
                </c:pt>
                <c:pt idx="1">
                  <c:v>72700.0</c:v>
                </c:pt>
                <c:pt idx="2">
                  <c:v>164983.0</c:v>
                </c:pt>
                <c:pt idx="3">
                  <c:v>303845.0</c:v>
                </c:pt>
                <c:pt idx="4">
                  <c:v>367289.0</c:v>
                </c:pt>
                <c:pt idx="5">
                  <c:v>619073.0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s-EC"/>
  <c:chart>
    <c:plotArea>
      <c:barChart>
        <c:barDir val="bar"/>
        <c:grouping val="clustered"/>
        <c:varyColors val="0"/>
        <c:ser>
          <c:idx val="0"/>
          <c:order val="0"/>
          <c:tx>
            <c:v>Beneficiarios reportados</c:v>
          </c:tx>
          <c:spPr>
            <a:solidFill xmlns:a="http://schemas.openxmlformats.org/drawingml/2006/main">
              <a:srgbClr val="512F8D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59.564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66.269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66.600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104.516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107.356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126.547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214.817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312.265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Data'!$A$2:$A$9</c:f>
              <c:strCache>
                <c:ptCount val="8"/>
                <c:pt idx="0">
                  <c:v>Loja</c:v>
                </c:pt>
                <c:pt idx="1">
                  <c:v>Cotopaxi</c:v>
                </c:pt>
                <c:pt idx="2">
                  <c:v>Chimborazo</c:v>
                </c:pt>
                <c:pt idx="3">
                  <c:v>Esmeraldas</c:v>
                </c:pt>
                <c:pt idx="4">
                  <c:v>Pichincha</c:v>
                </c:pt>
                <c:pt idx="5">
                  <c:v>Los Ríos</c:v>
                </c:pt>
                <c:pt idx="6">
                  <c:v>Manabí</c:v>
                </c:pt>
                <c:pt idx="7">
                  <c:v>Guayas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59564.0</c:v>
                </c:pt>
                <c:pt idx="1">
                  <c:v>66269.0</c:v>
                </c:pt>
                <c:pt idx="2">
                  <c:v>66600.0</c:v>
                </c:pt>
                <c:pt idx="3">
                  <c:v>104516.0</c:v>
                </c:pt>
                <c:pt idx="4">
                  <c:v>107356.0</c:v>
                </c:pt>
                <c:pt idx="5">
                  <c:v>126547.0</c:v>
                </c:pt>
                <c:pt idx="6">
                  <c:v>214817.0</c:v>
                </c:pt>
                <c:pt idx="7">
                  <c:v>312265.0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s-EC"/>
  <c:chart>
    <c:plotArea>
      <c:barChart>
        <c:barDir val="bar"/>
        <c:grouping val="clustered"/>
        <c:varyColors val="0"/>
        <c:ser>
          <c:idx val="0"/>
          <c:order val="0"/>
          <c:tx>
            <c:v>Usuarios reportados</c:v>
          </c:tx>
          <c:spPr>
            <a:solidFill xmlns:a="http://schemas.openxmlformats.org/drawingml/2006/main">
              <a:srgbClr val="C33F8D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29.528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37.039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114.697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274.975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Data'!$A$2:$A$5</c:f>
              <c:strCache>
                <c:ptCount val="4"/>
                <c:pt idx="0">
                  <c:v>Protección especial</c:v>
                </c:pt>
                <c:pt idx="1">
                  <c:v>Discapacidades</c:v>
                </c:pt>
                <c:pt idx="2">
                  <c:v>Personas adultas mayores</c:v>
                </c:pt>
                <c:pt idx="3">
                  <c:v>Desarrollo infantil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29528.0</c:v>
                </c:pt>
                <c:pt idx="1">
                  <c:v>37039.0</c:v>
                </c:pt>
                <c:pt idx="2">
                  <c:v>114697.0</c:v>
                </c:pt>
                <c:pt idx="3">
                  <c:v>274975.0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s-EC"/>
  <c:chart>
    <c:plotArea>
      <c:barChart>
        <c:barDir val="bar"/>
        <c:grouping val="clustered"/>
        <c:varyColors val="0"/>
        <c:ser>
          <c:idx val="0"/>
          <c:order val="0"/>
          <c:tx>
            <c:v>Usuarios reportados</c:v>
          </c:tx>
          <c:spPr>
            <a:solidFill xmlns:a="http://schemas.openxmlformats.org/drawingml/2006/main">
              <a:srgbClr val="C33F8D"/>
            </a:solidFill>
          </c:spPr>
          <c:invertIfNegative val="0"/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21.042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21.651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22.896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24.736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25.135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33.362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57.131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 b="1">
                        <a:solidFill>
                          <a:srgbClr val="20202B"/>
                        </a:solidFill>
                        <a:latin typeface="Arial"/>
                        <a:ea typeface="Arial"/>
                        <a:cs typeface="Arial"/>
                      </a:rPr>
                      <a:t>87.943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20202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Data'!$A$2:$A$9</c:f>
              <c:strCache>
                <c:ptCount val="8"/>
                <c:pt idx="0">
                  <c:v>El Oro</c:v>
                </c:pt>
                <c:pt idx="1">
                  <c:v>Chimborazo</c:v>
                </c:pt>
                <c:pt idx="2">
                  <c:v>Esmeraldas</c:v>
                </c:pt>
                <c:pt idx="3">
                  <c:v>Loja</c:v>
                </c:pt>
                <c:pt idx="4">
                  <c:v>Los Ríos</c:v>
                </c:pt>
                <c:pt idx="5">
                  <c:v>Pichincha</c:v>
                </c:pt>
                <c:pt idx="6">
                  <c:v>Manabí</c:v>
                </c:pt>
                <c:pt idx="7">
                  <c:v>Guayas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21042.0</c:v>
                </c:pt>
                <c:pt idx="1">
                  <c:v>21651.0</c:v>
                </c:pt>
                <c:pt idx="2">
                  <c:v>22896.0</c:v>
                </c:pt>
                <c:pt idx="3">
                  <c:v>24736.0</c:v>
                </c:pt>
                <c:pt idx="4">
                  <c:v>25135.0</c:v>
                </c:pt>
                <c:pt idx="5">
                  <c:v>33362.0</c:v>
                </c:pt>
                <c:pt idx="6">
                  <c:v>57131.0</c:v>
                </c:pt>
                <c:pt idx="7">
                  <c:v>87943.0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02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12F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7C1EF-03F8-4943-BD2F-3A9DD32E2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68fde05a84aac"/>
          <a:stretch xmlns:a="http://schemas.openxmlformats.org/drawingml/2006/main"/>
        </p:blipFill>
        <p:spPr>
          <a:xfrm xmlns:a="http://schemas.openxmlformats.org/drawingml/2006/main">
            <a:off x="685800" y="552598"/>
            <a:ext cx="5905500" cy="1406546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712D6A-599E-476A-8647-C8424AB7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15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Boletín de protección social</a:t>
            </a:r>
          </a:p>
        </p:txBody>
      </p:sp>
      <p:sp>
        <p:nvSpPr>
          <p:cNvPr id="3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B1490487-8F17-4CC5-8780-E723608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615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4" name="cover-scope">
            <a:extLst xmlns:a="http://schemas.openxmlformats.org/drawingml/2006/main">
              <a:ext uri="{FF2B5EF4-FFF2-40B4-BE49-F238E27FC236}">
                <a16:creationId xmlns:a16="http://schemas.microsoft.com/office/drawing/2014/main" id="{119DB892-5038-4487-B267-CDF9BB84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615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DFF8"/>
                </a:solidFill>
                <a:latin typeface="Arial"/>
                <a:ea typeface="Arial"/>
                <a:cs typeface="Arial"/>
              </a:rPr>
              <a:t>Nacional - 24 provincias y zona en estudio</a:t>
            </a:r>
          </a:p>
        </p:txBody>
      </p:sp>
      <p:sp>
        <p:nvSpPr>
          <p:cNvPr id="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9E7E6E5B-A552-45AA-8069-6157FAEE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5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F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F8"/>
                </a:solidFill>
                <a:latin typeface="Arial"/>
                <a:ea typeface="Arial"/>
                <a:cs typeface="Arial"/>
              </a:rPr>
              <a:t>Fuente: Acumulado VIS-VIE.xlsx</a:t>
            </a:r>
          </a:p>
        </p:txBody>
      </p:sp>
      <p:pic>
        <p:nvPicPr>
          <p:cNvPr id="900" name="Mapa del Ecuador" descr="Mapa del Ecuador con la cobertura reportada por provincia"/>
          <p:cNvPicPr>
            <ns0:picLocks xmlns:ns0="http://schemas.openxmlformats.org/drawingml/2006/main" noChangeAspect="1"/>
          </p:cNvPicPr>
          <p:nvPr/>
        </p:nvPicPr>
        <p:blipFill>
          <ns1:blip xmlns:ns1="http://schemas.openxmlformats.org/drawingml/2006/main" xmlns:ns2="http://schemas.openxmlformats.org/officeDocument/2006/relationships" ns2:embed="rIdCoverMap"/>
          <ns3:stretch xmlns:ns3="http://schemas.openxmlformats.org/drawingml/2006/main">
            <ns3:fillRect/>
          </ns3:stretch>
        </p:blipFill>
        <p:spPr>
          <ns4:xfrm xmlns:ns4="http://schemas.openxmlformats.org/drawingml/2006/main">
            <ns4:off x="6980000" y="1380000"/>
            <ns4:ext cx="4620000" cy="3960000"/>
          </ns4:xfrm>
          <ns5:prstGeom xmlns:ns5="http://schemas.openxmlformats.org/drawingml/2006/main" prst="rect">
            <ns5:avLst/>
          </ns5:prstGeom>
        </p:spPr>
      </p:pic>
    </p:spTree>
    <p:extLst>
      <p:ext uri="{BB962C8B-B14F-4D97-AF65-F5344CB8AC3E}">
        <p14:creationId xmlns:p14="http://schemas.microsoft.com/office/powerpoint/2010/main" val="763867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EB87881-4BD7-4CC1-A478-5E402BA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EAA87D-ACA3-4949-A403-118B30B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Cobertura en el territorio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6A5493E-8815-4D84-ADD1-62A795A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C718EE2-72E7-4B3D-89A0-0C0DC36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method-head-1">
            <a:extLst xmlns:a="http://schemas.openxmlformats.org/drawingml/2006/main">
              <a:ext uri="{FF2B5EF4-FFF2-40B4-BE49-F238E27FC236}">
                <a16:creationId xmlns:a16="http://schemas.microsoft.com/office/drawing/2014/main" id="{5F8AD009-F4F1-4681-B562-6D55F4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1640000"/>
            <a:ext cx="495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Provincias con mayor cobertura</a:t>
            </a:r>
          </a:p>
        </p:txBody>
      </p:sp>
      <p:sp>
        <p:nvSpPr>
          <p:cNvPr id="6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1660426F-EDEF-4AF7-A845-8FD90D19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2040000"/>
            <a:ext cx="4950000" cy="2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1.  Guayas: 400.208 (19,7 %)
2.  Manabí: 271.948 (13,4 %)
3.  Los Ríos: 151.682 (7,5 %)
4.  Pichincha: 140.718 (6,9 %)
5.  Esmeraldas: 127.412 (6,3 %)
6.  Chimborazo: 88.251 (4,3 %)
7.  Loja: 84.300 (4,1 %)
8.  Cotopaxi: 82.242 (4,0 %)</a:t>
            </a:r>
          </a:p>
        </p:txBody>
      </p:sp>
      <p:sp>
        <p:nvSpPr>
          <p:cNvPr id="7" name="method-head-2">
            <a:extLst xmlns:a="http://schemas.openxmlformats.org/drawingml/2006/main">
              <a:ext uri="{FF2B5EF4-FFF2-40B4-BE49-F238E27FC236}">
                <a16:creationId xmlns:a16="http://schemas.microsoft.com/office/drawing/2014/main" id="{1080B6DF-38E8-4480-BA34-DF1DD6B3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4880000"/>
            <a:ext cx="495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Lectura territorial</a:t>
            </a:r>
          </a:p>
        </p:txBody>
      </p:sp>
      <p:sp>
        <p:nvSpPr>
          <p:cNvPr id="8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9028004D-0C9E-47A3-962F-A6837C5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5260000"/>
            <a:ext cx="49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Guayas, Manabí y Los Ríos concentran el 40,5 % de la cobertura reportada de la selección.</a:t>
            </a:r>
          </a:p>
        </p:txBody>
      </p:sp>
      <p:sp>
        <p:nvSpPr>
          <p:cNvPr id="9" name="method-head-3">
            <a:extLst xmlns:a="http://schemas.openxmlformats.org/drawingml/2006/main">
              <a:ext uri="{FF2B5EF4-FFF2-40B4-BE49-F238E27FC236}">
                <a16:creationId xmlns:a16="http://schemas.microsoft.com/office/drawing/2014/main" id="{37A8A915-7ECB-4133-9C46-A14F769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6200000"/>
            <a:ext cx="4950000" cy="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901EA0C3-125D-4A64-9AF6-4784152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0" y="6210000"/>
            <a:ext cx="4950000" cy="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901" name="Mapa territorial" descr="Mapa coroplético de la cobertura reportada por provincia"/>
          <p:cNvPicPr>
            <ns0:picLocks xmlns:ns0="http://schemas.openxmlformats.org/drawingml/2006/main" noChangeAspect="1"/>
          </p:cNvPicPr>
          <p:nvPr/>
        </p:nvPicPr>
        <p:blipFill>
          <ns1:blip xmlns:ns1="http://schemas.openxmlformats.org/drawingml/2006/main" xmlns:ns2="http://schemas.openxmlformats.org/officeDocument/2006/relationships" ns2:embed="rIdTerritoryMap"/>
          <ns3:stretch xmlns:ns3="http://schemas.openxmlformats.org/drawingml/2006/main">
            <ns3:fillRect/>
          </ns3:stretch>
        </p:blipFill>
        <p:spPr>
          <ns4:xfrm xmlns:ns4="http://schemas.openxmlformats.org/drawingml/2006/main">
            <ns4:off x="560000" y="1560000"/>
            <ns4:ext cx="5620000" cy="4770000"/>
          </ns4:xfrm>
          <ns5:prstGeom xmlns:ns5="http://schemas.openxmlformats.org/drawingml/2006/main" prst="rect">
            <ns5:avLst/>
          </ns5:prstGeom>
        </p:spPr>
      </p:pic>
    </p:spTree>
    <p:extLst>
      <p:ext uri="{BB962C8B-B14F-4D97-AF65-F5344CB8AC3E}">
        <p14:creationId xmlns:p14="http://schemas.microsoft.com/office/powerpoint/2010/main" val="2108744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2F39FF5-86E4-4158-9343-A95E1D7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80AA5-C22D-42AD-B299-AAD89EF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Bonos y pensiones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AE6F17-2045-42AD-9C3F-2D16D0B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0823AF-44F3-4A56-9FFD-18615B6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A866-1996-4A9D-ABE8-8D9D454E1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10a0efa14e3b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9D38B1-6BF5-475F-B3A0-D1FCDEB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5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Distribución por programa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E42B1-0333-452B-903A-D31420004C67}"/>
              </a:ext>
            </a:extLst>
          </p:cNvPr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a2daff4724717"/>
          </a:graphicData>
        </a:graphic>
      </p:graphicFrame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CD4D0C3D-AFF2-478D-BDA0-1BBEF6D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1.578.019</a:t>
            </a:r>
          </a:p>
        </p:txBody>
      </p:sp>
      <p:sp>
        <p:nvSpPr>
          <p:cNvPr id="9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E1CDC408-18C3-430E-B0E3-C7E3892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Beneficiarios reportados</a:t>
            </a:r>
          </a:p>
        </p:txBody>
      </p:sp>
      <p:sp>
        <p:nvSpPr>
          <p:cNvPr id="10" name="fiscal">
            <a:extLst xmlns:a="http://schemas.openxmlformats.org/drawingml/2006/main">
              <a:ext uri="{FF2B5EF4-FFF2-40B4-BE49-F238E27FC236}">
                <a16:creationId xmlns:a16="http://schemas.microsoft.com/office/drawing/2014/main" id="{1445C50D-5EC4-4DB4-896C-8C3309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1.011,25</a:t>
            </a:r>
          </a:p>
        </p:txBody>
      </p:sp>
      <p:sp>
        <p:nvSpPr>
          <p:cNvPr id="11" name="fiscal-label">
            <a:extLst xmlns:a="http://schemas.openxmlformats.org/drawingml/2006/main">
              <a:ext uri="{FF2B5EF4-FFF2-40B4-BE49-F238E27FC236}">
                <a16:creationId xmlns:a16="http://schemas.microsoft.com/office/drawing/2014/main" id="{AC386503-1134-4017-98DE-7AA63B1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fiscal 2026</a:t>
            </a:r>
          </a:p>
        </p:txBody>
      </p:sp>
      <p:sp>
        <p:nvSpPr>
          <p:cNvPr id="12" name="extra-value">
            <a:extLst xmlns:a="http://schemas.openxmlformats.org/drawingml/2006/main">
              <a:ext uri="{FF2B5EF4-FFF2-40B4-BE49-F238E27FC236}">
                <a16:creationId xmlns:a16="http://schemas.microsoft.com/office/drawing/2014/main" id="{2F36CA4E-C032-43B3-8BB7-AD21BF2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3.758,99</a:t>
            </a:r>
          </a:p>
        </p:txBody>
      </p:sp>
      <p:sp>
        <p:nvSpPr>
          <p:cNvPr id="13" name="extra-label">
            <a:extLst xmlns:a="http://schemas.openxmlformats.org/drawingml/2006/main">
              <a:ext uri="{FF2B5EF4-FFF2-40B4-BE49-F238E27FC236}">
                <a16:creationId xmlns:a16="http://schemas.microsoft.com/office/drawing/2014/main" id="{00D39701-90F9-451C-897F-269ABB6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de gobierno</a:t>
            </a:r>
          </a:p>
        </p:txBody>
      </p:sp>
      <p:sp>
        <p:nvSpPr>
          <p:cNvPr id="14" name="count-note">
            <a:extLst xmlns:a="http://schemas.openxmlformats.org/drawingml/2006/main">
              <a:ext uri="{FF2B5EF4-FFF2-40B4-BE49-F238E27FC236}">
                <a16:creationId xmlns:a16="http://schemas.microsoft.com/office/drawing/2014/main" id="{9FD4FD76-6F72-4B1E-B4E6-FA703AB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Conteos reportados. No equivalen a personas únicas verificadas.</a:t>
            </a:r>
          </a:p>
        </p:txBody>
      </p:sp>
    </p:spTree>
    <p:extLst>
      <p:ext uri="{BB962C8B-B14F-4D97-AF65-F5344CB8AC3E}">
        <p14:creationId xmlns:p14="http://schemas.microsoft.com/office/powerpoint/2010/main" val="1830354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4C4B25C-7D63-41AD-B694-D179F3C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E9AFB8-D7C6-4EC1-858A-30CA8C5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Detalle de bonos y pensiones   1 de 2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9EB817F-669A-4DEB-95C1-F699E46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EA3899E-11CC-47B3-9E6C-4C04A7F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detail-subtitle">
            <a:extLst xmlns:a="http://schemas.openxmlformats.org/drawingml/2006/main">
              <a:ext uri="{FF2B5EF4-FFF2-40B4-BE49-F238E27FC236}">
                <a16:creationId xmlns:a16="http://schemas.microsoft.com/office/drawing/2014/main" id="{CF86538F-5060-4739-A741-1654316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Presupuesto ejecutado: N/D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6688-058E-4123-8648-46B2C6BB3D9F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57350"/>
                <a:gridCol w="1295400"/>
                <a:gridCol w="1838325"/>
                <a:gridCol w="1838325"/>
              </a:tblGrid>
              <a:tr h="55245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Programa o servicio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Beneficiarios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Unidades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Fiscal 2026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Gobierno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Bono de Desarrollo Humano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619.073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270,24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1.072,51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Bono de Desarrollo Humano Variable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367.289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226,00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805,61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Pensión Mis Mejores Años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303.845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259,22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988,53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Bono 1.000 Días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164.983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84,69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263,81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269671E-030F-45B7-BC34-0EA8781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Fiscal y gobierno son acumulados superpuestos. No se suman entre sí. N/D: no disponible o no aplica.</a:t>
            </a:r>
          </a:p>
        </p:txBody>
      </p:sp>
    </p:spTree>
    <p:extLst>
      <p:ext uri="{BB962C8B-B14F-4D97-AF65-F5344CB8AC3E}">
        <p14:creationId xmlns:p14="http://schemas.microsoft.com/office/powerpoint/2010/main" val="1753284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4C4B25C-7D63-41AD-B694-D179F3C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E9AFB8-D7C6-4EC1-858A-30CA8C5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Detalle de bonos y pensiones   2 de 2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9EB817F-669A-4DEB-95C1-F699E46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EA3899E-11CC-47B3-9E6C-4C04A7F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detail-subtitle">
            <a:extLst xmlns:a="http://schemas.openxmlformats.org/drawingml/2006/main">
              <a:ext uri="{FF2B5EF4-FFF2-40B4-BE49-F238E27FC236}">
                <a16:creationId xmlns:a16="http://schemas.microsoft.com/office/drawing/2014/main" id="{CF86538F-5060-4739-A741-1654316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Presupuesto ejecutado: N/D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6688-058E-4123-8648-46B2C6BB3D9F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57350"/>
                <a:gridCol w="1295400"/>
                <a:gridCol w="1838325"/>
                <a:gridCol w="1838325"/>
              </a:tblGrid>
              <a:tr h="55245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Programa o servicio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Beneficiarios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Unidades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Fiscal 2026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Gobierno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Pensión Toda Una Vida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72.700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64,08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247,69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Bono Joaquín Gallegos Lara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50.129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107,03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380,56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Pensión para Adultos Mayores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0,21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Pensión para Personas con Discapacidad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Total de la selección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1.578.019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1.011,25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3.758,99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</a:tr>
            </a:tbl>
          </a:graphicData>
        </a:graphic>
      </p:graphicFrame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269671E-030F-45B7-BC34-0EA8781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Fiscal y gobierno son acumulados superpuestos. No se suman entre sí. N/D: no disponible o no aplica.</a:t>
            </a:r>
          </a:p>
        </p:txBody>
      </p:sp>
    </p:spTree>
    <p:extLst>
      <p:ext uri="{BB962C8B-B14F-4D97-AF65-F5344CB8AC3E}">
        <p14:creationId xmlns:p14="http://schemas.microsoft.com/office/powerpoint/2010/main" val="1753284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2F39FF5-86E4-4158-9343-A95E1D7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80AA5-C22D-42AD-B299-AAD89EF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Bonos y pensiones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AE6F17-2045-42AD-9C3F-2D16D0B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0823AF-44F3-4A56-9FFD-18615B6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A866-1996-4A9D-ABE8-8D9D454E1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10a0efa14e3b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9D38B1-6BF5-475F-B3A0-D1FCDEB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5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Las 8 provincias con mayor cobertura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E42B1-0333-452B-903A-D31420004C67}"/>
              </a:ext>
            </a:extLst>
          </p:cNvPr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a2daff4724717"/>
          </a:graphicData>
        </a:graphic>
      </p:graphicFrame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CD4D0C3D-AFF2-478D-BDA0-1BBEF6D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1.578.019</a:t>
            </a:r>
          </a:p>
        </p:txBody>
      </p:sp>
      <p:sp>
        <p:nvSpPr>
          <p:cNvPr id="9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E1CDC408-18C3-430E-B0E3-C7E3892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Beneficiarios reportados</a:t>
            </a:r>
          </a:p>
        </p:txBody>
      </p:sp>
      <p:sp>
        <p:nvSpPr>
          <p:cNvPr id="10" name="fiscal">
            <a:extLst xmlns:a="http://schemas.openxmlformats.org/drawingml/2006/main">
              <a:ext uri="{FF2B5EF4-FFF2-40B4-BE49-F238E27FC236}">
                <a16:creationId xmlns:a16="http://schemas.microsoft.com/office/drawing/2014/main" id="{1445C50D-5EC4-4DB4-896C-8C3309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1.011,25</a:t>
            </a:r>
          </a:p>
        </p:txBody>
      </p:sp>
      <p:sp>
        <p:nvSpPr>
          <p:cNvPr id="11" name="fiscal-label">
            <a:extLst xmlns:a="http://schemas.openxmlformats.org/drawingml/2006/main">
              <a:ext uri="{FF2B5EF4-FFF2-40B4-BE49-F238E27FC236}">
                <a16:creationId xmlns:a16="http://schemas.microsoft.com/office/drawing/2014/main" id="{AC386503-1134-4017-98DE-7AA63B1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fiscal 2026</a:t>
            </a:r>
          </a:p>
        </p:txBody>
      </p:sp>
      <p:sp>
        <p:nvSpPr>
          <p:cNvPr id="12" name="extra-value">
            <a:extLst xmlns:a="http://schemas.openxmlformats.org/drawingml/2006/main">
              <a:ext uri="{FF2B5EF4-FFF2-40B4-BE49-F238E27FC236}">
                <a16:creationId xmlns:a16="http://schemas.microsoft.com/office/drawing/2014/main" id="{2F36CA4E-C032-43B3-8BB7-AD21BF2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3.758,99</a:t>
            </a:r>
          </a:p>
        </p:txBody>
      </p:sp>
      <p:sp>
        <p:nvSpPr>
          <p:cNvPr id="13" name="extra-label">
            <a:extLst xmlns:a="http://schemas.openxmlformats.org/drawingml/2006/main">
              <a:ext uri="{FF2B5EF4-FFF2-40B4-BE49-F238E27FC236}">
                <a16:creationId xmlns:a16="http://schemas.microsoft.com/office/drawing/2014/main" id="{00D39701-90F9-451C-897F-269ABB6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de gobierno</a:t>
            </a:r>
          </a:p>
        </p:txBody>
      </p:sp>
      <p:sp>
        <p:nvSpPr>
          <p:cNvPr id="14" name="count-note">
            <a:extLst xmlns:a="http://schemas.openxmlformats.org/drawingml/2006/main">
              <a:ext uri="{FF2B5EF4-FFF2-40B4-BE49-F238E27FC236}">
                <a16:creationId xmlns:a16="http://schemas.microsoft.com/office/drawing/2014/main" id="{9FD4FD76-6F72-4B1E-B4E6-FA703AB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El gráfico muestra las provincias seleccionadas con mayor conteo reportado.</a:t>
            </a:r>
          </a:p>
        </p:txBody>
      </p:sp>
    </p:spTree>
    <p:extLst>
      <p:ext uri="{BB962C8B-B14F-4D97-AF65-F5344CB8AC3E}">
        <p14:creationId xmlns:p14="http://schemas.microsoft.com/office/powerpoint/2010/main" val="1830354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2F39FF5-86E4-4158-9343-A95E1D7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80AA5-C22D-42AD-B299-AAD89EF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Servicios de protección integral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AE6F17-2045-42AD-9C3F-2D16D0B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0823AF-44F3-4A56-9FFD-18615B6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A866-1996-4A9D-ABE8-8D9D454E1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10a0efa14e3b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9D38B1-6BF5-475F-B3A0-D1FCDEB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5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Distribución por servicio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E42B1-0333-452B-903A-D31420004C67}"/>
              </a:ext>
            </a:extLst>
          </p:cNvPr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a2daff4724717"/>
          </a:graphicData>
        </a:graphic>
      </p:graphicFrame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CD4D0C3D-AFF2-478D-BDA0-1BBEF6D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456.239</a:t>
            </a:r>
          </a:p>
        </p:txBody>
      </p:sp>
      <p:sp>
        <p:nvSpPr>
          <p:cNvPr id="9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E1CDC408-18C3-430E-B0E3-C7E3892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Usuarios reportados</a:t>
            </a:r>
          </a:p>
        </p:txBody>
      </p:sp>
      <p:sp>
        <p:nvSpPr>
          <p:cNvPr id="10" name="fiscal">
            <a:extLst xmlns:a="http://schemas.openxmlformats.org/drawingml/2006/main">
              <a:ext uri="{FF2B5EF4-FFF2-40B4-BE49-F238E27FC236}">
                <a16:creationId xmlns:a16="http://schemas.microsoft.com/office/drawing/2014/main" id="{1445C50D-5EC4-4DB4-896C-8C3309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168,75</a:t>
            </a:r>
          </a:p>
        </p:txBody>
      </p:sp>
      <p:sp>
        <p:nvSpPr>
          <p:cNvPr id="11" name="fiscal-label">
            <a:extLst xmlns:a="http://schemas.openxmlformats.org/drawingml/2006/main">
              <a:ext uri="{FF2B5EF4-FFF2-40B4-BE49-F238E27FC236}">
                <a16:creationId xmlns:a16="http://schemas.microsoft.com/office/drawing/2014/main" id="{AC386503-1134-4017-98DE-7AA63B1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fiscal 2026</a:t>
            </a:r>
          </a:p>
        </p:txBody>
      </p:sp>
      <p:sp>
        <p:nvSpPr>
          <p:cNvPr id="12" name="extra-value">
            <a:extLst xmlns:a="http://schemas.openxmlformats.org/drawingml/2006/main">
              <a:ext uri="{FF2B5EF4-FFF2-40B4-BE49-F238E27FC236}">
                <a16:creationId xmlns:a16="http://schemas.microsoft.com/office/drawing/2014/main" id="{2F36CA4E-C032-43B3-8BB7-AD21BF2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11.158</a:t>
            </a:r>
          </a:p>
        </p:txBody>
      </p:sp>
      <p:sp>
        <p:nvSpPr>
          <p:cNvPr id="13" name="extra-label">
            <a:extLst xmlns:a="http://schemas.openxmlformats.org/drawingml/2006/main">
              <a:ext uri="{FF2B5EF4-FFF2-40B4-BE49-F238E27FC236}">
                <a16:creationId xmlns:a16="http://schemas.microsoft.com/office/drawing/2014/main" id="{00D39701-90F9-451C-897F-269ABB6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unidades reportadas</a:t>
            </a:r>
          </a:p>
        </p:txBody>
      </p:sp>
      <p:sp>
        <p:nvSpPr>
          <p:cNvPr id="14" name="count-note">
            <a:extLst xmlns:a="http://schemas.openxmlformats.org/drawingml/2006/main">
              <a:ext uri="{FF2B5EF4-FFF2-40B4-BE49-F238E27FC236}">
                <a16:creationId xmlns:a16="http://schemas.microsoft.com/office/drawing/2014/main" id="{9FD4FD76-6F72-4B1E-B4E6-FA703AB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Conteos reportados. No equivalen a personas únicas verificadas.</a:t>
            </a:r>
          </a:p>
        </p:txBody>
      </p:sp>
    </p:spTree>
    <p:extLst>
      <p:ext uri="{BB962C8B-B14F-4D97-AF65-F5344CB8AC3E}">
        <p14:creationId xmlns:p14="http://schemas.microsoft.com/office/powerpoint/2010/main" val="1830354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4C4B25C-7D63-41AD-B694-D179F3C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E9AFB8-D7C6-4EC1-858A-30CA8C5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Detalle de protección integral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9EB817F-669A-4DEB-95C1-F699E46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EA3899E-11CC-47B3-9E6C-4C04A7F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etail-subtitle">
            <a:extLst xmlns:a="http://schemas.openxmlformats.org/drawingml/2006/main">
              <a:ext uri="{FF2B5EF4-FFF2-40B4-BE49-F238E27FC236}">
                <a16:creationId xmlns:a16="http://schemas.microsoft.com/office/drawing/2014/main" id="{CF86538F-5060-4739-A741-1654316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Presupuesto ejecutado: N/D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6688-058E-4123-8648-46B2C6BB3D9F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657350"/>
                <a:gridCol w="1295400"/>
                <a:gridCol w="1838325"/>
                <a:gridCol w="1838325"/>
              </a:tblGrid>
              <a:tr h="552450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Programa o servicio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Usuarios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Unidades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Fiscal 2026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Gobierno</a:t>
                      </a:r>
                    </a:p>
                    <a:p>
                      <a:pPr algn="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USD millones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512F8D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Desarrollo Infantil Integral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274.975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6.759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106,08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478,82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Personas adultas mayores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114.697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2.792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34,61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145,81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Personas con discapacidad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37.039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1.229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12,05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50,92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5FA"/>
                    </a:solidFill>
                  </a:tcPr>
                </a:tc>
              </a:tr>
              <a:tr h="60007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Protección Especial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29.528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378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16,01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77,85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Total de la selección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456.239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11.158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168,75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20202B"/>
                          </a:solidFill>
                          <a:latin typeface="Arial"/>
                          <a:ea typeface="Arial"/>
                          <a:cs typeface="Arial"/>
                        </a:rPr>
                        <a:t>753,41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5F3"/>
                    </a:solidFill>
                  </a:tcPr>
                </a:tc>
              </a:tr>
            </a:tbl>
          </a:graphicData>
        </a:graphic>
      </p:graphicFrame>
      <p:sp>
        <p:nvSpPr>
          <p:cNvPr id="7" name="detail-note">
            <a:extLst xmlns:a="http://schemas.openxmlformats.org/drawingml/2006/main">
              <a:ext uri="{FF2B5EF4-FFF2-40B4-BE49-F238E27FC236}">
                <a16:creationId xmlns:a16="http://schemas.microsoft.com/office/drawing/2014/main" id="{5269671E-030F-45B7-BC34-0EA8781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Fiscal y gobierno son acumulados superpuestos. No se suman entre sí. N/D: no disponible o no aplica.</a:t>
            </a:r>
          </a:p>
        </p:txBody>
      </p:sp>
    </p:spTree>
    <p:extLst>
      <p:ext uri="{BB962C8B-B14F-4D97-AF65-F5344CB8AC3E}">
        <p14:creationId xmlns:p14="http://schemas.microsoft.com/office/powerpoint/2010/main" val="1753284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2F39FF5-86E4-4158-9343-A95E1D7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080AA5-C22D-42AD-B299-AAD89EF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Servicios de protección integral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AAE6F17-2045-42AD-9C3F-2D16D0B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50823AF-44F3-4A56-9FFD-18615B6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6A866-1996-4A9D-ABE8-8D9D454E1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b10a0efa14e3b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19D38B1-6BF5-475F-B3A0-D1FCDEB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57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Las 8 provincias con mayor cobertura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16E42B1-0333-452B-903A-D31420004C67}"/>
              </a:ext>
            </a:extLst>
          </p:cNvPr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2a2daff4724717"/>
          </a:graphicData>
        </a:graphic>
      </p:graphicFrame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CD4D0C3D-AFF2-478D-BDA0-1BBEF6D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456.239</a:t>
            </a:r>
          </a:p>
        </p:txBody>
      </p:sp>
      <p:sp>
        <p:nvSpPr>
          <p:cNvPr id="9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E1CDC408-18C3-430E-B0E3-C7E3892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Usuarios reportados</a:t>
            </a:r>
          </a:p>
        </p:txBody>
      </p:sp>
      <p:sp>
        <p:nvSpPr>
          <p:cNvPr id="10" name="fiscal">
            <a:extLst xmlns:a="http://schemas.openxmlformats.org/drawingml/2006/main">
              <a:ext uri="{FF2B5EF4-FFF2-40B4-BE49-F238E27FC236}">
                <a16:creationId xmlns:a16="http://schemas.microsoft.com/office/drawing/2014/main" id="{1445C50D-5EC4-4DB4-896C-8C3309C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23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USD 168,75</a:t>
            </a:r>
          </a:p>
        </p:txBody>
      </p:sp>
      <p:sp>
        <p:nvSpPr>
          <p:cNvPr id="11" name="fiscal-label">
            <a:extLst xmlns:a="http://schemas.openxmlformats.org/drawingml/2006/main">
              <a:ext uri="{FF2B5EF4-FFF2-40B4-BE49-F238E27FC236}">
                <a16:creationId xmlns:a16="http://schemas.microsoft.com/office/drawing/2014/main" id="{AC386503-1134-4017-98DE-7AA63B19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millones en el acumulado fiscal 2026</a:t>
            </a:r>
          </a:p>
        </p:txBody>
      </p:sp>
      <p:sp>
        <p:nvSpPr>
          <p:cNvPr id="12" name="extra-value">
            <a:extLst xmlns:a="http://schemas.openxmlformats.org/drawingml/2006/main">
              <a:ext uri="{FF2B5EF4-FFF2-40B4-BE49-F238E27FC236}">
                <a16:creationId xmlns:a16="http://schemas.microsoft.com/office/drawing/2014/main" id="{2F36CA4E-C032-43B3-8BB7-AD21BF2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11.158</a:t>
            </a:r>
          </a:p>
        </p:txBody>
      </p:sp>
      <p:sp>
        <p:nvSpPr>
          <p:cNvPr id="13" name="extra-label">
            <a:extLst xmlns:a="http://schemas.openxmlformats.org/drawingml/2006/main">
              <a:ext uri="{FF2B5EF4-FFF2-40B4-BE49-F238E27FC236}">
                <a16:creationId xmlns:a16="http://schemas.microsoft.com/office/drawing/2014/main" id="{00D39701-90F9-451C-897F-269ABB6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unidades reportadas</a:t>
            </a:r>
          </a:p>
        </p:txBody>
      </p:sp>
      <p:sp>
        <p:nvSpPr>
          <p:cNvPr id="14" name="count-note">
            <a:extLst xmlns:a="http://schemas.openxmlformats.org/drawingml/2006/main">
              <a:ext uri="{FF2B5EF4-FFF2-40B4-BE49-F238E27FC236}">
                <a16:creationId xmlns:a16="http://schemas.microsoft.com/office/drawing/2014/main" id="{9FD4FD76-6F72-4B1E-B4E6-FA703AB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El gráfico muestra las provincias seleccionadas con mayor conteo reportado.</a:t>
            </a:r>
          </a:p>
        </p:txBody>
      </p:sp>
    </p:spTree>
    <p:extLst>
      <p:ext uri="{BB962C8B-B14F-4D97-AF65-F5344CB8AC3E}">
        <p14:creationId xmlns:p14="http://schemas.microsoft.com/office/powerpoint/2010/main" val="1830354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EB87881-4BD7-4CC1-A478-5E402BA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EAA87D-ACA3-4949-A403-118B30B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02B"/>
                </a:solidFill>
                <a:latin typeface="Arial"/>
                <a:ea typeface="Arial"/>
                <a:cs typeface="Arial"/>
              </a:rPr>
              <a:t>Alcance y lectura de las cifras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6A5493E-8815-4D84-ADD1-62A795A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MTDH   Septiembre 2026   Nacional - 24 provincias y zona en estudio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C718EE2-72E7-4B3D-89A0-0C0DC36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770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7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ethod-head-1">
            <a:extLst xmlns:a="http://schemas.openxmlformats.org/drawingml/2006/main">
              <a:ext uri="{FF2B5EF4-FFF2-40B4-BE49-F238E27FC236}">
                <a16:creationId xmlns:a16="http://schemas.microsoft.com/office/drawing/2014/main" id="{5F8AD009-F4F1-4681-B562-6D55F4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Cobertura reportada</a:t>
            </a:r>
          </a:p>
        </p:txBody>
      </p:sp>
      <p:sp>
        <p:nvSpPr>
          <p:cNvPr id="6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1660426F-EDEF-4AF7-A845-8FD90D19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Conteos agregados de beneficiarios y usuarios. La fuente no permite comprobar personas únicas ni eliminar coincidencias entre programas.</a:t>
            </a:r>
          </a:p>
        </p:txBody>
      </p:sp>
      <p:sp>
        <p:nvSpPr>
          <p:cNvPr id="7" name="method-head-2">
            <a:extLst xmlns:a="http://schemas.openxmlformats.org/drawingml/2006/main">
              <a:ext uri="{FF2B5EF4-FFF2-40B4-BE49-F238E27FC236}">
                <a16:creationId xmlns:a16="http://schemas.microsoft.com/office/drawing/2014/main" id="{1080B6DF-38E8-4480-BA34-DF1DD6B3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Montos acumulados</a:t>
            </a:r>
          </a:p>
        </p:txBody>
      </p:sp>
      <p:sp>
        <p:nvSpPr>
          <p:cNvPr id="8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9028004D-0C9E-47A3-962F-A6837C5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El fiscal 2026 corresponde al presupuesto del año en la fuente. El acumulado de gobierno lo incluye y añade períodos anteriores. No se suman entre sí.</a:t>
            </a:r>
          </a:p>
        </p:txBody>
      </p:sp>
      <p:sp>
        <p:nvSpPr>
          <p:cNvPr id="9" name="method-head-3">
            <a:extLst xmlns:a="http://schemas.openxmlformats.org/drawingml/2006/main">
              <a:ext uri="{FF2B5EF4-FFF2-40B4-BE49-F238E27FC236}">
                <a16:creationId xmlns:a16="http://schemas.microsoft.com/office/drawing/2014/main" id="{37A8A915-7ECB-4133-9C46-A14F769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12F8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12F8D"/>
                </a:solidFill>
                <a:latin typeface="Arial"/>
                <a:ea typeface="Arial"/>
                <a:cs typeface="Arial"/>
              </a:rPr>
              <a:t>Presupuesto ejecutado y unidades</a:t>
            </a:r>
          </a:p>
        </p:txBody>
      </p:sp>
      <p:sp>
        <p:nvSpPr>
          <p:cNvPr id="10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901EA0C3-125D-4A64-9AF6-4784152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0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B"/>
                </a:solidFill>
                <a:latin typeface="Arial"/>
                <a:ea typeface="Arial"/>
                <a:cs typeface="Arial"/>
              </a:rPr>
              <a:t>Ejecución presupuestaria: N/D. La fuente no certifica el gasto ejecutado. Las unidades corresponden a protección integral. N/D distingue un dato ausente de un cero reportado.</a:t>
            </a:r>
          </a:p>
        </p:txBody>
      </p:sp>
    </p:spTree>
    <p:extLst>
      <p:ext uri="{BB962C8B-B14F-4D97-AF65-F5344CB8AC3E}">
        <p14:creationId xmlns:p14="http://schemas.microsoft.com/office/powerpoint/2010/main" val="2108744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Ministerio de Trabajo y Desarrollo Humano</dc:creator>
  <lastModifiedBy>Ministerio de Trabajo y Desarrollo Humano</lastModifiedBy>
  <dc:title>Boletín de protección social</dc:title>
  <dcterms:created xsi:type="dcterms:W3CDTF">2026-10-22T15:40:36.0150000Z</dcterms:created>
  <dcterms:modified xsi:type="dcterms:W3CDTF">2026-10-22T15:40:36.0150000Z</dcterms:modified>
</coreProperties>
</file>