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Alertas</c:v>
                </c:pt>
              </c:strCache>
            </c:strRef>
          </c:tx>
          <c:spPr>
            <a:solidFill>
              <a:srgbClr val="5A369A"/>
            </a:solidFill>
          </c:spPr>
          <c:cat>
            <c:strRef>
              <c:f>Sheet1!$A$2:$A$4</c:f>
              <c:strCache>
                <c:ptCount val="3"/>
                <c:pt idx="0">
                  <c:v>Guayas</c:v>
                </c:pt>
                <c:pt idx="1">
                  <c:v>El Oro</c:v>
                </c:pt>
                <c:pt idx="2">
                  <c:v>Manabí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6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 b="1">
                  <a:solidFill>
                    <a:srgbClr val="20202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0202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Alertas</c:v>
                </c:pt>
              </c:strCache>
            </c:strRef>
          </c:tx>
          <c:spPr>
            <a:solidFill>
              <a:srgbClr val="5A369A"/>
            </a:solidFill>
          </c:spPr>
          <c:cat>
            <c:strRef>
              <c:f>Sheet1!$A$2:$A$3</c:f>
              <c:strCache>
                <c:ptCount val="2"/>
                <c:pt idx="0">
                  <c:v>Desarrollo Infantil</c:v>
                </c:pt>
                <c:pt idx="1">
                  <c:v>Creciendo con Nuestros Hijos (CNH)</c:v>
                </c:pt>
              </c:strCache>
            </c:strRef>
          </c:cat>
          <c:val>
            <c:numRef>
              <c:f>Sheet1!$B$2:$B$3</c:f>
              <c:numCache>
                <c:formatCode>#,##0</c:formatCode>
                <c:ptCount val="2"/>
                <c:pt idx="0">
                  <c:v>8</c:v>
                </c:pt>
                <c:pt idx="1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 b="1">
                  <a:solidFill>
                    <a:srgbClr val="20202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0202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Acumuladas</c:v>
                </c:pt>
              </c:strCache>
            </c:strRef>
          </c:tx>
          <c:spPr>
            <a:ln w="28575">
              <a:solidFill>
                <a:srgbClr val="512F8D"/>
              </a:solidFill>
            </a:ln>
          </c:spPr>
          <c:marker>
            <c:symbol val="circle"/>
            <c:size val="7"/>
            <c:spPr>
              <a:solidFill>
                <a:srgbClr val="512F8D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Sheet1!$A$2:$A$44</c:f>
              <c:strCache>
                <c:ptCount val="43"/>
                <c:pt idx="0">
                  <c:v>14/09</c:v>
                </c:pt>
                <c:pt idx="1">
                  <c:v>15/09</c:v>
                </c:pt>
                <c:pt idx="2">
                  <c:v>16/09</c:v>
                </c:pt>
                <c:pt idx="3">
                  <c:v>17/09</c:v>
                </c:pt>
                <c:pt idx="4">
                  <c:v>18/09</c:v>
                </c:pt>
                <c:pt idx="5">
                  <c:v>19/09</c:v>
                </c:pt>
                <c:pt idx="6">
                  <c:v>20/09</c:v>
                </c:pt>
                <c:pt idx="7">
                  <c:v>21/09</c:v>
                </c:pt>
                <c:pt idx="8">
                  <c:v>22/09</c:v>
                </c:pt>
                <c:pt idx="9">
                  <c:v>23/09</c:v>
                </c:pt>
                <c:pt idx="10">
                  <c:v>24/09</c:v>
                </c:pt>
                <c:pt idx="11">
                  <c:v>25/09</c:v>
                </c:pt>
                <c:pt idx="12">
                  <c:v>26/09</c:v>
                </c:pt>
                <c:pt idx="13">
                  <c:v>27/09</c:v>
                </c:pt>
                <c:pt idx="14">
                  <c:v>28/09</c:v>
                </c:pt>
                <c:pt idx="15">
                  <c:v>29/09</c:v>
                </c:pt>
                <c:pt idx="16">
                  <c:v>30/09</c:v>
                </c:pt>
                <c:pt idx="17">
                  <c:v>01/10</c:v>
                </c:pt>
                <c:pt idx="18">
                  <c:v>02/10</c:v>
                </c:pt>
                <c:pt idx="19">
                  <c:v>03/10</c:v>
                </c:pt>
                <c:pt idx="20">
                  <c:v>04/10</c:v>
                </c:pt>
                <c:pt idx="21">
                  <c:v>05/10</c:v>
                </c:pt>
                <c:pt idx="22">
                  <c:v>06/10</c:v>
                </c:pt>
                <c:pt idx="23">
                  <c:v>07/10</c:v>
                </c:pt>
                <c:pt idx="24">
                  <c:v>08/10</c:v>
                </c:pt>
                <c:pt idx="25">
                  <c:v>09/10</c:v>
                </c:pt>
                <c:pt idx="26">
                  <c:v>10/10</c:v>
                </c:pt>
                <c:pt idx="27">
                  <c:v>11/10</c:v>
                </c:pt>
                <c:pt idx="28">
                  <c:v>12/10</c:v>
                </c:pt>
                <c:pt idx="29">
                  <c:v>13/10</c:v>
                </c:pt>
                <c:pt idx="30">
                  <c:v>14/10</c:v>
                </c:pt>
                <c:pt idx="31">
                  <c:v>15/10</c:v>
                </c:pt>
                <c:pt idx="32">
                  <c:v>16/10</c:v>
                </c:pt>
                <c:pt idx="33">
                  <c:v>17/10</c:v>
                </c:pt>
                <c:pt idx="34">
                  <c:v>18/10</c:v>
                </c:pt>
                <c:pt idx="35">
                  <c:v>19/10</c:v>
                </c:pt>
                <c:pt idx="36">
                  <c:v>20/10</c:v>
                </c:pt>
                <c:pt idx="37">
                  <c:v>21/10</c:v>
                </c:pt>
                <c:pt idx="38">
                  <c:v>22/10</c:v>
                </c:pt>
                <c:pt idx="39">
                  <c:v>23/10</c:v>
                </c:pt>
                <c:pt idx="40">
                  <c:v>24/10</c:v>
                </c:pt>
                <c:pt idx="41">
                  <c:v>25/10</c:v>
                </c:pt>
                <c:pt idx="42">
                  <c:v>26/10</c:v>
                </c:pt>
              </c:strCache>
            </c:strRef>
          </c:cat>
          <c:val>
            <c:numRef>
              <c:f>Sheet1!$B$2:$B$44</c:f>
              <c:numCache>
                <c:formatCode>#,##0</c:formatCode>
                <c:ptCount val="4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4</c:v>
                </c:pt>
                <c:pt idx="36">
                  <c:v>10</c:v>
                </c:pt>
                <c:pt idx="37">
                  <c:v>10</c:v>
                </c:pt>
                <c:pt idx="38">
                  <c:v>10</c:v>
                </c:pt>
                <c:pt idx="39">
                  <c:v>10</c:v>
                </c:pt>
                <c:pt idx="40">
                  <c:v>10</c:v>
                </c:pt>
                <c:pt idx="41">
                  <c:v>10</c:v>
                </c:pt>
                <c:pt idx="42">
                  <c:v>10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Registradas en el día</c:v>
                </c:pt>
              </c:strCache>
            </c:strRef>
          </c:tx>
          <c:spPr>
            <a:ln w="19050">
              <a:solidFill>
                <a:srgbClr val="F8C018"/>
              </a:solidFill>
              <a:prstDash val="dash"/>
            </a:ln>
          </c:spPr>
          <c:marker>
            <c:symbol val="none"/>
            <c:size val="7"/>
            <c:spPr>
              <a:solidFill>
                <a:srgbClr val="F8C018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Sheet1!$A$2:$A$44</c:f>
              <c:strCache>
                <c:ptCount val="43"/>
                <c:pt idx="0">
                  <c:v>14/09</c:v>
                </c:pt>
                <c:pt idx="1">
                  <c:v>15/09</c:v>
                </c:pt>
                <c:pt idx="2">
                  <c:v>16/09</c:v>
                </c:pt>
                <c:pt idx="3">
                  <c:v>17/09</c:v>
                </c:pt>
                <c:pt idx="4">
                  <c:v>18/09</c:v>
                </c:pt>
                <c:pt idx="5">
                  <c:v>19/09</c:v>
                </c:pt>
                <c:pt idx="6">
                  <c:v>20/09</c:v>
                </c:pt>
                <c:pt idx="7">
                  <c:v>21/09</c:v>
                </c:pt>
                <c:pt idx="8">
                  <c:v>22/09</c:v>
                </c:pt>
                <c:pt idx="9">
                  <c:v>23/09</c:v>
                </c:pt>
                <c:pt idx="10">
                  <c:v>24/09</c:v>
                </c:pt>
                <c:pt idx="11">
                  <c:v>25/09</c:v>
                </c:pt>
                <c:pt idx="12">
                  <c:v>26/09</c:v>
                </c:pt>
                <c:pt idx="13">
                  <c:v>27/09</c:v>
                </c:pt>
                <c:pt idx="14">
                  <c:v>28/09</c:v>
                </c:pt>
                <c:pt idx="15">
                  <c:v>29/09</c:v>
                </c:pt>
                <c:pt idx="16">
                  <c:v>30/09</c:v>
                </c:pt>
                <c:pt idx="17">
                  <c:v>01/10</c:v>
                </c:pt>
                <c:pt idx="18">
                  <c:v>02/10</c:v>
                </c:pt>
                <c:pt idx="19">
                  <c:v>03/10</c:v>
                </c:pt>
                <c:pt idx="20">
                  <c:v>04/10</c:v>
                </c:pt>
                <c:pt idx="21">
                  <c:v>05/10</c:v>
                </c:pt>
                <c:pt idx="22">
                  <c:v>06/10</c:v>
                </c:pt>
                <c:pt idx="23">
                  <c:v>07/10</c:v>
                </c:pt>
                <c:pt idx="24">
                  <c:v>08/10</c:v>
                </c:pt>
                <c:pt idx="25">
                  <c:v>09/10</c:v>
                </c:pt>
                <c:pt idx="26">
                  <c:v>10/10</c:v>
                </c:pt>
                <c:pt idx="27">
                  <c:v>11/10</c:v>
                </c:pt>
                <c:pt idx="28">
                  <c:v>12/10</c:v>
                </c:pt>
                <c:pt idx="29">
                  <c:v>13/10</c:v>
                </c:pt>
                <c:pt idx="30">
                  <c:v>14/10</c:v>
                </c:pt>
                <c:pt idx="31">
                  <c:v>15/10</c:v>
                </c:pt>
                <c:pt idx="32">
                  <c:v>16/10</c:v>
                </c:pt>
                <c:pt idx="33">
                  <c:v>17/10</c:v>
                </c:pt>
                <c:pt idx="34">
                  <c:v>18/10</c:v>
                </c:pt>
                <c:pt idx="35">
                  <c:v>19/10</c:v>
                </c:pt>
                <c:pt idx="36">
                  <c:v>20/10</c:v>
                </c:pt>
                <c:pt idx="37">
                  <c:v>21/10</c:v>
                </c:pt>
                <c:pt idx="38">
                  <c:v>22/10</c:v>
                </c:pt>
                <c:pt idx="39">
                  <c:v>23/10</c:v>
                </c:pt>
                <c:pt idx="40">
                  <c:v>24/10</c:v>
                </c:pt>
                <c:pt idx="41">
                  <c:v>25/10</c:v>
                </c:pt>
                <c:pt idx="42">
                  <c:v>26/10</c:v>
                </c:pt>
              </c:strCache>
            </c:strRef>
          </c:cat>
          <c:val>
            <c:numRef>
              <c:f>Sheet1!$C$2:$C$44</c:f>
              <c:numCache>
                <c:formatCode>#,##0</c:formatCode>
                <c:ptCount val="4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2</c:v>
                </c:pt>
                <c:pt idx="33">
                  <c:v>0</c:v>
                </c:pt>
                <c:pt idx="34">
                  <c:v>0</c:v>
                </c:pt>
                <c:pt idx="35">
                  <c:v>2</c:v>
                </c:pt>
                <c:pt idx="36">
                  <c:v>6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8D0F4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>
          <c:spPr>
            <a:ln>
              <a:solidFill>
                <a:srgbClr val="EEEAF4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6E6880"/>
                </a:solidFill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20202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Alertas con código UA: 10. Kits entregados: 802. Núcleos con bono gestionado: 113. Monto de bonos gestionados: USD 33.200,80. 10 alertas con 10 códigos UA distintos: 8 Desarrollo Infantil; 2 Creciendo con Nuestros Hijos (CNH). 8 con afectación documentada y 2 por confirmar. Se excluyen los registros sin código UA; el código por sí solo no confirma una afectación.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reporte ministerial de kits; ayuda memoria del bono de contingencia.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reporte ministerial de kits; ayuda memoria del bono de contingencia.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reporte ministerial de kits; ayuda memoria del bono de contingencia.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reporte ministerial de kits; ayuda memoria del bono de contingencia.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reporte ministerial de kits; ayuda memoria del bono de contingencia.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reporte ministerial de kits; ayuda memoria del bono de contingencia.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reporte ministerial de kits; ayuda memoria del bono de contingencia.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reporte ministerial de kits; ayuda memoria del bono de contingencia.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Relationship Id="rId4" Type="http://schemas.openxmlformats.org/officeDocument/2006/relationships/chart" Target="../charts/chart1.xml"/><Relationship Id="rId5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Relationship Id="rId4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92040" cy="6858000"/>
          </a:xfrm>
          <a:prstGeom prst="rect">
            <a:avLst/>
          </a:prstGeom>
          <a:gradFill rotWithShape="1">
            <a:gsLst>
              <a:gs pos="0">
                <a:srgbClr val="1E0F3B"/>
              </a:gs>
              <a:gs pos="100000">
                <a:srgbClr val="512F8D"/>
              </a:gs>
            </a:gsLst>
            <a:lin scaled="0" ang="36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700" y="3675887"/>
            <a:ext cx="2072640" cy="1828800"/>
          </a:xfrm>
          <a:prstGeom prst="rect">
            <a:avLst/>
          </a:prstGeom>
        </p:spPr>
      </p:pic>
      <p:pic>
        <p:nvPicPr>
          <p:cNvPr id="4" name="Picture 3" descr="mtd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384048"/>
            <a:ext cx="2533861" cy="603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37160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8C018"/>
                </a:solidFill>
                <a:latin typeface="Calibri"/>
              </a:rPr>
              <a:t>Del 14/09/2026 al 26/10/2026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406908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200" b="1">
                <a:solidFill>
                  <a:srgbClr val="FFFFFF"/>
                </a:solidFill>
                <a:latin typeface="Century Gothic"/>
              </a:rPr>
              <a:t>Riesgos · Respuesta del Ministerio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182112"/>
            <a:ext cx="822960" cy="64008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310128"/>
            <a:ext cx="4023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E4DBF3"/>
                </a:solidFill>
                <a:latin typeface="Calibri"/>
              </a:rPr>
              <a:t>Nacional · Todos los servicios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96128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Corte: Respuesta al 26/10/2026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Actualizado el 26 de octubre de 2026, 16:44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Según cortes recibidos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8C018"/>
                </a:solidFill>
                <a:latin typeface="Century Gothic"/>
              </a:rPr>
              <a:t>El corazón de Ecuador. </a:t>
            </a:r>
            <a:r>
              <a:rPr sz="1050" b="0">
                <a:solidFill>
                  <a:srgbClr val="E4DBF3"/>
                </a:solidFill>
                <a:latin typeface="Calibri"/>
              </a:rPr>
              <a:t>Velamos por la calidad de vida de los ecuatorianos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566928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Cifras clave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024128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Riesgos · Del 14/09/2026 al 26/10/2026 · Nacional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49240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49240" y="1901952"/>
            <a:ext cx="64008" cy="1664207"/>
          </a:xfrm>
          <a:prstGeom prst="rect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641848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shield-bl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1751" y="2060143"/>
            <a:ext cx="341985" cy="34198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Alertas con código UA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78424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Registros distintos · desde 14/09/2026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95944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95944" y="1901952"/>
            <a:ext cx="64008" cy="1664207"/>
          </a:xfrm>
          <a:prstGeom prst="rect">
            <a:avLst/>
          </a:prstGeom>
          <a:solidFill>
            <a:srgbClr val="7657B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988552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life-buoy-blan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8455" y="2060143"/>
            <a:ext cx="341985" cy="34198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747504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Kits entregados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5128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802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4 provincias priorizadas · 24 y 25/10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9240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49240" y="4370832"/>
            <a:ext cx="64008" cy="1664207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41848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hand-coins-blan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1751" y="4529023"/>
            <a:ext cx="341985" cy="34198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00800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Núcleos con bono gestionado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78424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78424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Por inundaciones · gestión del bono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95944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95944" y="4370832"/>
            <a:ext cx="64008" cy="1664207"/>
          </a:xfrm>
          <a:prstGeom prst="rect">
            <a:avLst/>
          </a:prstGeom>
          <a:solidFill>
            <a:srgbClr val="C33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88552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banknote-blanc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8455" y="4529023"/>
            <a:ext cx="341985" cy="341985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747504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Monto de bonos gestionados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25128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USD 33.200,80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25128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Corte del bono: 23/10/2026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9240" y="6473952"/>
            <a:ext cx="4892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reportes de kits y bono de contingencia · Generado el 26 de octubre de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Alertas por provincia y servicio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reportes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2 /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2588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Alertas por provincia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02920" y="1828800"/>
          <a:ext cx="5303520" cy="34747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132588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Alertas por servicio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217920" y="1828800"/>
          <a:ext cx="5303520" cy="34747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02920" y="5532120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10 alertas con 10 códigos UA distintos: 8 Desarrollo Infantil; 2 Creciendo con Nuestros Hijos (CNH). 8 con afectación documentada y 2 por confirmar. Se excluyen los registros sin código UA; el código por sí solo no confirma una afectación.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Evolución de las alertas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reportes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3 / 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02920" y="1371600"/>
          <a:ext cx="11155680" cy="44805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589788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Fecha de registro de la alerta; seguimiento desde 14/09/2026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Alertas con código UA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reportes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4 / 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71600"/>
          <a:ext cx="11155679" cy="4434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0160"/>
                <a:gridCol w="2743200"/>
                <a:gridCol w="1234440"/>
                <a:gridCol w="4069079"/>
                <a:gridCol w="1097280"/>
                <a:gridCol w="7315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registro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Afectación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Prioridad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ALT-2026-000325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GOTITA DEL AMOR
UA: 62210
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 en la unidad; sin energía ni agua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ALT-2026-000323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PEQUEÑOS ANGELITOS
UA: 14294
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 y goteras en la unidad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ALT-2026-000322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NIÑOS JUGUETONES
UA: 13916
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Agua dentro y fuera de la unidad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ALT-2026-000321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PEQUEÑOS JILGUERITOS
UA: 62208
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Acumulación de agua en la entrada de la unidad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ALT-2026-000319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ESTRELLITA DE MAR
UA: 60221
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agua; cambio temporal a modalidad virtual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587959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0202B"/>
                </a:solidFill>
                <a:latin typeface="Calibri"/>
              </a:rPr>
              <a:t>En el corte nacional hay 10 alertas con 10 códigos UA distintos: 8 con afectación documentada y 2 por confirmar. ALT-2026-000315 y ALT-2026-000316 (Tenguel) tienen código UA, pero el relato solo describe inundación territorial; no se presentan como daños confirmados al servicio.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Alertas con código UA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reportes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5 / 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71600"/>
          <a:ext cx="11155679" cy="4434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0160"/>
                <a:gridCol w="2743200"/>
                <a:gridCol w="1234440"/>
                <a:gridCol w="4069079"/>
                <a:gridCol w="1097280"/>
                <a:gridCol w="7315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registro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Afectación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Prioridad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ALT-2026-000318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SUPER NIÑO
UA: 60220
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agua; cambio temporal a modalidad virtual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ALT-2026-000316
19/10/2026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NIÑOS DE SAN RAFAEL
UA: 58337
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Alerta por inundación en Tenguel vinculada a la UA; afectación al servicio por confirmar.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ALT-2026-000315
19/10/2026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LOS NIÑOS DEL CISNE
UA: 58336
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Alerta por inundación en Tenguel vinculada a la UA; afectación al servicio por confirmar.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ALT-2026-000310
16/10/2026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 ESTRELLITAS DEL AMANECER
UA: 56744
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Flavio Alfaro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 impedido para atención presencial; contacto telefónico temporal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ALT-2026-000309
16/10/2026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CORREO INFANTIL
UA: 56204
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Flavio Alfaro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 impedido para atención presencial; contacto telefónico temporal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587959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0202B"/>
                </a:solidFill>
                <a:latin typeface="Calibri"/>
              </a:rPr>
              <a:t>En el corte nacional hay 10 alertas con 10 códigos UA distintos: 8 con afectación documentada y 2 por confirmar. ALT-2026-000315 y ALT-2026-000316 (Tenguel) tienen código UA, pero el relato solo describe inundación territorial; no se presentan como daños confirmados al servicio.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Acciones del Ministerio en cada provincia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reportes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6 / 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71600"/>
          <a:ext cx="11155679" cy="4114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26279"/>
                <a:gridCol w="685800"/>
                <a:gridCol w="1371600"/>
                <a:gridCol w="1463040"/>
                <a:gridCol w="155448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Provincia / cantones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Bono gestionado (núcleos)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Monto (USD)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En articulación (personas)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Monto (USD)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Azuay
Cuenca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303,99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55.022,19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Esmeraldas
Esmeraldas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530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160.558,20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Guayas
Guayaquil, Milagro, Palestina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19.264,51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344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104.246,01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Imbabura
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1.519,95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Los Ríos
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33.033,06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Manabí
Flavio Alfaro, Portoviejo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13.632,30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Total
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802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33.200,80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1.169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354.379,41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5623560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20202B"/>
                </a:solidFill>
                <a:latin typeface="Calibri"/>
              </a:rPr>
              <a:t>La ayuda memoria no identifica pagos exclusivamente atribuibles a ENOS ni fechas individuales para recortar desde el 14/09. Se muestran únicamente las filas de inundación como referencia: pagos gestionados desde el 29/08 y casos en articulación al 23/10. Articulación no equivale a pago. Las proyecciones corresponden a planificación nacional 2026–2027.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Kits y planificación del bono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reportes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7 /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Kits en provincias priorizadas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783080"/>
          <a:ext cx="6400800" cy="36027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51560"/>
                <a:gridCol w="1828800"/>
                <a:gridCol w="2788920"/>
                <a:gridCol w="7315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24/10/2026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Esmeraldas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Esmeraldas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24/10/2026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Palestina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24/10/2026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Azuay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Cuenca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24/10/2026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Azuay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Cuenca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24/10/2026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Manabí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Portoviejo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24/10/2026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Manabí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Portoviejo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25/10/2026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802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562356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20202B"/>
                </a:solidFill>
                <a:latin typeface="Calibri"/>
              </a:rPr>
              <a:t>Kits entregados en provincias priorizadas el 24–25/10/2026; corte 25/10, 19:00. No es el acumulado desde el 14/09.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28016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Planificación El Niño 2026–2027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920240"/>
            <a:ext cx="438912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0202B"/>
                </a:solidFill>
                <a:latin typeface="Calibri"/>
              </a:rPr>
              <a:t>145.523 personas potenciales</a:t>
            </a:r>
          </a:p>
          <a:p>
            <a:pPr algn="l"/>
            <a:r>
              <a:rPr sz="1800" b="0">
                <a:solidFill>
                  <a:srgbClr val="20202B"/>
                </a:solidFill>
                <a:latin typeface="Calibri"/>
              </a:rPr>
              <a:t>44.098 núcleos familiares potenciales</a:t>
            </a:r>
          </a:p>
          <a:p>
            <a:pPr algn="l"/>
            <a:r>
              <a:rPr sz="1800" b="0">
                <a:solidFill>
                  <a:srgbClr val="20202B"/>
                </a:solidFill>
                <a:latin typeface="Calibri"/>
              </a:rPr>
              <a:t>USD 13.405.351,02 de inversión estimada</a:t>
            </a:r>
          </a:p>
          <a:p>
            <a:pPr algn="l"/>
            <a:r>
              <a:rPr sz="1800" b="0">
                <a:solidFill>
                  <a:srgbClr val="20202B"/>
                </a:solidFill>
                <a:latin typeface="Calibri"/>
              </a:rPr>
              <a:t>Proyección nacional; planificación, no ejecución.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Respuesta en el territorio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reportes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8 /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Alertas con código UA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828800"/>
            <a:ext cx="5303520" cy="43891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12801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Kits en provincias priorizadas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1828800"/>
            <a:ext cx="53035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Nota metodológica y fuentes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reportes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9 /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25880"/>
            <a:ext cx="1828800" cy="1025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Alertas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325880"/>
            <a:ext cx="9144000" cy="1025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Se muestran únicamente alertas revisadas con código UA registrado, desde el 14 de septiembre de 2026. El conteo corresponde a códigos de alerta distintos vinculados a unidades identificadas; tener código UA no confirma afectación al servicio. Los registros sin código quedan fuera de este alcance. La fecha corresponde al registro y una alerta no equivale necesariamente a un evento único. El campo Afectados mezcla personas, familias y usuarios; no se suma como personas únicas. La base no certifica atribución causal a ENOS.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460955"/>
            <a:ext cx="1828800" cy="724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Revisión de alertas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460955"/>
            <a:ext cx="9144000" cy="724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En el corte nacional hay 10 alertas con 10 códigos UA distintos: 8 con afectación documentada y 2 por confirmar. ALT-2026-000315 y ALT-2026-000316 (Tenguel) tienen código UA, pero el relato solo describe inundación territorial; no se presentan como daños confirmados al servicio.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294888"/>
            <a:ext cx="1828800" cy="5230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Kits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294888"/>
            <a:ext cx="9144000" cy="5230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Kits entregados en provincias priorizadas el 24–25/10/2026; corte 25/10, 19:00. No es el acumulado desde el 14/09.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927652"/>
            <a:ext cx="1828800" cy="8144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Bono de contingencia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927652"/>
            <a:ext cx="9144000" cy="8144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La ayuda memoria no identifica pagos exclusivamente atribuibles a ENOS ni fechas individuales para recortar desde el 14/09. Se muestran únicamente las filas de inundación como referencia: pagos gestionados desde el 29/08 y casos en articulación al 23/10. Articulación no equivale a pago. Las proyecciones corresponden a planificación nacional 2026–2027.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851806"/>
            <a:ext cx="1828800" cy="6047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Filtros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851806"/>
            <a:ext cx="9144000" cy="6047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El territorio se aplica a todas las acciones; el servicio, solo a las alertas según la UA registrada. Kits y bono no se asocian a un servicio. La planificación del bono es nacional.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566257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20202B"/>
                </a:solidFill>
                <a:latin typeface="Calibri"/>
              </a:rPr>
              <a:t>Fuentes: Subsecretaría Territorial (análisis de alertas); reporte ministerial de kits; ayuda memoria del bono de contingencia.
Geoportal: https://geoportal.trabajo.gob.ec/ua_amenazas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Riesgos · Respuesta del Ministerio · Del 14/09/2026 al 26/10/2026</dc:title>
  <dc:subject>Riesgos · Nacional</dc:subject>
  <dc:creator>Ministerio de Trabajo y Desarrollo Humano</dc:creator>
  <cp:keywords>MTDH, InfoReport, indicadores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