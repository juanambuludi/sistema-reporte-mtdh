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UA suspendidas</c:v>
                </c:pt>
              </c:strCache>
            </c:strRef>
          </c:tx>
          <c:dPt>
            <c:idx val="0"/>
            <c:spPr>
              <a:solidFill>
                <a:srgbClr val="A995E0"/>
              </a:solidFill>
              <a:ln w="38100"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512F8D"/>
              </a:solidFill>
              <a:ln w="38100">
                <a:solidFill>
                  <a:srgbClr val="FFFFFF"/>
                </a:solidFill>
              </a:ln>
            </c:spPr>
          </c:dPt>
          <c:dPt>
            <c:idx val="2"/>
            <c:spPr>
              <a:solidFill>
                <a:srgbClr val="7657B9"/>
              </a:solidFill>
              <a:ln w="38100">
                <a:solidFill>
                  <a:srgbClr val="FFFFFF"/>
                </a:solidFill>
              </a:ln>
            </c:spPr>
          </c:dPt>
          <c:dPt>
            <c:idx val="3"/>
            <c:spPr>
              <a:solidFill>
                <a:srgbClr val="7657B9"/>
              </a:solidFill>
              <a:ln w="38100">
                <a:solidFill>
                  <a:srgbClr val="FFFFFF"/>
                </a:solidFill>
              </a:ln>
            </c:spPr>
          </c:dPt>
          <c:dPt>
            <c:idx val="4"/>
            <c:spPr>
              <a:solidFill>
                <a:srgbClr val="7657B9"/>
              </a:solidFill>
              <a:ln w="38100">
                <a:solidFill>
                  <a:srgbClr val="FFFFFF"/>
                </a:solidFill>
              </a:ln>
            </c:spPr>
          </c:dPt>
          <c:dPt>
            <c:idx val="5"/>
            <c:spPr>
              <a:solidFill>
                <a:srgbClr val="7657B9"/>
              </a:solidFill>
              <a:ln w="38100">
                <a:solidFill>
                  <a:srgbClr val="FFFFFF"/>
                </a:solidFill>
              </a:ln>
            </c:spPr>
          </c:dPt>
          <c:cat>
            <c:strRef>
              <c:f>Sheet1!$A$2:$A$7</c:f>
              <c:strCache>
                <c:ptCount val="6"/>
                <c:pt idx="0">
                  <c:v>CNH · 67 UA (46,9 %)</c:v>
                </c:pt>
                <c:pt idx="1">
                  <c:v>CDI · 37 UA (25,9 %)</c:v>
                </c:pt>
                <c:pt idx="2">
                  <c:v>PAM · 18 UA (12,6 %)</c:v>
                </c:pt>
                <c:pt idx="3">
                  <c:v>PCD · 12 UA (8,4 %)</c:v>
                </c:pt>
                <c:pt idx="4">
                  <c:v>PE · 7 UA (4,9 %)</c:v>
                </c:pt>
                <c:pt idx="5">
                  <c:v>AF · 2 UA (1,4 %)</c:v>
                </c:pt>
              </c:strCache>
            </c:strRef>
          </c:cat>
          <c:val>
            <c:numRef>
              <c:f>Sheet1!$B$2:$B$7</c:f>
              <c:numCache>
                <c:formatCode>#,##0</c:formatCode>
                <c:ptCount val="6"/>
                <c:pt idx="0">
                  <c:v>67</c:v>
                </c:pt>
                <c:pt idx="1">
                  <c:v>37</c:v>
                </c:pt>
                <c:pt idx="2">
                  <c:v>18</c:v>
                </c:pt>
                <c:pt idx="3">
                  <c:v>12</c:v>
                </c:pt>
                <c:pt idx="4">
                  <c:v>7</c:v>
                </c:pt>
                <c:pt idx="5">
                  <c:v>2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8"/>
      </c:doughnutChart>
    </c:plotArea>
    <c:legend>
      <c:legendPos val="b"/>
      <c:layout/>
      <c:overlay val="0"/>
      <c:txPr>
        <a:bodyPr/>
        <a:lstStyle/>
        <a:p>
          <a:pPr>
            <a:defRPr sz="1300"/>
          </a:pPr>
        </a:p>
      </c:txPr>
    </c:legend>
    <c:plotVisOnly val="1"/>
    <c:dispBlanksAs val="gap"/>
    <c:showDLblsOverMax val="0"/>
  </c:chart>
  <c:txPr>
    <a:bodyPr/>
    <a:lstStyle/>
    <a:p>
      <a:pPr>
        <a:defRPr sz="1800">
          <a:latin typeface="Calibri"/>
        </a:defRPr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percentStacked"/>
        <c:ser>
          <c:idx val="0"/>
          <c:order val="0"/>
          <c:tx>
            <c:strRef>
              <c:f>Sheet1!$B$1</c:f>
              <c:strCache>
                <c:ptCount val="1"/>
                <c:pt idx="0">
                  <c:v>Guayas</c:v>
                </c:pt>
              </c:strCache>
            </c:strRef>
          </c:tx>
          <c:spPr>
            <a:solidFill>
              <a:srgbClr val="512F8D"/>
            </a:solidFill>
            <a:ln w="25400">
              <a:solidFill>
                <a:srgbClr val="FFFFFF"/>
              </a:solidFill>
            </a:ln>
          </c:spPr>
          <c:dLbls>
            <c:numFmt formatCode="#,##0;-#,##0;&quot;&quot;" sourceLinked="0"/>
            <c:txPr>
              <a:bodyPr/>
              <a:lstStyle/>
              <a:p>
                <a:pPr>
                  <a:defRPr sz="1200" b="1">
                    <a:solidFill>
                      <a:srgbClr val="FFFFFF"/>
                    </a:solidFill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Pago gestionado
113 núcleos familiares · USD 33.200,80</c:v>
                </c:pt>
                <c:pt idx="1">
                  <c:v>En articulación
1.169 personas · USD 354.379,41</c:v>
                </c:pt>
              </c:strCache>
            </c:strRef>
          </c:cat>
          <c:val>
            <c:numRef>
              <c:f>Sheet1!$B$2:$B$3</c:f>
              <c:numCache>
                <c:formatCode>#,##0</c:formatCode>
                <c:ptCount val="2"/>
                <c:pt idx="0">
                  <c:v>67</c:v>
                </c:pt>
                <c:pt idx="1">
                  <c:v>344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Esmeraldas</c:v>
                </c:pt>
              </c:strCache>
            </c:strRef>
          </c:tx>
          <c:spPr>
            <a:solidFill>
              <a:srgbClr val="7657B9"/>
            </a:solidFill>
            <a:ln w="25400">
              <a:solidFill>
                <a:srgbClr val="FFFFFF"/>
              </a:solidFill>
            </a:ln>
          </c:spPr>
          <c:dLbls>
            <c:numFmt formatCode="#,##0;-#,##0;&quot;&quot;" sourceLinked="0"/>
            <c:txPr>
              <a:bodyPr/>
              <a:lstStyle/>
              <a:p>
                <a:pPr>
                  <a:defRPr sz="1200" b="1">
                    <a:solidFill>
                      <a:srgbClr val="FFFFFF"/>
                    </a:solidFill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Pago gestionado
113 núcleos familiares · USD 33.200,80</c:v>
                </c:pt>
                <c:pt idx="1">
                  <c:v>En articulación
1.169 personas · USD 354.379,41</c:v>
                </c:pt>
              </c:strCache>
            </c:strRef>
          </c:cat>
          <c:val>
            <c:numRef>
              <c:f>Sheet1!$C$2:$C$3</c:f>
              <c:numCache>
                <c:formatCode>#,##0</c:formatCode>
                <c:ptCount val="2"/>
                <c:pt idx="1">
                  <c:v>530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Manabí</c:v>
                </c:pt>
              </c:strCache>
            </c:strRef>
          </c:tx>
          <c:spPr>
            <a:solidFill>
              <a:srgbClr val="F8C018"/>
            </a:solidFill>
            <a:ln w="25400">
              <a:solidFill>
                <a:srgbClr val="FFFFFF"/>
              </a:solidFill>
            </a:ln>
          </c:spPr>
          <c:dLbls>
            <c:numFmt formatCode="#,##0;-#,##0;&quot;&quot;" sourceLinked="0"/>
            <c:txPr>
              <a:bodyPr/>
              <a:lstStyle/>
              <a:p>
                <a:pPr>
                  <a:defRPr sz="1200" b="1">
                    <a:solidFill>
                      <a:srgbClr val="2B164F"/>
                    </a:solidFill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Pago gestionado
113 núcleos familiares · USD 33.200,80</c:v>
                </c:pt>
                <c:pt idx="1">
                  <c:v>En articulación
1.169 personas · USD 354.379,41</c:v>
                </c:pt>
              </c:strCache>
            </c:strRef>
          </c:cat>
          <c:val>
            <c:numRef>
              <c:f>Sheet1!$D$2:$D$3</c:f>
              <c:numCache>
                <c:formatCode>#,##0</c:formatCode>
                <c:ptCount val="2"/>
                <c:pt idx="0">
                  <c:v>45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El Oro</c:v>
                </c:pt>
              </c:strCache>
            </c:strRef>
          </c:tx>
          <c:spPr>
            <a:solidFill>
              <a:srgbClr val="A995E0"/>
            </a:solidFill>
            <a:ln w="25400">
              <a:solidFill>
                <a:srgbClr val="FFFFFF"/>
              </a:solidFill>
            </a:ln>
          </c:spPr>
          <c:dLbls>
            <c:numFmt formatCode="#,##0;-#,##0;&quot;&quot;" sourceLinked="0"/>
            <c:txPr>
              <a:bodyPr/>
              <a:lstStyle/>
              <a:p>
                <a:pPr>
                  <a:defRPr sz="1200" b="1">
                    <a:solidFill>
                      <a:srgbClr val="2B164F"/>
                    </a:solidFill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Pago gestionado
113 núcleos familiares · USD 33.200,80</c:v>
                </c:pt>
                <c:pt idx="1">
                  <c:v>En articulación
1.169 personas · USD 354.379,41</c:v>
                </c:pt>
              </c:strCache>
            </c:strRef>
          </c:cat>
          <c:val>
            <c:numRef>
              <c:f>Sheet1!$E$2:$E$3</c:f>
              <c:numCache>
                <c:formatCode>#,##0</c:formatCode>
                <c:ptCount val="2"/>
                <c:pt idx="1">
                  <c:v>181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Los Ríos</c:v>
                </c:pt>
              </c:strCache>
            </c:strRef>
          </c:tx>
          <c:spPr>
            <a:solidFill>
              <a:srgbClr val="A32C74"/>
            </a:solidFill>
            <a:ln w="25400">
              <a:solidFill>
                <a:srgbClr val="FFFFFF"/>
              </a:solidFill>
            </a:ln>
          </c:spPr>
          <c:dLbls>
            <c:numFmt formatCode="#,##0;-#,##0;&quot;&quot;" sourceLinked="0"/>
            <c:txPr>
              <a:bodyPr/>
              <a:lstStyle/>
              <a:p>
                <a:pPr>
                  <a:defRPr sz="1200" b="1">
                    <a:solidFill>
                      <a:srgbClr val="FFFFFF"/>
                    </a:solidFill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Pago gestionado
113 núcleos familiares · USD 33.200,80</c:v>
                </c:pt>
                <c:pt idx="1">
                  <c:v>En articulación
1.169 personas · USD 354.379,41</c:v>
                </c:pt>
              </c:strCache>
            </c:strRef>
          </c:cat>
          <c:val>
            <c:numRef>
              <c:f>Sheet1!$F$2:$F$3</c:f>
              <c:numCache>
                <c:formatCode>#,##0</c:formatCode>
                <c:ptCount val="2"/>
                <c:pt idx="1">
                  <c:v>109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Azuay</c:v>
                </c:pt>
              </c:strCache>
            </c:strRef>
          </c:tx>
          <c:spPr>
            <a:solidFill>
              <a:srgbClr val="2B164F"/>
            </a:solidFill>
            <a:ln w="25400">
              <a:solidFill>
                <a:srgbClr val="FFFFFF"/>
              </a:solidFill>
            </a:ln>
          </c:spPr>
          <c:dLbls>
            <c:dLbl>
              <c:idx val="0"/>
              <c:delete val="1"/>
            </c:dLbl>
            <c:numFmt formatCode="#,##0;-#,##0;&quot;&quot;" sourceLinked="0"/>
            <c:txPr>
              <a:bodyPr/>
              <a:lstStyle/>
              <a:p>
                <a:pPr>
                  <a:defRPr sz="1200" b="1">
                    <a:solidFill>
                      <a:srgbClr val="FFFFFF"/>
                    </a:solidFill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Pago gestionado
113 núcleos familiares · USD 33.200,80</c:v>
                </c:pt>
                <c:pt idx="1">
                  <c:v>En articulación
1.169 personas · USD 354.379,41</c:v>
                </c:pt>
              </c:strCache>
            </c:strRef>
          </c:cat>
          <c:val>
            <c:numRef>
              <c:f>Sheet1!$G$2:$G$3</c:f>
              <c:numCache>
                <c:formatCode>#,##0</c:formatCode>
                <c:ptCount val="2"/>
                <c:pt idx="0">
                  <c:v>1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Imbabura</c:v>
                </c:pt>
              </c:strCache>
            </c:strRef>
          </c:tx>
          <c:spPr>
            <a:solidFill>
              <a:srgbClr val="E6A3C5"/>
            </a:solidFill>
            <a:ln w="25400">
              <a:solidFill>
                <a:srgbClr val="FFFFFF"/>
              </a:solidFill>
            </a:ln>
          </c:spPr>
          <c:dLbls>
            <c:dLbl>
              <c:idx val="1"/>
              <c:delete val="1"/>
            </c:dLbl>
            <c:numFmt formatCode="#,##0;-#,##0;&quot;&quot;" sourceLinked="0"/>
            <c:txPr>
              <a:bodyPr/>
              <a:lstStyle/>
              <a:p>
                <a:pPr>
                  <a:defRPr sz="1200" b="1">
                    <a:solidFill>
                      <a:srgbClr val="2B164F"/>
                    </a:solidFill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Pago gestionado
113 núcleos familiares · USD 33.200,80</c:v>
                </c:pt>
                <c:pt idx="1">
                  <c:v>En articulación
1.169 personas · USD 354.379,41</c:v>
                </c:pt>
              </c:strCache>
            </c:strRef>
          </c:cat>
          <c:val>
            <c:numRef>
              <c:f>Sheet1!$H$2:$H$3</c:f>
              <c:numCache>
                <c:formatCode>#,##0</c:formatCode>
                <c:ptCount val="2"/>
                <c:pt idx="1">
                  <c:v>5</c:v>
                </c:pt>
              </c:numCache>
            </c:numRef>
          </c:val>
        </c:ser>
        <c:gapWidth val="70"/>
        <c:overlap val="10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200">
          <a:latin typeface="Calibr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Alertas reportadas: 21. Kits entregados: 13.981. Personas · Bono de Contingencia: 1.169. Monto · Bono de Contingencia: USD 354.379,41. Unidades cerradas / suspendidas: 143. 143 unidades de atención con atención suspendida (67 CNH · 37 CDI · 18 PAM · 12 PCD · 7 PE · 2 AF); El Oro concentra 119 (83,2 %).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Subsecretaría Territorial (análisis de alertas); corte Kobo de kits; ayuda memoria del bono de contingencia; base territorial de afectaciones por lluvias.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Subsecretaría Territorial (análisis de alertas); corte Kobo de kits; ayuda memoria del bono de contingencia; base territorial de afectaciones por lluvias.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Subsecretaría Territorial (análisis de alertas); corte Kobo de kits; ayuda memoria del bono de contingencia; base territorial de afectaciones por lluvias.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Subsecretaría Territorial (análisis de alertas); corte Kobo de kits; ayuda memoria del bono de contingencia; base territorial de afectaciones por lluvias.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Subsecretaría Territorial (análisis de alertas); corte Kobo de kits; ayuda memoria del bono de contingencia; base territorial de afectaciones por lluvias.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Subsecretaría Territorial (análisis de alertas); corte Kobo de kits; ayuda memoria del bono de contingencia; base territorial de afectaciones por lluvias.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Subsecretaría Territorial (análisis de alertas); corte Kobo de kits; ayuda memoria del bono de contingencia; base territorial de afectaciones por lluvias.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Subsecretaría Territorial (análisis de alertas); corte Kobo de kits; ayuda memoria del bono de contingencia; base territorial de afectaciones por lluvias.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Subsecretaría Territorial (análisis de alertas); corte Kobo de kits; ayuda memoria del bono de contingencia; base territorial de afectaciones por lluvias.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Subsecretaría Territorial (análisis de alertas); corte Kobo de kits; ayuda memoria del bono de contingencia; base territorial de afectaciones por lluvias.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Subsecretaría Territorial (análisis de alertas); corte Kobo de kits; ayuda memoria del bono de contingencia; base territorial de afectaciones por lluvias.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Subsecretaría Territorial (análisis de alertas); corte Kobo de kits; ayuda memoria del bono de contingencia; base territorial de afectaciones por lluvias.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Subsecretaría Territorial (análisis de alertas); corte Kobo de kits; ayuda memoria del bono de contingencia; base territorial de afectaciones por lluvias.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Subsecretaría Territorial (análisis de alertas); corte Kobo de kits; ayuda memoria del bono de contingencia; base territorial de afectaciones por lluvias.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Subsecretaría Territorial (análisis de alertas); corte Kobo de kits; ayuda memoria del bono de contingencia; base territorial de afectaciones por lluvias.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Subsecretaría Territorial (análisis de alertas); corte Kobo de kits; ayuda memoria del bono de contingencia; base territorial de afectaciones por lluvias.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Subsecretaría Territorial (análisis de alertas); corte Kobo de kits; ayuda memoria del bono de contingencia; base territorial de afectaciones por lluvias.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Subsecretaría Territorial (análisis de alertas); corte Kobo de kits; ayuda memoria del bono de contingencia; base territorial de afectaciones por lluvias.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Relationship Id="rId4" Type="http://schemas.openxmlformats.org/officeDocument/2006/relationships/image" Target="../media/image7.png"/><Relationship Id="rId5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1.xml"/><Relationship Id="rId4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5.xml"/><Relationship Id="rId4" Type="http://schemas.openxmlformats.org/officeDocument/2006/relationships/image" Target="../media/image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6.xml"/><Relationship Id="rId4" Type="http://schemas.openxmlformats.org/officeDocument/2006/relationships/chart" Target="../charts/char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8.xml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9.xml"/><Relationship Id="rId4" Type="http://schemas.openxmlformats.org/officeDocument/2006/relationships/hyperlink" Target="https://geoportal.trabajo.gob.ec/ua_amenazas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892040" cy="6858000"/>
          </a:xfrm>
          <a:prstGeom prst="rect">
            <a:avLst/>
          </a:prstGeom>
          <a:gradFill rotWithShape="1">
            <a:gsLst>
              <a:gs pos="0">
                <a:srgbClr val="1E0F3B"/>
              </a:gs>
              <a:gs pos="100000">
                <a:srgbClr val="512F8D"/>
              </a:gs>
            </a:gsLst>
            <a:lin scaled="0" ang="36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9700" y="3675887"/>
            <a:ext cx="2072640" cy="1828800"/>
          </a:xfrm>
          <a:prstGeom prst="rect">
            <a:avLst/>
          </a:prstGeom>
        </p:spPr>
      </p:pic>
      <p:pic>
        <p:nvPicPr>
          <p:cNvPr id="4" name="Picture 3" descr="mtdh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" y="384048"/>
            <a:ext cx="2533861" cy="60350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1371600"/>
            <a:ext cx="4023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8C018"/>
                </a:solidFill>
                <a:latin typeface="Calibri"/>
              </a:rPr>
              <a:t>Del 14/09/2026 al 27/10/2026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19072"/>
            <a:ext cx="406908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1">
                <a:solidFill>
                  <a:srgbClr val="FFFFFF"/>
                </a:solidFill>
                <a:latin typeface="Century Gothic"/>
              </a:rPr>
              <a:t>Riesgos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3182112"/>
            <a:ext cx="822960" cy="64008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3310128"/>
            <a:ext cx="4023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E4DBF3"/>
                </a:solidFill>
                <a:latin typeface="Calibri"/>
              </a:rPr>
              <a:t>Nacional · Todos los servicios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596128"/>
            <a:ext cx="4023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CDBFE6"/>
                </a:solidFill>
                <a:latin typeface="Calibri"/>
              </a:rPr>
              <a:t>Corte: Respuesta al 27/10/2026</a:t>
            </a:r>
          </a:p>
          <a:p>
            <a:pPr algn="l">
              <a:lnSpc>
                <a:spcPct val="100000"/>
              </a:lnSpc>
            </a:pPr>
            <a:r>
              <a:rPr sz="1000" b="0">
                <a:solidFill>
                  <a:srgbClr val="CDBFE6"/>
                </a:solidFill>
                <a:latin typeface="Calibri"/>
              </a:rPr>
              <a:t>Actualizado el 27 de octubre de 2026, 09:01</a:t>
            </a:r>
          </a:p>
          <a:p>
            <a:pPr algn="l">
              <a:lnSpc>
                <a:spcPct val="100000"/>
              </a:lnSpc>
            </a:pPr>
            <a:r>
              <a:rPr sz="1000" b="0">
                <a:solidFill>
                  <a:srgbClr val="CDBFE6"/>
                </a:solidFill>
                <a:latin typeface="Calibri"/>
              </a:rPr>
              <a:t>Según cortes recibidos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236208"/>
            <a:ext cx="411480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 b="1">
                <a:solidFill>
                  <a:srgbClr val="F8C018"/>
                </a:solidFill>
                <a:latin typeface="Century Gothic"/>
              </a:rPr>
              <a:t>El corazón de Ecuador. </a:t>
            </a:r>
            <a:r>
              <a:rPr sz="1050" b="0">
                <a:solidFill>
                  <a:srgbClr val="E4DBF3"/>
                </a:solidFill>
                <a:latin typeface="Calibri"/>
              </a:rPr>
              <a:t>Velamos por la calidad de vida de los ecuatorianos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49240" y="566928"/>
            <a:ext cx="6309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2B164F"/>
                </a:solidFill>
                <a:latin typeface="Century Gothic"/>
              </a:rPr>
              <a:t>Cifras clave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49240" y="1024128"/>
            <a:ext cx="6309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A5765"/>
                </a:solidFill>
                <a:latin typeface="Calibri"/>
              </a:rPr>
              <a:t>Riesgos · Del 14/09/2026 al 27/10/2026 · Nacional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349240" y="1627632"/>
            <a:ext cx="3090672" cy="22128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DEE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349240" y="1901952"/>
            <a:ext cx="64008" cy="1664207"/>
          </a:xfrm>
          <a:prstGeom prst="rect">
            <a:avLst/>
          </a:prstGeom>
          <a:solidFill>
            <a:srgbClr val="512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641848" y="1920240"/>
            <a:ext cx="621792" cy="621792"/>
          </a:xfrm>
          <a:prstGeom prst="ellipse">
            <a:avLst/>
          </a:prstGeom>
          <a:solidFill>
            <a:srgbClr val="512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6" name="Picture 15" descr="shield-blanc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81751" y="2060143"/>
            <a:ext cx="341985" cy="341985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400800" y="1993392"/>
            <a:ext cx="185623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300" b="0">
                <a:solidFill>
                  <a:srgbClr val="5A5765"/>
                </a:solidFill>
                <a:latin typeface="Calibri"/>
              </a:rPr>
              <a:t>Alertas reportadas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78424" y="2706624"/>
            <a:ext cx="263347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2B164F"/>
                </a:solidFill>
                <a:latin typeface="Century Gothic"/>
              </a:rPr>
              <a:t>21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78424" y="3319272"/>
            <a:ext cx="2633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12F8D"/>
                </a:solidFill>
                <a:latin typeface="Calibri"/>
              </a:rPr>
              <a:t>Registro y reportes sectoriales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695944" y="1627632"/>
            <a:ext cx="3090672" cy="22128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DEE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695944" y="1901952"/>
            <a:ext cx="64008" cy="1664207"/>
          </a:xfrm>
          <a:prstGeom prst="rect">
            <a:avLst/>
          </a:prstGeom>
          <a:solidFill>
            <a:srgbClr val="7657B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988552" y="1920240"/>
            <a:ext cx="621792" cy="621792"/>
          </a:xfrm>
          <a:prstGeom prst="ellipse">
            <a:avLst/>
          </a:prstGeom>
          <a:solidFill>
            <a:srgbClr val="512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3" name="Picture 22" descr="life-buoy-blanc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28455" y="2060143"/>
            <a:ext cx="341985" cy="34198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747504" y="1993392"/>
            <a:ext cx="185623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300" b="0">
                <a:solidFill>
                  <a:srgbClr val="5A5765"/>
                </a:solidFill>
                <a:latin typeface="Calibri"/>
              </a:rPr>
              <a:t>Kits entregados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25128" y="2706624"/>
            <a:ext cx="263347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2B164F"/>
                </a:solidFill>
                <a:latin typeface="Century Gothic"/>
              </a:rPr>
              <a:t>13.981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25128" y="3319272"/>
            <a:ext cx="2633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12F8D"/>
                </a:solidFill>
                <a:latin typeface="Calibri"/>
              </a:rPr>
              <a:t>22 provincias priorizadas · corte 27/10, 13:35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349240" y="4096512"/>
            <a:ext cx="3090672" cy="22128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DEE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349240" y="4370832"/>
            <a:ext cx="64008" cy="1664207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5641848" y="4389120"/>
            <a:ext cx="621792" cy="621792"/>
          </a:xfrm>
          <a:prstGeom prst="ellipse">
            <a:avLst/>
          </a:prstGeom>
          <a:solidFill>
            <a:srgbClr val="512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0" name="Picture 29" descr="hand-coins-blanc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81751" y="4529023"/>
            <a:ext cx="341985" cy="341985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6400800" y="4462272"/>
            <a:ext cx="185623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300" b="0">
                <a:solidFill>
                  <a:srgbClr val="5A5765"/>
                </a:solidFill>
                <a:latin typeface="Calibri"/>
              </a:rPr>
              <a:t>Personas · Bono de Contingencia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78424" y="5175504"/>
            <a:ext cx="263347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2B164F"/>
                </a:solidFill>
                <a:latin typeface="Century Gothic"/>
              </a:rPr>
              <a:t>1.169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78424" y="5788152"/>
            <a:ext cx="2633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12F8D"/>
                </a:solidFill>
                <a:latin typeface="Calibri"/>
              </a:rPr>
              <a:t>En articulación para el pago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695944" y="4096512"/>
            <a:ext cx="3090672" cy="22128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DEE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695944" y="4370832"/>
            <a:ext cx="64008" cy="1664207"/>
          </a:xfrm>
          <a:prstGeom prst="rect">
            <a:avLst/>
          </a:prstGeom>
          <a:solidFill>
            <a:srgbClr val="C33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8988552" y="4389120"/>
            <a:ext cx="621792" cy="621792"/>
          </a:xfrm>
          <a:prstGeom prst="ellipse">
            <a:avLst/>
          </a:prstGeom>
          <a:solidFill>
            <a:srgbClr val="512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7" name="Picture 36" descr="banknote-blanco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28455" y="4529023"/>
            <a:ext cx="341985" cy="341985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9747504" y="4462272"/>
            <a:ext cx="185623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300" b="0">
                <a:solidFill>
                  <a:srgbClr val="5A5765"/>
                </a:solidFill>
                <a:latin typeface="Calibri"/>
              </a:rPr>
              <a:t>Monto · Bono de Contingencia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025128" y="5175504"/>
            <a:ext cx="263347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2B164F"/>
                </a:solidFill>
                <a:latin typeface="Century Gothic"/>
              </a:rPr>
              <a:t>USD 354.379,41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025128" y="5788152"/>
            <a:ext cx="2633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12F8D"/>
                </a:solidFill>
                <a:latin typeface="Calibri"/>
              </a:rPr>
              <a:t>Corte del bono: 23/10/2026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349240" y="6473952"/>
            <a:ext cx="48920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748B"/>
                </a:solidFill>
                <a:latin typeface="Calibri"/>
              </a:rPr>
              <a:t>Fuente: MTDH · Subsecretaría Territorial · Kobo de kits y bono de contingencia · Generado el 27 de octubre de 2026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789920" y="647395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A748B"/>
                </a:solidFill>
                <a:latin typeface="Calibri"/>
              </a:rPr>
              <a:t>1 / 19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gradFill rotWithShape="1">
            <a:gsLst>
              <a:gs pos="0">
                <a:srgbClr val="2B164F"/>
              </a:gs>
              <a:gs pos="100000">
                <a:srgbClr val="512F8D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8595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entury Gothic"/>
              </a:rPr>
              <a:t>Continuidad de los servicios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8595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E4DBF3"/>
                </a:solidFill>
                <a:latin typeface="Calibri"/>
              </a:rPr>
              <a:t>Del 14/09/2026 al 27/10/2026 · Nacional · Todos los servicios</a:t>
            </a:r>
          </a:p>
        </p:txBody>
      </p:sp>
      <p:pic>
        <p:nvPicPr>
          <p:cNvPr id="6" name="Picture 5" descr="mtd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56032"/>
            <a:ext cx="2380293" cy="5669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73952"/>
            <a:ext cx="973835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748B"/>
                </a:solidFill>
                <a:latin typeface="Calibri"/>
              </a:rPr>
              <a:t>Fuente: MTDH · Subsecretaría Territorial · Kobo de kits y bono de contingencia · Respuesta al 27/10/2026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7395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A748B"/>
                </a:solidFill>
                <a:latin typeface="Calibri"/>
              </a:rPr>
              <a:t>2 / 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243584"/>
            <a:ext cx="6949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B164F"/>
                </a:solidFill>
                <a:latin typeface="Century Gothic"/>
              </a:rPr>
              <a:t>Dónde se suspendió la atención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62763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5A5765"/>
                </a:solidFill>
                <a:latin typeface="Calibri"/>
              </a:rPr>
              <a:t>Provincia y cantón · el color indica el servicio</a:t>
            </a:r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965960"/>
            <a:ext cx="7040880" cy="41148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909560" y="1243584"/>
            <a:ext cx="3840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B164F"/>
                </a:solidFill>
                <a:latin typeface="Century Gothic"/>
              </a:rPr>
              <a:t>Por servicio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09560" y="1627632"/>
            <a:ext cx="3840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5A5765"/>
                </a:solidFill>
                <a:latin typeface="Calibri"/>
              </a:rPr>
              <a:t>Participación en las unidades suspendidas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7818120" y="1920240"/>
          <a:ext cx="3931920" cy="4160520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7818120" y="3246120"/>
            <a:ext cx="3931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200" b="1">
                <a:solidFill>
                  <a:srgbClr val="2B164F"/>
                </a:solidFill>
                <a:latin typeface="Century Gothic"/>
              </a:rPr>
              <a:t>143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18120" y="3794760"/>
            <a:ext cx="3931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A5765"/>
                </a:solidFill>
                <a:latin typeface="Calibri"/>
              </a:rPr>
              <a:t>UA suspendidas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144768"/>
            <a:ext cx="11155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5A5765"/>
                </a:solidFill>
                <a:latin typeface="Calibri"/>
              </a:rPr>
              <a:t>Fuente: unidades no operativas de El Oro al 27/10/2026; último reporte disponible de Guayas y Santa Elena al 26/10/2026.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gradFill rotWithShape="1">
            <a:gsLst>
              <a:gs pos="0">
                <a:srgbClr val="2B164F"/>
              </a:gs>
              <a:gs pos="100000">
                <a:srgbClr val="512F8D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8595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entury Gothic"/>
              </a:rPr>
              <a:t>Unidades suspendidas ·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8595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E4DBF3"/>
                </a:solidFill>
                <a:latin typeface="Calibri"/>
              </a:rPr>
              <a:t>Del 14/09/2026 al 27/10/2026 · Nacional · Todos los servicios</a:t>
            </a:r>
          </a:p>
        </p:txBody>
      </p:sp>
      <p:pic>
        <p:nvPicPr>
          <p:cNvPr id="6" name="Picture 5" descr="mtd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56032"/>
            <a:ext cx="2380293" cy="5669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73952"/>
            <a:ext cx="973835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748B"/>
                </a:solidFill>
                <a:latin typeface="Calibri"/>
              </a:rPr>
              <a:t>Fuente: MTDH · Subsecretaría Territorial · Kobo de kits y bono de contingencia · Respuesta al 27/10/2026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7395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A748B"/>
                </a:solidFill>
                <a:latin typeface="Calibri"/>
              </a:rPr>
              <a:t>3 / 19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02920" y="1325880"/>
          <a:ext cx="11201400" cy="464515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371600"/>
                <a:gridCol w="1463040"/>
                <a:gridCol w="685800"/>
                <a:gridCol w="7680960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Provincia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Cantón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Servicio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Unidad de atención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Guayas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Guayaquil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Manantial del Saber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Guayas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Guayaquil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Virgen de las Mercedes #218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Guayas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Guayaquil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Rivera de los Vergeles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Guayas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Guayaquil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María de la Paz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Guayas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Guayaquil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Ángel de Luz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Guayas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Guayaquil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Camino al Buen Vivir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Guayas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Guayaquil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Jardín de los Sueños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Guayas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Guayaquil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Mundo Infantil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Guayas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Guayaquil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Nuestros Niños en Dios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Guayas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Guayaquil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Los Niños del Mañana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Guayas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Guayaquil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Sueños Infantiles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Guayas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Guayaquil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María Teresa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Guayas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Guayaquil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9 de Enero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Guayas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Guayaquil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Cosechando Sueños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Guayas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Guayaquil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Angelitos Dei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Guayas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Guayaquil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Amiguitos del Futuro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Guayas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Guayaquil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Niños San Rafael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Santa Elena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Santa Elena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Semillitas del Mañana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gradFill rotWithShape="1">
            <a:gsLst>
              <a:gs pos="0">
                <a:srgbClr val="2B164F"/>
              </a:gs>
              <a:gs pos="100000">
                <a:srgbClr val="512F8D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8595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entury Gothic"/>
              </a:rPr>
              <a:t>Unidades suspendidas ·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8595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E4DBF3"/>
                </a:solidFill>
                <a:latin typeface="Calibri"/>
              </a:rPr>
              <a:t>Del 14/09/2026 al 27/10/2026 · Nacional · Todos los servicios</a:t>
            </a:r>
          </a:p>
        </p:txBody>
      </p:sp>
      <p:pic>
        <p:nvPicPr>
          <p:cNvPr id="6" name="Picture 5" descr="mtd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56032"/>
            <a:ext cx="2380293" cy="5669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73952"/>
            <a:ext cx="973835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748B"/>
                </a:solidFill>
                <a:latin typeface="Calibri"/>
              </a:rPr>
              <a:t>Fuente: MTDH · Subsecretaría Territorial · Kobo de kits y bono de contingencia · Respuesta al 27/10/2026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7395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A748B"/>
                </a:solidFill>
                <a:latin typeface="Calibri"/>
              </a:rPr>
              <a:t>4 / 19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02920" y="1325880"/>
          <a:ext cx="11201400" cy="464515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371600"/>
                <a:gridCol w="1463040"/>
                <a:gridCol w="685800"/>
                <a:gridCol w="7680960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Provincia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Cantón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Servicio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Unidad de atención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Santa Elena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Santa Elena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Mis Primeras Enseñanzas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Santa Elena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Salinas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Mickey Mouse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Santa Elena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Salinas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Los Piqueritos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Santa Elena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Salinas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Tía Peluca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Santa Elena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Salinas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Mis Pequeños Angelitos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Santa Elena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Salinas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Caritas Alegres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PCD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Ahc Gad Machala Lucha de los Pobres Organizados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PCD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Ahc Gad Machala Rayito de Luz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PAM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A.D. Fusbaam 10 de Septiembrte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PCD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Ahc. Gad Machala Manuel Encalada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Mst CNH 24 Septiembre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Mst CNH Urseza 2 Sector 2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Mst CNH Alborada 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Mst CNH Algarrobos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Mst CNH el Bosque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Mst CNH Israel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Mst CNH Machala Libre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Mst CNH Machalilla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gradFill rotWithShape="1">
            <a:gsLst>
              <a:gs pos="0">
                <a:srgbClr val="2B164F"/>
              </a:gs>
              <a:gs pos="100000">
                <a:srgbClr val="512F8D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8595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entury Gothic"/>
              </a:rPr>
              <a:t>Unidades suspendidas ·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8595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E4DBF3"/>
                </a:solidFill>
                <a:latin typeface="Calibri"/>
              </a:rPr>
              <a:t>Del 14/09/2026 al 27/10/2026 · Nacional · Todos los servicios</a:t>
            </a:r>
          </a:p>
        </p:txBody>
      </p:sp>
      <p:pic>
        <p:nvPicPr>
          <p:cNvPr id="6" name="Picture 5" descr="mtd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56032"/>
            <a:ext cx="2380293" cy="5669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73952"/>
            <a:ext cx="973835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748B"/>
                </a:solidFill>
                <a:latin typeface="Calibri"/>
              </a:rPr>
              <a:t>Fuente: MTDH · Subsecretaría Territorial · Kobo de kits y bono de contingencia · Respuesta al 27/10/2026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7395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A748B"/>
                </a:solidFill>
                <a:latin typeface="Calibri"/>
              </a:rPr>
              <a:t>5 / 19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02920" y="1325880"/>
          <a:ext cx="11201400" cy="464515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371600"/>
                <a:gridCol w="1463040"/>
                <a:gridCol w="685800"/>
                <a:gridCol w="7680960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Provincia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Cantón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Servicio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Unidad de atención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Mst CNH Primavera 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Mst CNH Rosa Nelly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Mst CNH San Ramón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Mst CNH Urseza 2 Sector 3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Mst CNH Vergeles 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Mst CNH Vergeles B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Mst CNH Vergeles 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Mst CNH Via Limón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Mst CNH Viviendas Populares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PAM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Ad. Fusbaam los Vergeles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PAM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Ad. Fusbaam Lucha de los Pobres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PCD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Ahc Gad Machala 7 de Marzo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Centro de Desarrollo Infantil Lucerito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PAM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Pam.Ad.Dd. Machala Rayito de Luz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Mov-Hum-Fsjb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CDI-MIES MIES los Chilalitos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PCD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Ahc Gad Machala Urseza 2 Sector 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PAM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A.D. Fusbaam 7 de Julio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gradFill rotWithShape="1">
            <a:gsLst>
              <a:gs pos="0">
                <a:srgbClr val="2B164F"/>
              </a:gs>
              <a:gs pos="100000">
                <a:srgbClr val="512F8D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8595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entury Gothic"/>
              </a:rPr>
              <a:t>Unidades suspendidas ·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8595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E4DBF3"/>
                </a:solidFill>
                <a:latin typeface="Calibri"/>
              </a:rPr>
              <a:t>Del 14/09/2026 al 27/10/2026 · Nacional · Todos los servicios</a:t>
            </a:r>
          </a:p>
        </p:txBody>
      </p:sp>
      <p:pic>
        <p:nvPicPr>
          <p:cNvPr id="6" name="Picture 5" descr="mtd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56032"/>
            <a:ext cx="2380293" cy="5669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73952"/>
            <a:ext cx="973835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748B"/>
                </a:solidFill>
                <a:latin typeface="Calibri"/>
              </a:rPr>
              <a:t>Fuente: MTDH · Subsecretaría Territorial · Kobo de kits y bono de contingencia · Respuesta al 27/10/2026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7395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A748B"/>
                </a:solidFill>
                <a:latin typeface="Calibri"/>
              </a:rPr>
              <a:t>6 / 19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02920" y="1325880"/>
          <a:ext cx="11201400" cy="464515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371600"/>
                <a:gridCol w="1463040"/>
                <a:gridCol w="685800"/>
                <a:gridCol w="7680960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Provincia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Cantón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Servicio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Unidad de atención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PCD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Ahc Gad Machala David Rodas Cuervo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Mst CNH Adolfo Bucaram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Mst CNH 19 de Noviembre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Mst CNH Cristo del Consuelo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Mst CNH Barrio 2 Bocas 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Mst CNH Federico Paez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Mst CNH Jesús del Gran Poder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Mst CNH San Estuardo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Mst Cnhlos Sauces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Mst CNH Nueva Esperanza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Mst CNH Tinas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PAM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Ad. Fusbaam Blanca García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Mt CNH 8 de Noviembre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Mt CNH 18 de Octubre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Mt CNH 25 de Diciembre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Mt CNH Carmen Bautista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Mt CNH Martha Bucaram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Mt CNH Urseza 3.2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gradFill rotWithShape="1">
            <a:gsLst>
              <a:gs pos="0">
                <a:srgbClr val="2B164F"/>
              </a:gs>
              <a:gs pos="100000">
                <a:srgbClr val="512F8D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8595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entury Gothic"/>
              </a:rPr>
              <a:t>Unidades suspendidas ·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8595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E4DBF3"/>
                </a:solidFill>
                <a:latin typeface="Calibri"/>
              </a:rPr>
              <a:t>Del 14/09/2026 al 27/10/2026 · Nacional · Todos los servicios</a:t>
            </a:r>
          </a:p>
        </p:txBody>
      </p:sp>
      <p:pic>
        <p:nvPicPr>
          <p:cNvPr id="6" name="Picture 5" descr="mtd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56032"/>
            <a:ext cx="2380293" cy="5669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73952"/>
            <a:ext cx="973835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748B"/>
                </a:solidFill>
                <a:latin typeface="Calibri"/>
              </a:rPr>
              <a:t>Fuente: MTDH · Subsecretaría Territorial · Kobo de kits y bono de contingencia · Respuesta al 27/10/2026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7395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A748B"/>
                </a:solidFill>
                <a:latin typeface="Calibri"/>
              </a:rPr>
              <a:t>7 / 19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02920" y="1325880"/>
          <a:ext cx="11201400" cy="464515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371600"/>
                <a:gridCol w="1463040"/>
                <a:gridCol w="685800"/>
                <a:gridCol w="7680960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Provincia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Cantón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Servicio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Unidad de atención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Mt CNH Urseza 3.1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PCD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Ahc Gad Machala 8 de Noviembre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PCD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Ahc Gad Machala 19 de Noviembre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PAM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Pam.Ad.Dd. Machala el Paraíso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Gadmachala Eti 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PAM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Pam.Ad.Dd. Machala Sauces 1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PAM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Ad.Fusbaam Urseza 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PAM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Pam.Ad.Dd. Machala las Tinas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 Pedacito de Cielo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 Nuevo Amanecer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Mend.Fusbaam Mapagua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PAM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Ad. Fusbaam.Washintong García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AF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A.F. Machala 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PE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A.FyC.F QUIMERA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Af-Cf-San Juan Bautista 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PE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Af-Cf-San Juan Bautista 2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CDI-MIES Gad Machala Mi Segundo Hogar Puerto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CDI-MIES Gad Machala Pulgarcito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gradFill rotWithShape="1">
            <a:gsLst>
              <a:gs pos="0">
                <a:srgbClr val="2B164F"/>
              </a:gs>
              <a:gs pos="100000">
                <a:srgbClr val="512F8D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8595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entury Gothic"/>
              </a:rPr>
              <a:t>Unidades suspendidas ·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8595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E4DBF3"/>
                </a:solidFill>
                <a:latin typeface="Calibri"/>
              </a:rPr>
              <a:t>Del 14/09/2026 al 27/10/2026 · Nacional · Todos los servicios</a:t>
            </a:r>
          </a:p>
        </p:txBody>
      </p:sp>
      <p:pic>
        <p:nvPicPr>
          <p:cNvPr id="6" name="Picture 5" descr="mtd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56032"/>
            <a:ext cx="2380293" cy="5669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73952"/>
            <a:ext cx="973835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748B"/>
                </a:solidFill>
                <a:latin typeface="Calibri"/>
              </a:rPr>
              <a:t>Fuente: MTDH · Subsecretaría Territorial · Kobo de kits y bono de contingencia · Respuesta al 27/10/2026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7395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A748B"/>
                </a:solidFill>
                <a:latin typeface="Calibri"/>
              </a:rPr>
              <a:t>8 / 19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02920" y="1325880"/>
          <a:ext cx="11201400" cy="464515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371600"/>
                <a:gridCol w="1463040"/>
                <a:gridCol w="685800"/>
                <a:gridCol w="7680960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Provincia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Cantón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Servicio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Unidad de atención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PCD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Ahc Gad Machala Puerto Bolívar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PCD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Ahc Gad Machala González Rubio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PAM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A.D. Fusbaam Puerto Bolívar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Mst CNH Chilla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Mst CNH Blanca García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Mst CNH 5 de Diciembre 1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Mst CNH 12 de Noviembre 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Mst CNH Amazonas 2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Mst CNH Amazonas 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Mst CNH Autoridad Portuaria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Mst CNH la Unión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Mst CNH Puerto Azul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Mst CNH Puerto Nuevo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Mst CNH Rafael Morán Valverde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Mst CNH Rumiñahui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Mst CNH Simón Bolívar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Mst CNH Wilson Franco Cruz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PE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Gadmachala Eti 2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gradFill rotWithShape="1">
            <a:gsLst>
              <a:gs pos="0">
                <a:srgbClr val="2B164F"/>
              </a:gs>
              <a:gs pos="100000">
                <a:srgbClr val="512F8D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8595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entury Gothic"/>
              </a:rPr>
              <a:t>Unidades suspendidas · 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8595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E4DBF3"/>
                </a:solidFill>
                <a:latin typeface="Calibri"/>
              </a:rPr>
              <a:t>Del 14/09/2026 al 27/10/2026 · Nacional · Todos los servicios</a:t>
            </a:r>
          </a:p>
        </p:txBody>
      </p:sp>
      <p:pic>
        <p:nvPicPr>
          <p:cNvPr id="6" name="Picture 5" descr="mtd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56032"/>
            <a:ext cx="2380293" cy="5669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73952"/>
            <a:ext cx="973835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748B"/>
                </a:solidFill>
                <a:latin typeface="Calibri"/>
              </a:rPr>
              <a:t>Fuente: MTDH · Subsecretaría Territorial · Kobo de kits y bono de contingencia · Respuesta al 27/10/2026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7395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A748B"/>
                </a:solidFill>
                <a:latin typeface="Calibri"/>
              </a:rPr>
              <a:t>9 / 19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02920" y="1325880"/>
          <a:ext cx="11201400" cy="464515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371600"/>
                <a:gridCol w="1463040"/>
                <a:gridCol w="685800"/>
                <a:gridCol w="7680960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Provincia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Cantón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Servicio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Unidad de atención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PAM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Pam.Ad.Dd. Machala Puerto Bolívar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PCD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Ahc Gad Machala Luz de América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CDI-MIES Gad Machala Travesuras Infantiles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Mst CNH Voluntad de Dios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Mst CNH Nuevo Pilo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Mst CNH Venezuela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Mst CNH Primero de Enero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Mst CNH San Francisco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Mst CNH Luz de América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Mst CNH Costa Azul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Mst CNH Floridas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PAM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Ad. Fusbaam Primero de Enero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PCD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Ahc Gad Municipal Machala Venezuela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Centro de Desarrollo Infantil Globitos de Colores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Centro de Desarrollo Infantil Caperucita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PAM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Pam.Ad.Dd. Machala Venezuela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 Canguritos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Mt CNH la Iberia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gradFill rotWithShape="1">
            <a:gsLst>
              <a:gs pos="0">
                <a:srgbClr val="2B164F"/>
              </a:gs>
              <a:gs pos="100000">
                <a:srgbClr val="512F8D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8595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entury Gothic"/>
              </a:rPr>
              <a:t>Unidades suspendidas ·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8595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E4DBF3"/>
                </a:solidFill>
                <a:latin typeface="Calibri"/>
              </a:rPr>
              <a:t>Del 14/09/2026 al 27/10/2026 · Nacional · Todos los servicios</a:t>
            </a:r>
          </a:p>
        </p:txBody>
      </p:sp>
      <p:pic>
        <p:nvPicPr>
          <p:cNvPr id="6" name="Picture 5" descr="mtd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56032"/>
            <a:ext cx="2380293" cy="5669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73952"/>
            <a:ext cx="973835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748B"/>
                </a:solidFill>
                <a:latin typeface="Calibri"/>
              </a:rPr>
              <a:t>Fuente: MTDH · Subsecretaría Territorial · Kobo de kits y bono de contingencia · Respuesta al 27/10/2026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7395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A748B"/>
                </a:solidFill>
                <a:latin typeface="Calibri"/>
              </a:rPr>
              <a:t>10 / 19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02920" y="1325880"/>
          <a:ext cx="11201400" cy="440740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371600"/>
                <a:gridCol w="1463040"/>
                <a:gridCol w="685800"/>
                <a:gridCol w="7680960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Provincia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Cantón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Servicio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Unidad de atención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Mt CNH Villas del Sol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Mt CNH 10 de Agosto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Mt CNH Pubenza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Mt CNH Unión Colombiana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Mt CNH la Maravilla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Centro de Desarrollo Infantil Hogar de Nazareth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PAM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Pam.Ad.Dd. el Cambio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CDI-MIES Gad Machala Unidos en Beneficio de los Niños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PAM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Ad.Fusbaam Machala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AF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A.F. Machala 1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PAM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Ad. Fusbaam el Retiro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Mst CNH 15 de Octubre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Mst CNH Buena Esperanza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Mt CNH el Retiro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Mt CNH Caserio Guarumales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El Guabo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Centro de Desarrollo Infantil Súper Niño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El Guabo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Centro de Desarrollo Infantil Estrellita de Mar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gradFill rotWithShape="1">
            <a:gsLst>
              <a:gs pos="0">
                <a:srgbClr val="2B164F"/>
              </a:gs>
              <a:gs pos="100000">
                <a:srgbClr val="512F8D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8595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entury Gothic"/>
              </a:rPr>
              <a:t>Alertas en servicios MTDH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8595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E4DBF3"/>
                </a:solidFill>
                <a:latin typeface="Calibri"/>
              </a:rPr>
              <a:t>Del 14/09/2026 al 27/10/2026 · Nacional · Todos los servicios</a:t>
            </a:r>
          </a:p>
        </p:txBody>
      </p:sp>
      <p:pic>
        <p:nvPicPr>
          <p:cNvPr id="6" name="Picture 5" descr="mtd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56032"/>
            <a:ext cx="2380293" cy="5669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73952"/>
            <a:ext cx="973835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748B"/>
                </a:solidFill>
                <a:latin typeface="Calibri"/>
              </a:rPr>
              <a:t>Fuente: MTDH · Subsecretaría Territorial · Kobo de kits y bono de contingencia · Respuesta al 27/10/2026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7395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A748B"/>
                </a:solidFill>
                <a:latin typeface="Calibri"/>
              </a:rPr>
              <a:t>11 / 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243584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B164F"/>
                </a:solidFill>
                <a:latin typeface="Century Gothic"/>
              </a:rPr>
              <a:t>Evolución de las alertas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627632"/>
            <a:ext cx="6766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5A5765"/>
                </a:solidFill>
                <a:latin typeface="Calibri"/>
              </a:rPr>
              <a:t>Registradas cada día y acumuladas desde el 14/09/2026</a:t>
            </a:r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1965960"/>
            <a:ext cx="6949440" cy="39319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26679" y="1243584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B164F"/>
                </a:solidFill>
                <a:latin typeface="Century Gothic"/>
              </a:rPr>
              <a:t>Cada alerta, una unidad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26679" y="1627632"/>
            <a:ext cx="4023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5A5765"/>
                </a:solidFill>
                <a:latin typeface="Calibri"/>
              </a:rPr>
              <a:t>Por provincia · el color indica el servicio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26679" y="2167128"/>
            <a:ext cx="1097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2B164F"/>
                </a:solidFill>
                <a:latin typeface="Calibri"/>
              </a:rPr>
              <a:t>Guayas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0" y="2167128"/>
            <a:ext cx="320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A5765"/>
                </a:solidFill>
                <a:latin typeface="Calibri"/>
              </a:rPr>
              <a:t>7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0" y="2148840"/>
            <a:ext cx="301752" cy="301752"/>
          </a:xfrm>
          <a:prstGeom prst="roundRect">
            <a:avLst>
              <a:gd name="adj" fmla="val 12000"/>
            </a:avLst>
          </a:prstGeom>
          <a:solidFill>
            <a:srgbClr val="512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509760" y="2148840"/>
            <a:ext cx="301752" cy="301752"/>
          </a:xfrm>
          <a:prstGeom prst="roundRect">
            <a:avLst>
              <a:gd name="adj" fmla="val 12000"/>
            </a:avLst>
          </a:prstGeom>
          <a:solidFill>
            <a:srgbClr val="512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875520" y="2148840"/>
            <a:ext cx="301752" cy="301752"/>
          </a:xfrm>
          <a:prstGeom prst="roundRect">
            <a:avLst>
              <a:gd name="adj" fmla="val 12000"/>
            </a:avLst>
          </a:prstGeom>
          <a:solidFill>
            <a:srgbClr val="512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0241280" y="2148840"/>
            <a:ext cx="301752" cy="301752"/>
          </a:xfrm>
          <a:prstGeom prst="roundRect">
            <a:avLst>
              <a:gd name="adj" fmla="val 12000"/>
            </a:avLst>
          </a:prstGeom>
          <a:solidFill>
            <a:srgbClr val="512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0607040" y="2148840"/>
            <a:ext cx="301752" cy="301752"/>
          </a:xfrm>
          <a:prstGeom prst="roundRect">
            <a:avLst>
              <a:gd name="adj" fmla="val 12000"/>
            </a:avLst>
          </a:prstGeom>
          <a:solidFill>
            <a:srgbClr val="512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0972800" y="2148840"/>
            <a:ext cx="301752" cy="301752"/>
          </a:xfrm>
          <a:prstGeom prst="roundRect">
            <a:avLst>
              <a:gd name="adj" fmla="val 12000"/>
            </a:avLst>
          </a:prstGeom>
          <a:solidFill>
            <a:srgbClr val="512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1338560" y="2148840"/>
            <a:ext cx="301752" cy="301752"/>
          </a:xfrm>
          <a:prstGeom prst="roundRect">
            <a:avLst>
              <a:gd name="adj" fmla="val 12000"/>
            </a:avLst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26679" y="2670048"/>
            <a:ext cx="1097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2B164F"/>
                </a:solidFill>
                <a:latin typeface="Calibri"/>
              </a:rPr>
              <a:t>El Oro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78240" y="2670048"/>
            <a:ext cx="320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A5765"/>
                </a:solidFill>
                <a:latin typeface="Calibri"/>
              </a:rPr>
              <a:t>6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144000" y="2651760"/>
            <a:ext cx="301752" cy="301752"/>
          </a:xfrm>
          <a:prstGeom prst="roundRect">
            <a:avLst>
              <a:gd name="adj" fmla="val 12000"/>
            </a:avLst>
          </a:prstGeom>
          <a:solidFill>
            <a:srgbClr val="512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9509760" y="2651760"/>
            <a:ext cx="301752" cy="301752"/>
          </a:xfrm>
          <a:prstGeom prst="roundRect">
            <a:avLst>
              <a:gd name="adj" fmla="val 12000"/>
            </a:avLst>
          </a:prstGeom>
          <a:solidFill>
            <a:srgbClr val="512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875520" y="2651760"/>
            <a:ext cx="301752" cy="301752"/>
          </a:xfrm>
          <a:prstGeom prst="roundRect">
            <a:avLst>
              <a:gd name="adj" fmla="val 12000"/>
            </a:avLst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0241280" y="2651760"/>
            <a:ext cx="301752" cy="301752"/>
          </a:xfrm>
          <a:prstGeom prst="roundRect">
            <a:avLst>
              <a:gd name="adj" fmla="val 12000"/>
            </a:avLst>
          </a:prstGeom>
          <a:solidFill>
            <a:srgbClr val="A32C7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10607040" y="2651760"/>
            <a:ext cx="301752" cy="301752"/>
          </a:xfrm>
          <a:prstGeom prst="roundRect">
            <a:avLst>
              <a:gd name="adj" fmla="val 12000"/>
            </a:avLst>
          </a:prstGeom>
          <a:solidFill>
            <a:srgbClr val="A32C7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10972800" y="2651760"/>
            <a:ext cx="301752" cy="301752"/>
          </a:xfrm>
          <a:prstGeom prst="roundRect">
            <a:avLst>
              <a:gd name="adj" fmla="val 12000"/>
            </a:avLst>
          </a:prstGeom>
          <a:solidFill>
            <a:srgbClr val="A32C7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26679" y="3172968"/>
            <a:ext cx="1097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2B164F"/>
                </a:solidFill>
                <a:latin typeface="Calibri"/>
              </a:rPr>
              <a:t>Manabí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78240" y="3172968"/>
            <a:ext cx="320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A5765"/>
                </a:solidFill>
                <a:latin typeface="Calibri"/>
              </a:rPr>
              <a:t>4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144000" y="3154680"/>
            <a:ext cx="301752" cy="301752"/>
          </a:xfrm>
          <a:prstGeom prst="roundRect">
            <a:avLst>
              <a:gd name="adj" fmla="val 12000"/>
            </a:avLst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9509760" y="3154680"/>
            <a:ext cx="301752" cy="301752"/>
          </a:xfrm>
          <a:prstGeom prst="roundRect">
            <a:avLst>
              <a:gd name="adj" fmla="val 12000"/>
            </a:avLst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9875520" y="3154680"/>
            <a:ext cx="301752" cy="301752"/>
          </a:xfrm>
          <a:prstGeom prst="roundRect">
            <a:avLst>
              <a:gd name="adj" fmla="val 12000"/>
            </a:avLst>
          </a:prstGeom>
          <a:solidFill>
            <a:srgbClr val="A995E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10241280" y="3154680"/>
            <a:ext cx="301752" cy="301752"/>
          </a:xfrm>
          <a:prstGeom prst="roundRect">
            <a:avLst>
              <a:gd name="adj" fmla="val 12000"/>
            </a:avLst>
          </a:prstGeom>
          <a:solidFill>
            <a:srgbClr val="A995E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726679" y="3675887"/>
            <a:ext cx="1097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2B164F"/>
                </a:solidFill>
                <a:latin typeface="Calibri"/>
              </a:rPr>
              <a:t>Los Ríos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778240" y="3675887"/>
            <a:ext cx="320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A5765"/>
                </a:solidFill>
                <a:latin typeface="Calibri"/>
              </a:rPr>
              <a:t>2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144000" y="3657600"/>
            <a:ext cx="301752" cy="301752"/>
          </a:xfrm>
          <a:prstGeom prst="roundRect">
            <a:avLst>
              <a:gd name="adj" fmla="val 12000"/>
            </a:avLst>
          </a:prstGeom>
          <a:solidFill>
            <a:srgbClr val="A32C7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9509760" y="3657600"/>
            <a:ext cx="301752" cy="301752"/>
          </a:xfrm>
          <a:prstGeom prst="roundRect">
            <a:avLst>
              <a:gd name="adj" fmla="val 12000"/>
            </a:avLst>
          </a:prstGeom>
          <a:solidFill>
            <a:srgbClr val="A32C7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726679" y="4178808"/>
            <a:ext cx="1097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2B164F"/>
                </a:solidFill>
                <a:latin typeface="Calibri"/>
              </a:rPr>
              <a:t>Santo Domingo de los Tsáchilas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778240" y="4178808"/>
            <a:ext cx="320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A5765"/>
                </a:solidFill>
                <a:latin typeface="Calibri"/>
              </a:rPr>
              <a:t>1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144000" y="4160520"/>
            <a:ext cx="301752" cy="301752"/>
          </a:xfrm>
          <a:prstGeom prst="roundRect">
            <a:avLst>
              <a:gd name="adj" fmla="val 12000"/>
            </a:avLst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726679" y="4681727"/>
            <a:ext cx="1097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2B164F"/>
                </a:solidFill>
                <a:latin typeface="Calibri"/>
              </a:rPr>
              <a:t>Esmeraldas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778240" y="4681727"/>
            <a:ext cx="320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A5765"/>
                </a:solidFill>
                <a:latin typeface="Calibri"/>
              </a:rPr>
              <a:t>1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144000" y="4663440"/>
            <a:ext cx="301752" cy="301752"/>
          </a:xfrm>
          <a:prstGeom prst="roundRect">
            <a:avLst>
              <a:gd name="adj" fmla="val 12000"/>
            </a:avLst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7726679" y="5312664"/>
            <a:ext cx="182880" cy="182880"/>
          </a:xfrm>
          <a:prstGeom prst="roundRect">
            <a:avLst>
              <a:gd name="adj" fmla="val 10000"/>
            </a:avLst>
          </a:prstGeom>
          <a:solidFill>
            <a:srgbClr val="512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973567" y="5257800"/>
            <a:ext cx="1920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A5765"/>
                </a:solidFill>
                <a:latin typeface="Calibri"/>
              </a:rPr>
              <a:t>Desarrollo Infantil · 8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9829800" y="5312664"/>
            <a:ext cx="182880" cy="182880"/>
          </a:xfrm>
          <a:prstGeom prst="roundRect">
            <a:avLst>
              <a:gd name="adj" fmla="val 10000"/>
            </a:avLst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076688" y="5257800"/>
            <a:ext cx="1920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A5765"/>
                </a:solidFill>
                <a:latin typeface="Calibri"/>
              </a:rPr>
              <a:t>Gerontología · 6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7726679" y="5632703"/>
            <a:ext cx="182880" cy="182880"/>
          </a:xfrm>
          <a:prstGeom prst="roundRect">
            <a:avLst>
              <a:gd name="adj" fmla="val 10000"/>
            </a:avLst>
          </a:prstGeom>
          <a:solidFill>
            <a:srgbClr val="A32C7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973567" y="5577840"/>
            <a:ext cx="1920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A5765"/>
                </a:solidFill>
                <a:latin typeface="Calibri"/>
              </a:rPr>
              <a:t>AHC · 5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829800" y="5632703"/>
            <a:ext cx="182880" cy="182880"/>
          </a:xfrm>
          <a:prstGeom prst="roundRect">
            <a:avLst>
              <a:gd name="adj" fmla="val 10000"/>
            </a:avLst>
          </a:prstGeom>
          <a:solidFill>
            <a:srgbClr val="A995E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0076688" y="5577840"/>
            <a:ext cx="1920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A5765"/>
                </a:solidFill>
                <a:latin typeface="Calibri"/>
              </a:rPr>
              <a:t>CNH · 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02920" y="6053328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A5765"/>
                </a:solidFill>
                <a:latin typeface="Calibri"/>
              </a:rPr>
              <a:t>21 alertas reportadas: 10 con código UA y 11 reportes sectoriales.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gradFill rotWithShape="1">
            <a:gsLst>
              <a:gs pos="0">
                <a:srgbClr val="2B164F"/>
              </a:gs>
              <a:gs pos="100000">
                <a:srgbClr val="512F8D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8595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entury Gothic"/>
              </a:rPr>
              <a:t>Registro de alertas ·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8595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E4DBF3"/>
                </a:solidFill>
                <a:latin typeface="Calibri"/>
              </a:rPr>
              <a:t>Del 14/09/2026 al 27/10/2026 · Nacional · Todos los servicios</a:t>
            </a:r>
          </a:p>
        </p:txBody>
      </p:sp>
      <p:pic>
        <p:nvPicPr>
          <p:cNvPr id="6" name="Picture 5" descr="mtd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56032"/>
            <a:ext cx="2380293" cy="5669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73952"/>
            <a:ext cx="973835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748B"/>
                </a:solidFill>
                <a:latin typeface="Calibri"/>
              </a:rPr>
              <a:t>Fuente: MTDH · Subsecretaría Territorial · Kobo de kits y bono de contingencia · Respuesta al 27/10/2026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7395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A748B"/>
                </a:solidFill>
                <a:latin typeface="Calibri"/>
              </a:rPr>
              <a:t>12 / 19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280160"/>
          <a:ext cx="11274552" cy="454456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417320"/>
                <a:gridCol w="2880360"/>
                <a:gridCol w="1325880"/>
                <a:gridCol w="4462272"/>
                <a:gridCol w="118872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Alerta / fecha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Unidad y servicio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Territorio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Situación reportada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Estado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DIS-2026-003
26/10/2026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—
Discapacidades · AHC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El Oro
El Guabo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Inundaciones en viviendas de usuarios; acompañamiento y monitoreo. Servicio operativo.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En seguimiento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DIS-2026-002
26/10/2026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—
Discapacidades · AHC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El Oro
Pasaje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Inundaciones en viviendas de usuarios; monitoreo de facilitadores. Servicio operativo.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En seguimiento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DIS-2026-001
26/10/2026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—
Discapacidades · AHC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El Oro
Machala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Inundaciones en viviendas de usuarios; monitoreo de facilitadores. Servicio operativo.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En seguimiento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DIS-2026-005
25/10/2026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Familia por un Buen Vivir para Personas con Discapacidad 7
Discapacidades · AHC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Los Ríos
Babahoyo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Inundación de vivienda de un núcleo familiar; levantamiento de información. Servicio operativo.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En seguimiento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DIS-2026-004
25/10/2026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Familia por un Buen Vivir para Personas con Discapacidad 5
Discapacidades · AHC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Los Ríos
Babahoyo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Colapso de vivienda de un usuario; evaluación de necesidades. Servicio operativo.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En seguimiento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ALT-2026-000325
20/10/2026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Gotita del Amor
UA 62210 · Desarrollo Infantil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Guayas
Milagro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Ingreso de agua en la unidad; sin energía ni agua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Pendiente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ALT-2026-000323
20/10/2026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Mis Pequeños Angelitos
UA 14294 · Desarrollo Infantil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Guayas
Milagro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Ingreso de agua y goteras en la unidad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Pendiente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gradFill rotWithShape="1">
            <a:gsLst>
              <a:gs pos="0">
                <a:srgbClr val="2B164F"/>
              </a:gs>
              <a:gs pos="100000">
                <a:srgbClr val="512F8D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8595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entury Gothic"/>
              </a:rPr>
              <a:t>Registro de alertas ·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8595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E4DBF3"/>
                </a:solidFill>
                <a:latin typeface="Calibri"/>
              </a:rPr>
              <a:t>Del 14/09/2026 al 27/10/2026 · Nacional · Todos los servicios</a:t>
            </a:r>
          </a:p>
        </p:txBody>
      </p:sp>
      <p:pic>
        <p:nvPicPr>
          <p:cNvPr id="6" name="Picture 5" descr="mtd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56032"/>
            <a:ext cx="2380293" cy="5669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73952"/>
            <a:ext cx="973835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748B"/>
                </a:solidFill>
                <a:latin typeface="Calibri"/>
              </a:rPr>
              <a:t>Fuente: MTDH · Subsecretaría Territorial · Kobo de kits y bono de contingencia · Respuesta al 27/10/2026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7395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A748B"/>
                </a:solidFill>
                <a:latin typeface="Calibri"/>
              </a:rPr>
              <a:t>13 / 19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280160"/>
          <a:ext cx="11274552" cy="454456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417320"/>
                <a:gridCol w="2880360"/>
                <a:gridCol w="1325880"/>
                <a:gridCol w="4462272"/>
                <a:gridCol w="118872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Alerta / fecha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Unidad y servicio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Territorio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Situación reportada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Estado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ALT-2026-000322
20/10/2026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Niños Juguetones
UA 13916 · Desarrollo Infantil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Guayas
Milagro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Agua dentro y fuera de la unidad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Pendiente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ALT-2026-000321
20/10/2026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Pequeños Jilgueritos
UA 62208 · Desarrollo Infantil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Guayas
Milagro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Acumulación de agua en la entrada de la unidad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Pendiente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ALT-2026-000319
20/10/2026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Centro de Desarrollo Infantil Estrellita de Mar
UA 60221 · Desarrollo Infantil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El Oro
El Guabo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Ingreso de agua; cambio temporal a modalidad virtual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En seguimiento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ALT-2026-000318
20/10/2026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Centro de Desarrollo Infantil Súper Niño
UA 60220 · Desarrollo Infantil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El Oro
El Guabo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Ingreso de agua; cambio temporal a modalidad virtual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En seguimiento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ALT-2026-000316
19/10/2026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 Niños de San Rafael
UA 58337 · Desarrollo Infantil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Guayas
Guayaquil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Alerta por inundación en Tenguel vinculada a la UA; afectación al servicio por confirmar.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Pendiente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ALT-2026-000315
19/10/2026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 Los Niños del Cisne
UA 58336 · Desarrollo Infantil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Guayas
Guayaquil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Alerta por inundación en Tenguel vinculada a la UA; afectación al servicio por confirmar.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Pendiente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ALT-2026-000310
16/10/2026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 Estrellitas del Amanecer
UA 56744 · Creciendo con Nuestros Hijos (CNH)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Manabí
Flavio Alfaro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Acceso impedido para atención presencial; contacto telefónico temporal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Pendiente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gradFill rotWithShape="1">
            <a:gsLst>
              <a:gs pos="0">
                <a:srgbClr val="2B164F"/>
              </a:gs>
              <a:gs pos="100000">
                <a:srgbClr val="512F8D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8595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entury Gothic"/>
              </a:rPr>
              <a:t>Registro de alertas ·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8595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E4DBF3"/>
                </a:solidFill>
                <a:latin typeface="Calibri"/>
              </a:rPr>
              <a:t>Del 14/09/2026 al 27/10/2026 · Nacional · Todos los servicios</a:t>
            </a:r>
          </a:p>
        </p:txBody>
      </p:sp>
      <p:pic>
        <p:nvPicPr>
          <p:cNvPr id="6" name="Picture 5" descr="mtd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56032"/>
            <a:ext cx="2380293" cy="5669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73952"/>
            <a:ext cx="973835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748B"/>
                </a:solidFill>
                <a:latin typeface="Calibri"/>
              </a:rPr>
              <a:t>Fuente: MTDH · Subsecretaría Territorial · Kobo de kits y bono de contingencia · Respuesta al 27/10/2026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7395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A748B"/>
                </a:solidFill>
                <a:latin typeface="Calibri"/>
              </a:rPr>
              <a:t>14 / 19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280160"/>
          <a:ext cx="11274552" cy="454456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417320"/>
                <a:gridCol w="2880360"/>
                <a:gridCol w="1325880"/>
                <a:gridCol w="4462272"/>
                <a:gridCol w="118872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Alerta / fecha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Unidad y servicio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Territorio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Situación reportada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Estado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ALT-2026-000309
16/10/2026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Correo Infantil
UA 56204 · Creciendo con Nuestros Hijos (CNH)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Manabí
Flavio Alfaro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Acceso impedido para atención presencial; contacto telefónico temporal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Pendiente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GER-2026-006
Agosto 2026 (sin día)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—
Centros gerontológicos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Santo Domingo de los Tsáchilas
Santo Domingo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Filtraciones y humedad; mitigación inmediata. Servicio operativo.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En seguimiento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GER-2026-005
Agosto 2026 (sin día)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—
Centros gerontológicos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Manabí
Pedernales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Filtraciones y humedad; medidas de contingencia. Servicio operativo.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En seguimiento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GER-2026-004
Agosto 2026 (sin día)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—
Centros gerontológicos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Manabí
Portoviejo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Filtraciones y humedad; adecuaciones provisionales. Servicio operativo.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En seguimiento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GER-2026-003
Agosto 2026 (sin día)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—
Centros gerontológicos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Guayas
Milagro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Filtraciones y humedad; medidas preventivas y correctivas. Servicio operativo.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En seguimiento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GER-2026-002
Agosto 2026 (sin día)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—
Centros gerontológicos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Esmeraldas
San Lorenzo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Filtraciones y humedad; intervención emergente. Servicio operativo.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En seguimiento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GER-2026-001
Agosto 2026 (sin día)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—
Centros gerontológicos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El Oro
Huaquillas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Filtraciones en techo y daños en patio; mitigación temporal. Servicio operativo.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En seguimiento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gradFill rotWithShape="1">
            <a:gsLst>
              <a:gs pos="0">
                <a:srgbClr val="2B164F"/>
              </a:gs>
              <a:gs pos="100000">
                <a:srgbClr val="512F8D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8595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entury Gothic"/>
              </a:rPr>
              <a:t>Kits entregados en provincias priorizadas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8595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E4DBF3"/>
                </a:solidFill>
                <a:latin typeface="Calibri"/>
              </a:rPr>
              <a:t>Del 14/09/2026 al 27/10/2026 · Nacional · Todos los servicios</a:t>
            </a:r>
          </a:p>
        </p:txBody>
      </p:sp>
      <p:pic>
        <p:nvPicPr>
          <p:cNvPr id="6" name="Picture 5" descr="mtd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56032"/>
            <a:ext cx="2380293" cy="5669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73952"/>
            <a:ext cx="973835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748B"/>
                </a:solidFill>
                <a:latin typeface="Calibri"/>
              </a:rPr>
              <a:t>Fuente: MTDH · Subsecretaría Territorial · Kobo de kits y bono de contingencia · Respuesta al 27/10/2026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7395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A748B"/>
                </a:solidFill>
                <a:latin typeface="Calibri"/>
              </a:rPr>
              <a:t>15 / 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243584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B164F"/>
                </a:solidFill>
                <a:latin typeface="Century Gothic"/>
              </a:rPr>
              <a:t>13.981 kits en 22 provincias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627632"/>
            <a:ext cx="11155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5A5765"/>
                </a:solidFill>
                <a:latin typeface="Calibri"/>
              </a:rPr>
              <a:t>111 registros Kobo · corte 27/10/2026, 13:35 · cada círculo es una entrega y su tamaño indica los kits</a:t>
            </a:r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1920240"/>
            <a:ext cx="11155680" cy="41605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02920" y="6108192"/>
            <a:ext cx="11155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A5765"/>
                </a:solidFill>
                <a:latin typeface="Calibri"/>
              </a:rPr>
              <a:t>Núcleos familiares reportados por entrega: 12.987; no son núcleos familiares únicos.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gradFill rotWithShape="1">
            <a:gsLst>
              <a:gs pos="0">
                <a:srgbClr val="2B164F"/>
              </a:gs>
              <a:gs pos="100000">
                <a:srgbClr val="512F8D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8595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entury Gothic"/>
              </a:rPr>
              <a:t>Bono de contingencia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8595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E4DBF3"/>
                </a:solidFill>
                <a:latin typeface="Calibri"/>
              </a:rPr>
              <a:t>Del 14/09/2026 al 27/10/2026 · Nacional · Todos los servicios</a:t>
            </a:r>
          </a:p>
        </p:txBody>
      </p:sp>
      <p:pic>
        <p:nvPicPr>
          <p:cNvPr id="6" name="Picture 5" descr="mtd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56032"/>
            <a:ext cx="2380293" cy="5669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73952"/>
            <a:ext cx="973835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748B"/>
                </a:solidFill>
                <a:latin typeface="Calibri"/>
              </a:rPr>
              <a:t>Fuente: MTDH · Subsecretaría Territorial · Kobo de kits y bono de contingencia · Respuesta al 27/10/2026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7395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A748B"/>
                </a:solidFill>
                <a:latin typeface="Calibri"/>
              </a:rPr>
              <a:t>16 / 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243584"/>
            <a:ext cx="7040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B164F"/>
                </a:solidFill>
                <a:latin typeface="Century Gothic"/>
              </a:rPr>
              <a:t>Cada etapa, por provincia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627632"/>
            <a:ext cx="7040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5A5765"/>
                </a:solidFill>
                <a:latin typeface="Calibri"/>
              </a:rPr>
              <a:t>Inundaciones · cada barra suma el 100 % de su etapa; las etapas no se suman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411480" y="1874519"/>
          <a:ext cx="7223760" cy="356616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8001000" y="1243584"/>
            <a:ext cx="37490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B164F"/>
                </a:solidFill>
                <a:latin typeface="Century Gothic"/>
              </a:rPr>
              <a:t>Planificación El Niño 2026–2027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1000" y="1627632"/>
            <a:ext cx="3749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5A5765"/>
                </a:solidFill>
                <a:latin typeface="Calibri"/>
              </a:rPr>
              <a:t>Proyección nacional · planificación, no ejecución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01000" y="1965960"/>
            <a:ext cx="3749039" cy="987552"/>
          </a:xfrm>
          <a:prstGeom prst="roundRect">
            <a:avLst>
              <a:gd name="adj" fmla="val 10000"/>
            </a:avLst>
          </a:prstGeom>
          <a:solidFill>
            <a:srgbClr val="FDF5D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01000" y="2112264"/>
            <a:ext cx="64008" cy="694944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75320" y="2057400"/>
            <a:ext cx="3383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5A5765"/>
                </a:solidFill>
                <a:latin typeface="Calibri"/>
              </a:rPr>
              <a:t>Personas potenciales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20" y="2331720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2B164F"/>
                </a:solidFill>
                <a:latin typeface="Century Gothic"/>
              </a:rPr>
              <a:t>145.523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01000" y="3108960"/>
            <a:ext cx="3749039" cy="987552"/>
          </a:xfrm>
          <a:prstGeom prst="roundRect">
            <a:avLst>
              <a:gd name="adj" fmla="val 10000"/>
            </a:avLst>
          </a:prstGeom>
          <a:solidFill>
            <a:srgbClr val="FDF5D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01000" y="3255264"/>
            <a:ext cx="64008" cy="694944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75320" y="3200400"/>
            <a:ext cx="3383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5A5765"/>
                </a:solidFill>
                <a:latin typeface="Calibri"/>
              </a:rPr>
              <a:t>Núcleos familiares potenciales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5320" y="3474720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2B164F"/>
                </a:solidFill>
                <a:latin typeface="Century Gothic"/>
              </a:rPr>
              <a:t>44.098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01000" y="4251960"/>
            <a:ext cx="3749039" cy="987552"/>
          </a:xfrm>
          <a:prstGeom prst="roundRect">
            <a:avLst>
              <a:gd name="adj" fmla="val 10000"/>
            </a:avLst>
          </a:prstGeom>
          <a:solidFill>
            <a:srgbClr val="FDF5D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01000" y="4398264"/>
            <a:ext cx="64008" cy="694944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75320" y="4343400"/>
            <a:ext cx="3383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5A5765"/>
                </a:solidFill>
                <a:latin typeface="Calibri"/>
              </a:rPr>
              <a:t>Inversión estimada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4617720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2B164F"/>
                </a:solidFill>
                <a:latin typeface="Century Gothic"/>
              </a:rPr>
              <a:t>USD 13.405.351,02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5715000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5A5765"/>
                </a:solidFill>
                <a:latin typeface="Calibri"/>
              </a:rPr>
              <a:t>La ayuda memoria no identifica pagos exclusivamente atribuibles a ENOS ni fechas individuales para recortar desde el 14/09. Se muestran únicamente las filas de inundación como referencia: pagos gestionados desde el 29/08 y casos en articulación al 23/10. Articulación no equivale a pago. Las proyecciones corresponden a planificación nacional 2026–2027.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gradFill rotWithShape="1">
            <a:gsLst>
              <a:gs pos="0">
                <a:srgbClr val="2B164F"/>
              </a:gs>
              <a:gs pos="100000">
                <a:srgbClr val="512F8D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8595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entury Gothic"/>
              </a:rPr>
              <a:t>Resumen por provincia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8595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E4DBF3"/>
                </a:solidFill>
                <a:latin typeface="Calibri"/>
              </a:rPr>
              <a:t>Del 14/09/2026 al 27/10/2026 · Nacional · Todos los servicios</a:t>
            </a:r>
          </a:p>
        </p:txBody>
      </p:sp>
      <p:pic>
        <p:nvPicPr>
          <p:cNvPr id="6" name="Picture 5" descr="mtd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56032"/>
            <a:ext cx="2380293" cy="5669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73952"/>
            <a:ext cx="973835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748B"/>
                </a:solidFill>
                <a:latin typeface="Calibri"/>
              </a:rPr>
              <a:t>Fuente: MTDH · Subsecretaría Territorial · Kobo de kits y bono de contingencia · Respuesta al 27/10/2026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7395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A748B"/>
                </a:solidFill>
                <a:latin typeface="Calibri"/>
              </a:rPr>
              <a:t>17 / 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243584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B164F"/>
                </a:solidFill>
                <a:latin typeface="Century Gothic"/>
              </a:rPr>
              <a:t>Acciones del Ministerio en cada provincia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627632"/>
            <a:ext cx="11155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5A5765"/>
                </a:solidFill>
                <a:latin typeface="Calibri"/>
              </a:rPr>
              <a:t>22 provincias · kits, bono gestionado (núcleos familiares) y casos en articulación (personas)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02920" y="1874519"/>
          <a:ext cx="5486399" cy="44348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463039"/>
                <a:gridCol w="685800"/>
                <a:gridCol w="594360"/>
                <a:gridCol w="1051560"/>
                <a:gridCol w="594360"/>
                <a:gridCol w="1097280"/>
              </a:tblGrid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Provincia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Kits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Bono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USD gestionado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Artic.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USD articulación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2B164F"/>
                          </a:solidFill>
                          <a:latin typeface="Calibri"/>
                        </a:rPr>
                        <a:t>Azuay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757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303,99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2B164F"/>
                          </a:solidFill>
                          <a:latin typeface="Calibri"/>
                        </a:rPr>
                        <a:t>Bolívar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141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2B164F"/>
                          </a:solidFill>
                          <a:latin typeface="Calibri"/>
                        </a:rPr>
                        <a:t>Carchi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780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2B164F"/>
                          </a:solidFill>
                          <a:latin typeface="Calibri"/>
                        </a:rPr>
                        <a:t>Cañar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2B164F"/>
                          </a:solidFill>
                          <a:latin typeface="Calibri"/>
                        </a:rPr>
                        <a:t>Chimborazo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2B164F"/>
                          </a:solidFill>
                          <a:latin typeface="Calibri"/>
                        </a:rPr>
                        <a:t>Cotopaxi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250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66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181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55.022,19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2B164F"/>
                          </a:solidFill>
                          <a:latin typeface="Calibri"/>
                        </a:rPr>
                        <a:t>Esmeraldas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3.820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530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160.558,20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2B164F"/>
                          </a:solidFill>
                          <a:latin typeface="Calibri"/>
                        </a:rPr>
                        <a:t>Guayas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6.850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67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19.264,51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344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104.246,01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2B164F"/>
                          </a:solidFill>
                          <a:latin typeface="Calibri"/>
                        </a:rPr>
                        <a:t>Imbabura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498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1.519,95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2B164F"/>
                          </a:solidFill>
                          <a:latin typeface="Calibri"/>
                        </a:rPr>
                        <a:t>Loja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79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72200" y="1874519"/>
          <a:ext cx="5486399" cy="44348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463039"/>
                <a:gridCol w="685800"/>
                <a:gridCol w="594360"/>
                <a:gridCol w="1051560"/>
                <a:gridCol w="594360"/>
                <a:gridCol w="1097280"/>
              </a:tblGrid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Provincia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Kits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Bono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USD gestionado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Artic.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USD articulación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2B164F"/>
                          </a:solidFill>
                          <a:latin typeface="Calibri"/>
                        </a:rPr>
                        <a:t>Los Ríos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64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109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33.033,06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2B164F"/>
                          </a:solidFill>
                          <a:latin typeface="Calibri"/>
                        </a:rPr>
                        <a:t>Manabí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110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45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13.632,30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2B164F"/>
                          </a:solidFill>
                          <a:latin typeface="Calibri"/>
                        </a:rPr>
                        <a:t>Morona Santiago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205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2B164F"/>
                          </a:solidFill>
                          <a:latin typeface="Calibri"/>
                        </a:rPr>
                        <a:t>Napo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180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2B164F"/>
                          </a:solidFill>
                          <a:latin typeface="Calibri"/>
                        </a:rPr>
                        <a:t>Pastaza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2B164F"/>
                          </a:solidFill>
                          <a:latin typeface="Calibri"/>
                        </a:rPr>
                        <a:t>Pichincha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64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2B164F"/>
                          </a:solidFill>
                          <a:latin typeface="Calibri"/>
                        </a:rPr>
                        <a:t>Santa Elena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2B164F"/>
                          </a:solidFill>
                          <a:latin typeface="Calibri"/>
                        </a:rPr>
                        <a:t>Santo Domingo de los Tsáchilas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2B164F"/>
                          </a:solidFill>
                          <a:latin typeface="Calibri"/>
                        </a:rPr>
                        <a:t>Sucumbíos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44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2B164F"/>
                          </a:solidFill>
                          <a:latin typeface="Calibri"/>
                        </a:rPr>
                        <a:t>Tungurahua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2B164F"/>
                          </a:solidFill>
                          <a:latin typeface="Calibri"/>
                        </a:rPr>
                        <a:t>Zamora Chinchipe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gradFill rotWithShape="1">
            <a:gsLst>
              <a:gs pos="0">
                <a:srgbClr val="2B164F"/>
              </a:gs>
              <a:gs pos="100000">
                <a:srgbClr val="512F8D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8595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entury Gothic"/>
              </a:rPr>
              <a:t>Respuesta en el territorio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8595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E4DBF3"/>
                </a:solidFill>
                <a:latin typeface="Calibri"/>
              </a:rPr>
              <a:t>Del 14/09/2026 al 27/10/2026 · Nacional · Todos los servicios</a:t>
            </a:r>
          </a:p>
        </p:txBody>
      </p:sp>
      <p:pic>
        <p:nvPicPr>
          <p:cNvPr id="6" name="Picture 5" descr="mtd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56032"/>
            <a:ext cx="2380293" cy="5669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73952"/>
            <a:ext cx="973835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748B"/>
                </a:solidFill>
                <a:latin typeface="Calibri"/>
              </a:rPr>
              <a:t>Fuente: MTDH · Subsecretaría Territorial · Kobo de kits y bono de contingencia · Respuesta al 27/10/2026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7395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A748B"/>
                </a:solidFill>
                <a:latin typeface="Calibri"/>
              </a:rPr>
              <a:t>18 / 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43584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B164F"/>
                </a:solidFill>
                <a:latin typeface="Century Gothic"/>
              </a:rPr>
              <a:t>Alertas reportadas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783080"/>
            <a:ext cx="3657600" cy="42011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251960" y="1243584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B164F"/>
                </a:solidFill>
                <a:latin typeface="Century Gothic"/>
              </a:rPr>
              <a:t>UA suspendidas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51960" y="1783080"/>
            <a:ext cx="3657600" cy="42011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046720" y="1243584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B164F"/>
                </a:solidFill>
                <a:latin typeface="Century Gothic"/>
              </a:rPr>
              <a:t>Kits entregados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46720" y="1783080"/>
            <a:ext cx="3657600" cy="420116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gradFill rotWithShape="1">
            <a:gsLst>
              <a:gs pos="0">
                <a:srgbClr val="2B164F"/>
              </a:gs>
              <a:gs pos="100000">
                <a:srgbClr val="512F8D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8595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entury Gothic"/>
              </a:rPr>
              <a:t>Nota metodológica y fuentes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8595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E4DBF3"/>
                </a:solidFill>
                <a:latin typeface="Calibri"/>
              </a:rPr>
              <a:t>Del 14/09/2026 al 27/10/2026 · Nacional · Todos los servicios</a:t>
            </a:r>
          </a:p>
        </p:txBody>
      </p:sp>
      <p:pic>
        <p:nvPicPr>
          <p:cNvPr id="6" name="Picture 5" descr="mtd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56032"/>
            <a:ext cx="2380293" cy="5669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73952"/>
            <a:ext cx="973835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748B"/>
                </a:solidFill>
                <a:latin typeface="Calibri"/>
              </a:rPr>
              <a:t>Fuente: MTDH · Subsecretaría Territorial · Kobo de kits y bono de contingencia · Respuesta al 27/10/2026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7395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A748B"/>
                </a:solidFill>
                <a:latin typeface="Calibri"/>
              </a:rPr>
              <a:t>19 / 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325880"/>
            <a:ext cx="544068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250">
                <a:solidFill>
                  <a:srgbClr val="20202B"/>
                </a:solidFill>
                <a:latin typeface="Calibri"/>
              </a:rPr>
              <a:t>Seguimiento desde el 14/09/2026, complementado con reportes sectoriales de octubre: 10 alertas con código UA y 11 reportes sectoriales. Los 6 reportes gerontológicos describen sucesos de agosto sin día exacto; no se asignan a la evolución diaria. Los identificadores DIS/GER permiten localizar las filas incorporadas, no son códigos oficiales ni códigos UA. Las fuentes sectoriales indican que la prestación del servicio se mantiene. Alertas, unidades y personas son medidas distintas.</a:t>
            </a:r>
          </a:p>
          <a:p>
            <a:pPr>
              <a:spcAft>
                <a:spcPts val="1000"/>
              </a:spcAft>
            </a:pPr>
            <a:r>
              <a:rPr sz="1250">
                <a:solidFill>
                  <a:srgbClr val="20202B"/>
                </a:solidFill>
                <a:latin typeface="Calibri"/>
              </a:rPr>
              <a:t>Kits en provincias priorizadas: Kobo, corte 27/10/2026, 13:35:45. Entregas del 31/08 al 27/10; reemplaza el corte anterior. 13.981 kits reportados en 111 registros. Núcleos familiares: suma por entrega, no núcleos únicos. El registro de Cañar declara 1 kit, pero su observación indica una solicitud no recibida; pendiente de validación territorial.</a:t>
            </a:r>
          </a:p>
          <a:p>
            <a:pPr>
              <a:spcAft>
                <a:spcPts val="1000"/>
              </a:spcAft>
            </a:pPr>
            <a:r>
              <a:rPr sz="1250">
                <a:solidFill>
                  <a:srgbClr val="20202B"/>
                </a:solidFill>
                <a:latin typeface="Calibri"/>
              </a:rPr>
              <a:t>Fuente: unidades no operativas de El Oro al 27/10/2026; último reporte disponible de Guayas y Santa Elena al 26/10/2026.</a:t>
            </a:r>
          </a:p>
          <a:p>
            <a:pPr>
              <a:spcBef>
                <a:spcPts val="600"/>
              </a:spcBef>
            </a:pPr>
            <a:r>
              <a:rPr sz="1350">
                <a:solidFill>
                  <a:srgbClr val="5A5765"/>
                </a:solidFill>
                <a:latin typeface="Calibri"/>
              </a:rPr>
              <a:t>Más información en el </a:t>
            </a:r>
            <a:r>
              <a:rPr sz="1350" b="1" u="sng">
                <a:solidFill>
                  <a:srgbClr val="512F8D"/>
                </a:solidFill>
                <a:latin typeface="Calibri"/>
                <a:hlinkClick r:id="rId4"/>
              </a:rPr>
              <a:t>geoportal de unidades de atención y amenazas</a:t>
            </a:r>
            <a:r>
              <a:rPr sz="1350">
                <a:solidFill>
                  <a:srgbClr val="5A5765"/>
                </a:solidFill>
                <a:latin typeface="Calibri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1325880"/>
            <a:ext cx="544068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250">
                <a:solidFill>
                  <a:srgbClr val="20202B"/>
                </a:solidFill>
                <a:latin typeface="Calibri"/>
              </a:rPr>
              <a:t>La ayuda memoria no identifica pagos exclusivamente atribuibles a ENOS ni fechas individuales para recortar desde el 14/09. Se muestran únicamente las filas de inundación como referencia: pagos gestionados desde el 29/08 y casos en articulación al 23/10. Articulación no equivale a pago. Las proyecciones corresponden a planificación nacional 2026–2027.</a:t>
            </a:r>
          </a:p>
          <a:p>
            <a:pPr>
              <a:spcAft>
                <a:spcPts val="1000"/>
              </a:spcAft>
            </a:pPr>
            <a:r>
              <a:rPr sz="1250">
                <a:solidFill>
                  <a:srgbClr val="20202B"/>
                </a:solidFill>
                <a:latin typeface="Calibri"/>
              </a:rPr>
              <a:t>El territorio se aplica a todas las acciones; el servicio, a las alertas y al seguimiento de continuidad de atención. Kits y bono no se asocian a un servicio. La planificación del bono es nacional.</a:t>
            </a:r>
          </a:p>
          <a:p>
            <a:pPr>
              <a:spcAft>
                <a:spcPts val="1000"/>
              </a:spcAft>
            </a:pPr>
            <a:r>
              <a:rPr sz="1250">
                <a:solidFill>
                  <a:srgbClr val="20202B"/>
                </a:solidFill>
                <a:latin typeface="Calibri"/>
              </a:rPr>
              <a:t>Fuentes: Subsecretaría Territorial (análisis de alertas); corte Kobo de kits; ayuda memoria del bono de contingencia; base territorial de afectaciones por lluvias.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Riesgos · Del 14/09/2026 al 27/10/2026</dc:title>
  <dc:subject>Riesgos · Nacional</dc:subject>
  <dc:creator>Ministerio de Trabajo y Desarrollo Humano</dc:creator>
  <cp:keywords>MTDH, InfoReport, indicadores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