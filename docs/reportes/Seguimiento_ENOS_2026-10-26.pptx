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Alertas</c:v>
                </c:pt>
              </c:strCache>
            </c:strRef>
          </c:tx>
          <c:spPr>
            <a:solidFill>
              <a:srgbClr val="5A369A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Guayas</c:v>
                </c:pt>
                <c:pt idx="1">
                  <c:v>El Oro</c:v>
                </c:pt>
                <c:pt idx="2">
                  <c:v>Manabí</c:v>
                </c:pt>
              </c:strCache>
            </c:strRef>
          </c:cat>
          <c:val>
            <c:numRef>
              <c:f>Sheet1!$B$2:$B$4</c:f>
              <c:numCache>
                <c:formatCode>#,##0</c:formatCode>
                <c:ptCount val="3"/>
                <c:pt idx="0">
                  <c:v>6</c:v>
                </c:pt>
                <c:pt idx="1">
                  <c:v>2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 b="1">
                  <a:solidFill>
                    <a:srgbClr val="20202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0202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Alertas</c:v>
                </c:pt>
              </c:strCache>
            </c:strRef>
          </c:tx>
          <c:spPr>
            <a:solidFill>
              <a:srgbClr val="5A369A"/>
            </a:solidFill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Desarrollo Infantil</c:v>
                </c:pt>
                <c:pt idx="1">
                  <c:v>Creciendo con Nuestros Hijos (CNH)</c:v>
                </c:pt>
              </c:strCache>
            </c:strRef>
          </c:cat>
          <c:val>
            <c:numRef>
              <c:f>Sheet1!$B$2:$B$3</c:f>
              <c:numCache>
                <c:formatCode>#,##0</c:formatCode>
                <c:ptCount val="2"/>
                <c:pt idx="0">
                  <c:v>8</c:v>
                </c:pt>
                <c:pt idx="1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 b="1">
                  <a:solidFill>
                    <a:srgbClr val="20202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0202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Alertas por fecha</c:v>
                </c:pt>
              </c:strCache>
            </c:strRef>
          </c:tx>
          <c:spPr>
            <a:solidFill>
              <a:srgbClr val="5A369A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16/10</c:v>
                </c:pt>
                <c:pt idx="1">
                  <c:v>19/10</c:v>
                </c:pt>
                <c:pt idx="2">
                  <c:v>20/10</c:v>
                </c:pt>
              </c:strCache>
            </c:strRef>
          </c:cat>
          <c:val>
            <c:numRef>
              <c:f>Sheet1!$B$2:$B$4</c:f>
              <c:numCache>
                <c:formatCode>#,##0</c:formatCode>
                <c:ptCount val="3"/>
                <c:pt idx="0">
                  <c:v>2</c:v>
                </c:pt>
                <c:pt idx="1">
                  <c:v>2</c:v>
                </c:pt>
                <c:pt idx="2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 b="1">
                  <a:solidFill>
                    <a:srgbClr val="20202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0202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Unidades</c:v>
                </c:pt>
              </c:strCache>
            </c:strRef>
          </c:tx>
          <c:spPr>
            <a:solidFill>
              <a:srgbClr val="5A369A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El Oro</c:v>
                </c:pt>
                <c:pt idx="1">
                  <c:v>Guayas</c:v>
                </c:pt>
                <c:pt idx="2">
                  <c:v>Santa Elena</c:v>
                </c:pt>
              </c:strCache>
            </c:strRef>
          </c:cat>
          <c:val>
            <c:numRef>
              <c:f>Sheet1!$B$2:$B$4</c:f>
              <c:numCache>
                <c:formatCode>#,##0</c:formatCode>
                <c:ptCount val="3"/>
                <c:pt idx="0">
                  <c:v>75</c:v>
                </c:pt>
                <c:pt idx="1">
                  <c:v>17</c:v>
                </c:pt>
                <c:pt idx="2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 b="1">
                  <a:solidFill>
                    <a:srgbClr val="20202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9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0202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Unidades</c:v>
                </c:pt>
              </c:strCache>
            </c:strRef>
          </c:tx>
          <c:spPr>
            <a:solidFill>
              <a:srgbClr val="5A369A"/>
            </a:solidFill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CNH</c:v>
                </c:pt>
                <c:pt idx="1">
                  <c:v>CDI</c:v>
                </c:pt>
              </c:strCache>
            </c:strRef>
          </c:cat>
          <c:val>
            <c:numRef>
              <c:f>Sheet1!$B$2:$B$3</c:f>
              <c:numCache>
                <c:formatCode>#,##0</c:formatCode>
                <c:ptCount val="2"/>
                <c:pt idx="0">
                  <c:v>64</c:v>
                </c:pt>
                <c:pt idx="1">
                  <c:v>35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 b="1">
                  <a:solidFill>
                    <a:srgbClr val="20202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9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0202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Alertas con código UA: 10. Kits entregados: 13.390. Núcleos familiares con bono gestionado: 113. Monto de bonos gestionados: USD 33.200,80. Unidades cerradas / suspendidas: 99. 10 alertas con 10 códigos UA distintos: 8 Desarrollo Infantil; 2 Creciendo con Nuestros Hijos (CNH). Se excluyen los registros sin código UA.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Relationship Id="rId4" Type="http://schemas.openxmlformats.org/officeDocument/2006/relationships/chart" Target="../charts/chart1.xml"/><Relationship Id="rId5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Relationship Id="rId4" Type="http://schemas.openxmlformats.org/officeDocument/2006/relationships/chart" Target="../charts/chart3.xml"/><Relationship Id="rId5" Type="http://schemas.openxmlformats.org/officeDocument/2006/relationships/chart" Target="../charts/chart4.xml"/><Relationship Id="rId6" Type="http://schemas.openxmlformats.org/officeDocument/2006/relationships/chart" Target="../charts/char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92040" cy="6858000"/>
          </a:xfrm>
          <a:prstGeom prst="rect">
            <a:avLst/>
          </a:prstGeom>
          <a:gradFill rotWithShape="1">
            <a:gsLst>
              <a:gs pos="0">
                <a:srgbClr val="1E0F3B"/>
              </a:gs>
              <a:gs pos="100000">
                <a:srgbClr val="512F8D"/>
              </a:gs>
            </a:gsLst>
            <a:lin scaled="0" ang="36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700" y="3675887"/>
            <a:ext cx="2072640" cy="1828800"/>
          </a:xfrm>
          <a:prstGeom prst="rect">
            <a:avLst/>
          </a:prstGeom>
        </p:spPr>
      </p:pic>
      <p:pic>
        <p:nvPicPr>
          <p:cNvPr id="4" name="Picture 3" descr="mtd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384048"/>
            <a:ext cx="2533861" cy="603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371600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8C018"/>
                </a:solidFill>
                <a:latin typeface="Calibri"/>
              </a:rPr>
              <a:t>Del 14/09/2026 al 26/10/2026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072"/>
            <a:ext cx="406908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200" b="1">
                <a:solidFill>
                  <a:srgbClr val="FFFFFF"/>
                </a:solidFill>
                <a:latin typeface="Century Gothic"/>
              </a:rPr>
              <a:t>Riesgos · Respuesta del Ministerio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182112"/>
            <a:ext cx="822960" cy="64008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310128"/>
            <a:ext cx="4023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E4DBF3"/>
                </a:solidFill>
                <a:latin typeface="Calibri"/>
              </a:rPr>
              <a:t>Nacional · Todos los servicios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96128"/>
            <a:ext cx="4023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Corte: Respuesta al 26/10/2026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Actualizado el 26 de octubre de 2026, 18:00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Según cortes recibidos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36208"/>
            <a:ext cx="41148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8C018"/>
                </a:solidFill>
                <a:latin typeface="Century Gothic"/>
              </a:rPr>
              <a:t>El corazón de Ecuador. </a:t>
            </a:r>
            <a:r>
              <a:rPr sz="1050" b="0">
                <a:solidFill>
                  <a:srgbClr val="E4DBF3"/>
                </a:solidFill>
                <a:latin typeface="Calibri"/>
              </a:rPr>
              <a:t>Velamos por la calidad de vida de los ecuatorianos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566928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B164F"/>
                </a:solidFill>
                <a:latin typeface="Century Gothic"/>
              </a:rPr>
              <a:t>Cifras clave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024128"/>
            <a:ext cx="630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Riesgos · Del 14/09/2026 al 26/10/2026 · Nacional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49240" y="162763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49240" y="1901952"/>
            <a:ext cx="64008" cy="1664207"/>
          </a:xfrm>
          <a:prstGeom prst="rect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641848" y="192024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shield-bl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1751" y="2060143"/>
            <a:ext cx="341985" cy="34198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0" y="199339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Alertas con código UA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78424" y="270662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78424" y="331927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Registros distintos · desde 14/09/2026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95944" y="162763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95944" y="1901952"/>
            <a:ext cx="64008" cy="1664207"/>
          </a:xfrm>
          <a:prstGeom prst="rect">
            <a:avLst/>
          </a:prstGeom>
          <a:solidFill>
            <a:srgbClr val="7657B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988552" y="192024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life-buoy-blan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8455" y="2060143"/>
            <a:ext cx="341985" cy="34198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747504" y="199339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Kits entregados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25128" y="270662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13.390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331927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20 provincias priorizadas · corte 26/10, 22:26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49240" y="409651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49240" y="4370832"/>
            <a:ext cx="64008" cy="1664207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641848" y="438912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hand-coins-blan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81751" y="4529023"/>
            <a:ext cx="341985" cy="34198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400800" y="446227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Núcleos familiares con bono gestionado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78424" y="517550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113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78424" y="578815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Por inundaciones · gestión del bono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95944" y="409651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95944" y="4370832"/>
            <a:ext cx="64008" cy="1664207"/>
          </a:xfrm>
          <a:prstGeom prst="rect">
            <a:avLst/>
          </a:prstGeom>
          <a:solidFill>
            <a:srgbClr val="C33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988552" y="438912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banknote-blanc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28455" y="4529023"/>
            <a:ext cx="341985" cy="341985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747504" y="446227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Monto de bonos gestionados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25128" y="517550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B164F"/>
                </a:solidFill>
                <a:latin typeface="Century Gothic"/>
              </a:rPr>
              <a:t>USD 33.200,80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25128" y="578815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Corte del bono: 23/10/2026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49240" y="6473952"/>
            <a:ext cx="4892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Generado el 26 de octubre de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Alertas por provincia y servicio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2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2588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Alertas por provincia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02920" y="1828800"/>
          <a:ext cx="5303520" cy="34747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132588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Alertas por servicio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217920" y="1828800"/>
          <a:ext cx="5303520" cy="347472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02920" y="5532120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0202B"/>
                </a:solidFill>
                <a:latin typeface="Calibri"/>
              </a:rPr>
              <a:t>10 alertas con 10 códigos UA distintos: 8 Desarrollo Infantil; 2 Creciendo con Nuestros Hijos (CNH). Se excluyen los registros sin código UA.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Evolución de las alertas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3 / 10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02920" y="1325880"/>
          <a:ext cx="5486400" cy="19202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0" y="1508760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512F8D"/>
                </a:solidFill>
                <a:latin typeface="Calibri"/>
              </a:rPr>
              <a:t>99 Unidades cerradas / suspendidas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48840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B"/>
                </a:solidFill>
                <a:latin typeface="Calibri"/>
              </a:rPr>
              <a:t>Atención suspendida · corte 26/10/2026, 16:00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2918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UA suspendidas por provincia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502920" y="3657600"/>
          <a:ext cx="5303520" cy="192024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217920" y="32918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UA suspendidas por servicio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6217920" y="3657600"/>
          <a:ext cx="5303520" cy="192024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02920" y="5715000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0202B"/>
                </a:solidFill>
                <a:latin typeface="Calibri"/>
              </a:rPr>
              <a:t>Fuente: reporte territorial de unidades con suspensión total o presencial. Corte: 26/10/2026, 16:00.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Detalle de las unidades suspendidas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4 / 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71600"/>
          <a:ext cx="11155679" cy="43616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1645920"/>
                <a:gridCol w="731520"/>
                <a:gridCol w="502920"/>
                <a:gridCol w="6903719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Unidades identificadas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55778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Raquel Aguilar; Tío Boanerges; Gotitas de Amor; Dina Verdi; Súper Niño; Estrellita de Mar; Niños al Futuro; Milagritos de Dios; Caritas Alegres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Pasaje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Pasitos con Amor; Buen Vivir de los Niños y Niñas; Aprender Jugando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5778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Sin cantón en la base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Unidades sin nombre en la base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Manantial del Saber; Virgen de las Mercedes #218; Rivera de los Vergeles; María de la Paz; Ángel de Luz; Camino al Buen Vivir; Jardín de los Sueños; Mundo Infantil; Nuestros Niños en Dios; Los Niños del Mañana; Sueños Infantiles; María Teresa; 9 de Enero; Cosechando Sueños; Angelitos Dei; Amiguitos del Futuro; Niños San Rafael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5778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Salinas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Mickey Mouse; Los Piqueritos; Tía Peluca; Mis Pequeños Angelitos; Caritas Alegres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Semillitas del Mañana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5778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Mis Primeras Enseñanzas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Alertas con código UA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5 / 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71600"/>
          <a:ext cx="11155679" cy="4434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80160"/>
                <a:gridCol w="2743200"/>
                <a:gridCol w="1234440"/>
                <a:gridCol w="4069079"/>
                <a:gridCol w="1097280"/>
                <a:gridCol w="7315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Alerta / registro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y 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Territorio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Afectación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Prioridad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ALT-2026-000325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GOTITA DEL AMOR
UA 62210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 en la unidad; sin energía ni agua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ALT-2026-000323
20/10/2026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MIS PEQUEÑOS ANGELITOS
UA 14294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 y goteras en la unidad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ALT-2026-000322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NIÑOS JUGUETONES
UA 13916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Agua dentro y fuera de la unidad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ALT-2026-000321
20/10/2026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PEQUEÑOS JILGUERITOS
UA 62208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Acumulación de agua en la entrada de la unidad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ALT-2026-000319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ESTRELLITA DE MAR
UA 60221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agua; cambio temporal a modalidad virtual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587959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0202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Alertas con código UA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6 / 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71600"/>
          <a:ext cx="11155679" cy="4434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80160"/>
                <a:gridCol w="2743200"/>
                <a:gridCol w="1234440"/>
                <a:gridCol w="4069079"/>
                <a:gridCol w="1097280"/>
                <a:gridCol w="7315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Alerta / registro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y 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Territorio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Afectación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Prioridad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ALT-2026-000318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SUPER NIÑO
UA 60220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agua; cambio temporal a modalidad virtual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ALT-2026-000316
19/10/2026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NIÑOS DE SAN RAFAEL
UA 58337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Alerta por inundación en Tenguel vinculada a la UA; afectación al servicio por confirmar.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ALT-2026-000315
19/10/2026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LOS NIÑOS DEL CISNE
UA 58336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Alerta por inundación en Tenguel vinculada a la UA; afectación al servicio por confirmar.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ALT-2026-000310
16/10/2026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 ESTRELLITAS DEL AMANECER
UA 56744 · Creciendo con Nuestros Hijos (CNH)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Flavio Alfaro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 impedido para atención presencial; contacto telefónico temporal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ALT-2026-000309
16/10/2026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CORREO INFANTIL
UA 56204 · Creciendo con Nuestros Hijos (CNH)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Flavio Alfaro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 impedido para atención presencial; contacto telefónico temporal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587959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0202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Acciones del Ministerio en cada provincia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7 / 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71600"/>
          <a:ext cx="5394960" cy="42153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91640"/>
                <a:gridCol w="548640"/>
                <a:gridCol w="594360"/>
                <a:gridCol w="960120"/>
                <a:gridCol w="640080"/>
                <a:gridCol w="960120"/>
              </a:tblGrid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Kits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Bono: núcleos familiares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USD gestionado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Artic. personas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USD articulación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Azuay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303,99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Bolívar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141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Carchi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780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Chimborazo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Cotopaxi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250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55.022,19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Esmeraldas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3.820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530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160.558,20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6.850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19.264,51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344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104.246,01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Imbabura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498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1.519,95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Loja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Los Ríos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109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33.033,06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371600"/>
          <a:ext cx="5394960" cy="35570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91640"/>
                <a:gridCol w="548640"/>
                <a:gridCol w="594360"/>
                <a:gridCol w="960120"/>
                <a:gridCol w="640080"/>
                <a:gridCol w="960120"/>
              </a:tblGrid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Kits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Bono: núcleos familiares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USD gestionado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Artic. personas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USD articulación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Manabí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13.632,30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Napo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Pastaza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Pichincha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Santo Domingo de los Tsáchilas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Sucumbíos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Tungurahua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Zamora Chinchipe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571500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0202B"/>
                </a:solidFill>
                <a:latin typeface="Calibri"/>
              </a:rPr>
              <a:t>La ayuda memoria no identifica pagos exclusivamente atribuibles a ENOS ni fechas individuales para recortar desde el 14/09. Se muestran únicamente las filas de inundación como referencia: pagos gestionados desde el 29/08 y casos en articulación al 23/10. Articulación no equivale a pago. Las proyecciones corresponden a planificación nacional 2026–2027.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Kits y planificación del bono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8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Kits en provincias priorizadas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783080"/>
          <a:ext cx="3200400" cy="35661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65960"/>
                <a:gridCol w="594360"/>
                <a:gridCol w="6400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Kits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Núcleos familiares*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6.850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6.850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Esmeraldas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3.820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3.485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Carchi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780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780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Azuay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318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Imbabura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498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498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Cotopaxi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250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249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Bolívar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141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141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Loja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Manabí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40480" y="1783080"/>
          <a:ext cx="3200400" cy="35661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65960"/>
                <a:gridCol w="594360"/>
                <a:gridCol w="6400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Kits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Núcleos familiares*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Pichincha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Los Ríos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Napo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Sucumbíos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Tungurahua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Santo Domingo de los Tsáchilas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Zamora Chinchipe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Chimborazo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B164F"/>
                          </a:solidFill>
                          <a:latin typeface="Calibri"/>
                        </a:rPr>
                        <a:t>Pastaza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20202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02920" y="5532120"/>
            <a:ext cx="64922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0202B"/>
                </a:solidFill>
                <a:latin typeface="Calibri"/>
              </a:rPr>
              <a:t>13.390 kits · 12.681 núcleos familiares reportados* · 89 registros. *No son núcleos familiares únicos. Corte Kobo: 26/10/2026, 22:26.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28016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Planificación El Niño 2026–2027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1920240"/>
            <a:ext cx="438912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0202B"/>
                </a:solidFill>
                <a:latin typeface="Calibri"/>
              </a:rPr>
              <a:t>145.523 personas potenciales</a:t>
            </a:r>
          </a:p>
          <a:p>
            <a:pPr algn="l"/>
            <a:r>
              <a:rPr sz="1800" b="0">
                <a:solidFill>
                  <a:srgbClr val="20202B"/>
                </a:solidFill>
                <a:latin typeface="Calibri"/>
              </a:rPr>
              <a:t>44.098 núcleos familiares potenciales</a:t>
            </a:r>
          </a:p>
          <a:p>
            <a:pPr algn="l"/>
            <a:r>
              <a:rPr sz="1800" b="0">
                <a:solidFill>
                  <a:srgbClr val="20202B"/>
                </a:solidFill>
                <a:latin typeface="Calibri"/>
              </a:rPr>
              <a:t>USD 13.405.351,02 de inversión estimada</a:t>
            </a:r>
          </a:p>
          <a:p>
            <a:pPr algn="l"/>
            <a:r>
              <a:rPr sz="1800" b="0">
                <a:solidFill>
                  <a:srgbClr val="20202B"/>
                </a:solidFill>
                <a:latin typeface="Calibri"/>
              </a:rPr>
              <a:t>Proyección nacional; planificación, no ejecución.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Respuesta en el territorio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9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Alertas con código UA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828800"/>
            <a:ext cx="5303520" cy="43891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128016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Kits en provincias priorizadas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1828800"/>
            <a:ext cx="53035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Nota metodológica y fuentes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10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25880"/>
            <a:ext cx="1828800" cy="9619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Alertas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1325880"/>
            <a:ext cx="9144000" cy="9619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0202B"/>
                </a:solidFill>
                <a:latin typeface="Calibri"/>
              </a:rPr>
              <a:t>Se muestran únicamente alertas revisadas con código UA registrado, desde el 14 de septiembre de 2026. El conteo corresponde a códigos de alerta distintos vinculados a unidades identificadas. Los registros sin código quedan fuera de este alcance. La fecha corresponde al registro y una alerta no equivale necesariamente a un evento único. El campo Afectados mezcla personas, familias y usuarios; no se suma como personas únicas. La base no certifica atribución causal a ENOS.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97556"/>
            <a:ext cx="1828800" cy="7534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Kits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397556"/>
            <a:ext cx="9144000" cy="7534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0202B"/>
                </a:solidFill>
                <a:latin typeface="Calibri"/>
              </a:rPr>
              <a:t>Kits en provincias priorizadas: Kobo, corte 26/10/2026, 22:26:42. Entregas del 31/08 al 26/10; incluye fechas anteriores al inicio de las alertas. Reemplaza el corte anterior. Núcleos familiares reportados: suma por entrega, no núcleos únicos. El total de kits de este corte fue confirmado oficialmente.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260750"/>
            <a:ext cx="1828800" cy="8144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Bono de contingencia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260750"/>
            <a:ext cx="9144000" cy="8144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0202B"/>
                </a:solidFill>
                <a:latin typeface="Calibri"/>
              </a:rPr>
              <a:t>La ayuda memoria no identifica pagos exclusivamente atribuibles a ENOS ni fechas individuales para recortar desde el 14/09. Se muestran únicamente las filas de inundación como referencia: pagos gestionados desde el 29/08 y casos en articulación al 23/10. Articulación no equivale a pago. Las proyecciones corresponden a planificación nacional 2026–2027.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184903"/>
            <a:ext cx="1828800" cy="624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Filtros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4184903"/>
            <a:ext cx="9144000" cy="624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0202B"/>
                </a:solidFill>
                <a:latin typeface="Calibri"/>
              </a:rPr>
              <a:t>El territorio se aplica a todas las acciones; el servicio, a las alertas y al seguimiento de continuidad de atención. Kits y bono no se asocian a un servicio. La planificación del bono es nacional.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918862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20202B"/>
                </a:solidFill>
                <a:latin typeface="Calibri"/>
              </a:rPr>
              <a:t>Fuentes: Subsecretaría Territorial (análisis de alertas); corte Kobo de kits; ayuda memoria del bono de contingencia; base territorial de afectaciones por lluvias.
Geoportal: https://geoportal.trabajo.gob.ec/ua_amenazas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Riesgos · Respuesta del Ministerio · Del 14/09/2026 al 26/10/2026</dc:title>
  <dc:subject>Riesgos · Nacional</dc:subject>
  <dc:creator>Ministerio de Trabajo y Desarrollo Humano</dc:creator>
  <cp:keywords>MTDH, InfoReport, indicadores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