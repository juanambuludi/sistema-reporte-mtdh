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Guayas</c:v>
                </c:pt>
                <c:pt idx="1">
                  <c:v>El Oro</c:v>
                </c:pt>
                <c:pt idx="2">
                  <c:v>Manabí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6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Sheet1!$A$2:$A$3</c:f>
              <c:strCache>
                <c:ptCount val="2"/>
                <c:pt idx="0">
                  <c:v>Desarrollo Infantil</c:v>
                </c:pt>
                <c:pt idx="1">
                  <c:v>Creciendo con Nuestros Hijos (CNH)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</c:v>
                </c:pt>
                <c:pt idx="1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Alertas por fecha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Sheet1!$A$2:$A$4</c:f>
              <c:strCache>
                <c:ptCount val="3"/>
                <c:pt idx="0">
                  <c:v>16/10</c:v>
                </c:pt>
                <c:pt idx="1">
                  <c:v>19/10</c:v>
                </c:pt>
                <c:pt idx="2">
                  <c:v>20/10</c:v>
                </c:pt>
              </c:strCache>
            </c:strRef>
          </c:cat>
          <c:val>
            <c:numRef>
              <c:f>Sheet1!$B$2:$B$4</c:f>
              <c:numCache>
                <c:formatCode>#,##0</c:formatCode>
                <c:ptCount val="3"/>
                <c:pt idx="0">
                  <c:v>2</c:v>
                </c:pt>
                <c:pt idx="1">
                  <c:v>2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Unidades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Sheet1!$A$2:$A$3</c:f>
              <c:strCache>
                <c:ptCount val="2"/>
                <c:pt idx="0">
                  <c:v>El Oro</c:v>
                </c:pt>
                <c:pt idx="1">
                  <c:v>Santa Elena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12</c:v>
                </c:pt>
                <c:pt idx="1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Unidades</c:v>
                </c:pt>
              </c:strCache>
            </c:strRef>
          </c:tx>
          <c:spPr>
            <a:solidFill>
              <a:srgbClr val="5A369A"/>
            </a:solidFill>
          </c:spPr>
          <c:cat>
            <c:strRef>
              <c:f>Sheet1!$A$2:$A$5</c:f>
              <c:strCache>
                <c:ptCount val="4"/>
                <c:pt idx="0">
                  <c:v>CNH: suspensión presencial</c:v>
                </c:pt>
                <c:pt idx="1">
                  <c:v>Cerradas / suspendidas</c:v>
                </c:pt>
                <c:pt idx="2">
                  <c:v>Modalidad por confirmar</c:v>
                </c:pt>
                <c:pt idx="3">
                  <c:v>CDI: atención virtual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63</c:v>
                </c:pt>
                <c:pt idx="1">
                  <c:v>19</c:v>
                </c:pt>
                <c:pt idx="2">
                  <c:v>17</c:v>
                </c:pt>
                <c:pt idx="3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200" b="1">
                  <a:solidFill>
                    <a:srgbClr val="20202B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20202B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con código UA: 10. Kits entregados: 802. Núcleos con bono gestionado: 113. Monto de bonos gestionados: USD 33.200,80. Unidades de atención cerradas: 19. 10 alertas con 10 códigos UA distintos: 8 Desarrollo Infantil; 2 Creciendo con Nuestros Hijos (CNH). 8 con afectación documentada y 2 por confirmar. Se excluyen los registros sin código 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reporte ministerial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Relationship Id="rId4" Type="http://schemas.openxmlformats.org/officeDocument/2006/relationships/chart" Target="../charts/chart3.xml"/><Relationship Id="rId5" Type="http://schemas.openxmlformats.org/officeDocument/2006/relationships/chart" Target="../charts/chart4.xml"/><Relationship Id="rId6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26/10/2026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26/10/2026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26 de octubre de 2026, 16:44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26/10/2026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con código UA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Registros distintos · desde 14/09/2026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802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4 provincias priorizadas · 24 y 25/10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Núcleos con bono gestionado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113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Por inundaciones · gestión del bono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de bonos gestionados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33.200,80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Generado el 26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por provincia y servicio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provincia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por servicio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217920" y="1828800"/>
          <a:ext cx="5303520" cy="34747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553212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10 alertas con 10 códigos UA distintos: 8 Desarrollo Infantil; 2 Creciendo con Nuestros Hijos (CNH). 8 con afectación documentada y 2 por confirmar. Se excluyen los registros sin código UA.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9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02920" y="1325880"/>
          <a:ext cx="5486400" cy="19202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508760"/>
            <a:ext cx="5029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512F8D"/>
                </a:solidFill>
                <a:latin typeface="Calibri"/>
              </a:rPr>
              <a:t>19 Unidades de atención cerradas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148840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20202B"/>
                </a:solidFill>
                <a:latin typeface="Calibri"/>
              </a:rPr>
              <a:t>Atención suspendida · corte 26/10/2026, 16:00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Unidades cerradas por provincia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502920" y="3657600"/>
          <a:ext cx="5303520" cy="19202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217920" y="32918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Estado de atención reportado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17920" y="3657600"/>
          <a:ext cx="5303520" cy="19202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2920" y="571500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Fuente: base territorial de afectaciones por lluvias, corte 26/10/2026, 16:00. Cerradas corresponde al estado Suspendida (18 CDI y 1 CNH). Los 63 CNH con suspensión presencial y los 11 CDI en atención virtual se muestran por separado. Son cifras reportadas, sin códigos UA en esta base; no se suman a las 10 alertas ni constituyen un censo nacional de cierres.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1/2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con código UA · 2/2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280160"/>
                <a:gridCol w="2743200"/>
                <a:gridCol w="1234440"/>
                <a:gridCol w="4069079"/>
                <a:gridCol w="109728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registro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Afectación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Prioridad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SUPER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79552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Baja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879592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71600"/>
          <a:ext cx="11155679" cy="4114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526279"/>
                <a:gridCol w="685800"/>
                <a:gridCol w="1371600"/>
                <a:gridCol w="1463040"/>
                <a:gridCol w="155448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 / cantones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Bono gestionado (núcleos)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Monto (USD)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En articulación (personas)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Monto (USD)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Azuay
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Esmeraldas
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Guayas
Guayaquil, Milagro, 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Imbabura
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Los Ríos
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Manabí
Flavio Alfaro, 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0,00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
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33.200,80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1.169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354.379,41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623560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y planificación del bono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83080"/>
          <a:ext cx="6400800" cy="360273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51560"/>
                <a:gridCol w="1828800"/>
                <a:gridCol w="2788920"/>
                <a:gridCol w="7315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Palestina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Cuenca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24/10/2026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Portoviejo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2B164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20202B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02920" y="562356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Kits entregados en provincias priorizadas el 24–25/10/2026; corte 25/10, 19:00. No es el acumulado desde el 14/09.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28016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920240"/>
            <a:ext cx="43891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145.523 personas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44.098 núcleos familiares potenciales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USD 13.405.351,02 de inversión estimada</a:t>
            </a:r>
          </a:p>
          <a:p>
            <a:pPr algn="l"/>
            <a:r>
              <a:rPr sz="1800" b="0">
                <a:solidFill>
                  <a:srgbClr val="20202B"/>
                </a:solidFill>
                <a:latin typeface="Calibri"/>
              </a:rPr>
              <a:t>Proyección nacional; planificación, no ejecución.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con código UA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28800"/>
            <a:ext cx="5303520" cy="43891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12801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 provincias priorizadas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828800"/>
            <a:ext cx="530352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26/10/2026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reportes de kits y bono de contingencia · Respuesta al 26/10/2026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1828800" cy="961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1325880"/>
            <a:ext cx="9144000" cy="9619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Se muestran únicamente alertas revisadas con código UA registrado, desde el 14 de septiembre de 2026. El conteo corresponde a códigos de alerta distintos vinculados a unidades identificadas. Los registros sin código quedan fuera de este alcance. La fecha corresponde al registro y una alerta no equivale necesariamente a un evento único. El campo Afectados mezcla personas, familias y usuarios; no se suma como personas únicas. La base no certifica atribución causal a ENOS.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97556"/>
            <a:ext cx="18288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Revisión de alertas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397556"/>
            <a:ext cx="9144000" cy="724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En el corte nacional hay 10 alertas con 10 códigos UA distintos: 8 con afectación documentada y 2 por confirmar. ALT-2026-000315 y ALT-2026-000316 (Tenguel) tienen código UA, pero el relato solo describe inundación territorial; no se presentan como daños confirmados al servicio.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231489"/>
            <a:ext cx="1828800" cy="523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Kits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231489"/>
            <a:ext cx="9144000" cy="5230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Kits entregados en provincias priorizadas el 24–25/10/2026; corte 25/10, 19:00. No es el acumulado desde el 14/09.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64254"/>
            <a:ext cx="18288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Bono de contingencia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864254"/>
            <a:ext cx="9144000" cy="8144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788408"/>
            <a:ext cx="1828800" cy="62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Filtros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4788408"/>
            <a:ext cx="9144000" cy="6242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22366"/>
            <a:ext cx="111556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0202B"/>
                </a:solidFill>
                <a:latin typeface="Calibri"/>
              </a:rPr>
              <a:t>Fuentes: Subsecretaría Territorial (análisis de alertas); reporte ministerial de kits; ayuda memoria del bono de contingencia; base territorial de afectaciones por lluvias.
Geoportal: https://geoportal.trabajo.gob.ec/ua_amenazas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26/10/2026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