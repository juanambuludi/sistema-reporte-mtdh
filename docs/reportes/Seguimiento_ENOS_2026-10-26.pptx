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Alertas</c:v>
                </c:pt>
              </c:strCache>
            </c:strRef>
          </c:tx>
          <c:spPr>
            <a:solidFill>
              <a:srgbClr val="5A369A"/>
            </a:solidFill>
          </c:spPr>
          <c:cat>
            <c:strRef>
              <c:f>Sheet1!$A$2:$A$4</c:f>
              <c:strCache>
                <c:ptCount val="3"/>
                <c:pt idx="0">
                  <c:v>Guayas</c:v>
                </c:pt>
                <c:pt idx="1">
                  <c:v>El Oro</c:v>
                </c:pt>
                <c:pt idx="2">
                  <c:v>Manabí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6</c:v>
                </c:pt>
                <c:pt idx="1">
                  <c:v>2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 b="1">
                  <a:solidFill>
                    <a:srgbClr val="2020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020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Alertas</c:v>
                </c:pt>
              </c:strCache>
            </c:strRef>
          </c:tx>
          <c:spPr>
            <a:solidFill>
              <a:srgbClr val="5A369A"/>
            </a:solidFill>
          </c:spPr>
          <c:cat>
            <c:strRef>
              <c:f>Sheet1!$A$2:$A$3</c:f>
              <c:strCache>
                <c:ptCount val="2"/>
                <c:pt idx="0">
                  <c:v>Desarrollo Infantil</c:v>
                </c:pt>
                <c:pt idx="1">
                  <c:v>Creciendo con Nuestros Hijos (CNH)</c:v>
                </c:pt>
              </c:strCache>
            </c:strRef>
          </c:cat>
          <c:val>
            <c:numRef>
              <c:f>Sheet1!$B$2:$B$3</c:f>
              <c:numCache>
                <c:formatCode>#,##0</c:formatCode>
                <c:ptCount val="2"/>
                <c:pt idx="0">
                  <c:v>8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 b="1">
                  <a:solidFill>
                    <a:srgbClr val="2020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020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Alertas por fecha</c:v>
                </c:pt>
              </c:strCache>
            </c:strRef>
          </c:tx>
          <c:spPr>
            <a:solidFill>
              <a:srgbClr val="5A369A"/>
            </a:solidFill>
          </c:spPr>
          <c:cat>
            <c:strRef>
              <c:f>Sheet1!$A$2:$A$4</c:f>
              <c:strCache>
                <c:ptCount val="3"/>
                <c:pt idx="0">
                  <c:v>16/10</c:v>
                </c:pt>
                <c:pt idx="1">
                  <c:v>19/10</c:v>
                </c:pt>
                <c:pt idx="2">
                  <c:v>20/10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2</c:v>
                </c:pt>
                <c:pt idx="1">
                  <c:v>2</c:v>
                </c:pt>
                <c:pt idx="2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 b="1">
                  <a:solidFill>
                    <a:srgbClr val="2020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020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Unidades</c:v>
                </c:pt>
              </c:strCache>
            </c:strRef>
          </c:tx>
          <c:spPr>
            <a:solidFill>
              <a:srgbClr val="5A369A"/>
            </a:solidFill>
          </c:spPr>
          <c:cat>
            <c:strRef>
              <c:f>Sheet1!$A$2:$A$4</c:f>
              <c:strCache>
                <c:ptCount val="3"/>
                <c:pt idx="0">
                  <c:v>El Oro</c:v>
                </c:pt>
                <c:pt idx="1">
                  <c:v>Guayas</c:v>
                </c:pt>
                <c:pt idx="2">
                  <c:v>Santa Elena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75</c:v>
                </c:pt>
                <c:pt idx="1">
                  <c:v>17</c:v>
                </c:pt>
                <c:pt idx="2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 b="1">
                  <a:solidFill>
                    <a:srgbClr val="2020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020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Unidades</c:v>
                </c:pt>
              </c:strCache>
            </c:strRef>
          </c:tx>
          <c:spPr>
            <a:solidFill>
              <a:srgbClr val="5A369A"/>
            </a:solidFill>
          </c:spPr>
          <c:cat>
            <c:strRef>
              <c:f>Sheet1!$A$2:$A$3</c:f>
              <c:strCache>
                <c:ptCount val="2"/>
                <c:pt idx="0">
                  <c:v>CNH</c:v>
                </c:pt>
                <c:pt idx="1">
                  <c:v>CDI</c:v>
                </c:pt>
              </c:strCache>
            </c:strRef>
          </c:cat>
          <c:val>
            <c:numRef>
              <c:f>Sheet1!$B$2:$B$3</c:f>
              <c:numCache>
                <c:formatCode>#,##0</c:formatCode>
                <c:ptCount val="2"/>
                <c:pt idx="0">
                  <c:v>64</c:v>
                </c:pt>
                <c:pt idx="1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 b="1">
                  <a:solidFill>
                    <a:srgbClr val="2020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020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Alertas con código UA: 10. Kits entregados: 13.390. Núcleos familiares con bono gestionado: 113. Monto de bonos gestionados: USD 33.200,80. Unidades cerradas / suspendidas: 99. 10 alertas con 10 códigos UA distintos: 8 Desarrollo Infantil; 2 Creciendo con Nuestros Hijos (CNH). 8 con afectación documentada y 2 por confirmar. Se excluyen los registros sin código UA.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Subsecretaría Territorial (análisis de alertas); corte Kobo de kits; ayuda memoria del bono de contingencia; base territorial de afectaciones por lluvias.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Subsecretaría Territorial (análisis de alertas); corte Kobo de kits; ayuda memoria del bono de contingencia; base territorial de afectaciones por lluvias.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Subsecretaría Territorial (análisis de alertas); corte Kobo de kits; ayuda memoria del bono de contingencia; base territorial de afectaciones por lluvias.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Subsecretaría Territorial (análisis de alertas); corte Kobo de kits; ayuda memoria del bono de contingencia; base territorial de afectaciones por lluvias.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Subsecretaría Territorial (análisis de alertas); corte Kobo de kits; ayuda memoria del bono de contingencia; base territorial de afectaciones por lluvias.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Subsecretaría Territorial (análisis de alertas); corte Kobo de kits; ayuda memoria del bono de contingencia; base territorial de afectaciones por lluvias.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Subsecretaría Territorial (análisis de alertas); corte Kobo de kits; ayuda memoria del bono de contingencia; base territorial de afectaciones por lluvias.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Subsecretaría Territorial (análisis de alertas); corte Kobo de kits; ayuda memoria del bono de contingencia; base territorial de afectaciones por lluvias.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Subsecretaría Territorial (análisis de alertas); corte Kobo de kits; ayuda memoria del bono de contingencia; base territorial de afectaciones por lluvias.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92040" cy="6858000"/>
          </a:xfrm>
          <a:prstGeom prst="rect">
            <a:avLst/>
          </a:prstGeom>
          <a:gradFill rotWithShape="1">
            <a:gsLst>
              <a:gs pos="0">
                <a:srgbClr val="1E0F3B"/>
              </a:gs>
              <a:gs pos="100000">
                <a:srgbClr val="512F8D"/>
              </a:gs>
            </a:gsLst>
            <a:lin scaled="0" ang="36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0" y="3675887"/>
            <a:ext cx="2072640" cy="1828800"/>
          </a:xfrm>
          <a:prstGeom prst="rect">
            <a:avLst/>
          </a:prstGeom>
        </p:spPr>
      </p:pic>
      <p:pic>
        <p:nvPicPr>
          <p:cNvPr id="4" name="Picture 3" descr="mtd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84048"/>
            <a:ext cx="2533861" cy="603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371600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8C018"/>
                </a:solidFill>
                <a:latin typeface="Calibri"/>
              </a:rPr>
              <a:t>Del 14/09/2026 al 26/10/2026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19072"/>
            <a:ext cx="40690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>
                <a:solidFill>
                  <a:srgbClr val="FFFFFF"/>
                </a:solidFill>
                <a:latin typeface="Century Gothic"/>
              </a:rPr>
              <a:t>Riesgos · Respuesta del Ministerio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182112"/>
            <a:ext cx="822960" cy="64008"/>
          </a:xfrm>
          <a:prstGeom prst="rect">
            <a:avLst/>
          </a:prstGeom>
          <a:solidFill>
            <a:srgbClr val="F8C0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310128"/>
            <a:ext cx="4023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4DBF3"/>
                </a:solidFill>
                <a:latin typeface="Calibri"/>
              </a:rPr>
              <a:t>Nacional · Todos los servicios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96128"/>
            <a:ext cx="4023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DBFE6"/>
                </a:solidFill>
                <a:latin typeface="Calibri"/>
              </a:rPr>
              <a:t>Corte: Respuesta al 26/10/2026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CDBFE6"/>
                </a:solidFill>
                <a:latin typeface="Calibri"/>
              </a:rPr>
              <a:t>Actualizado el 26 de octubre de 2026, 17:54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CDBFE6"/>
                </a:solidFill>
                <a:latin typeface="Calibri"/>
              </a:rPr>
              <a:t>Según cortes recibidos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36208"/>
            <a:ext cx="41148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F8C018"/>
                </a:solidFill>
                <a:latin typeface="Century Gothic"/>
              </a:rPr>
              <a:t>El corazón de Ecuador. </a:t>
            </a:r>
            <a:r>
              <a:rPr sz="1050" b="0">
                <a:solidFill>
                  <a:srgbClr val="E4DBF3"/>
                </a:solidFill>
                <a:latin typeface="Calibri"/>
              </a:rPr>
              <a:t>Velamos por la calidad de vida de los ecuatorianos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566928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2B164F"/>
                </a:solidFill>
                <a:latin typeface="Century Gothic"/>
              </a:rPr>
              <a:t>Cifras clave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024128"/>
            <a:ext cx="630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5765"/>
                </a:solidFill>
                <a:latin typeface="Calibri"/>
              </a:rPr>
              <a:t>Riesgos · Del 14/09/2026 al 26/10/2026 · Nacional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49240" y="1627632"/>
            <a:ext cx="3090672" cy="2212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49240" y="1901952"/>
            <a:ext cx="64008" cy="1664207"/>
          </a:xfrm>
          <a:prstGeom prst="rect">
            <a:avLst/>
          </a:prstGeom>
          <a:solidFill>
            <a:srgbClr val="512F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41848" y="1920240"/>
            <a:ext cx="621792" cy="621792"/>
          </a:xfrm>
          <a:prstGeom prst="ellipse">
            <a:avLst/>
          </a:prstGeom>
          <a:solidFill>
            <a:srgbClr val="512F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shield-blan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1751" y="2060143"/>
            <a:ext cx="341985" cy="3419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00800" y="1993392"/>
            <a:ext cx="1856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0">
                <a:solidFill>
                  <a:srgbClr val="5A5765"/>
                </a:solidFill>
                <a:latin typeface="Calibri"/>
              </a:rPr>
              <a:t>Alertas con código UA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78424" y="2706624"/>
            <a:ext cx="26334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2B164F"/>
                </a:solidFill>
                <a:latin typeface="Century Gothic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78424" y="3319272"/>
            <a:ext cx="2633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12F8D"/>
                </a:solidFill>
                <a:latin typeface="Calibri"/>
              </a:rPr>
              <a:t>Registros distintos · desde 14/09/2026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95944" y="1627632"/>
            <a:ext cx="3090672" cy="2212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95944" y="1901952"/>
            <a:ext cx="64008" cy="1664207"/>
          </a:xfrm>
          <a:prstGeom prst="rect">
            <a:avLst/>
          </a:prstGeom>
          <a:solidFill>
            <a:srgbClr val="7657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88552" y="1920240"/>
            <a:ext cx="621792" cy="621792"/>
          </a:xfrm>
          <a:prstGeom prst="ellipse">
            <a:avLst/>
          </a:prstGeom>
          <a:solidFill>
            <a:srgbClr val="512F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life-buoy-blan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455" y="2060143"/>
            <a:ext cx="341985" cy="3419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747504" y="1993392"/>
            <a:ext cx="1856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0">
                <a:solidFill>
                  <a:srgbClr val="5A5765"/>
                </a:solidFill>
                <a:latin typeface="Calibri"/>
              </a:rPr>
              <a:t>Kits entregados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2706624"/>
            <a:ext cx="26334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2B164F"/>
                </a:solidFill>
                <a:latin typeface="Century Gothic"/>
              </a:rPr>
              <a:t>13.390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25128" y="3319272"/>
            <a:ext cx="2633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12F8D"/>
                </a:solidFill>
                <a:latin typeface="Calibri"/>
              </a:rPr>
              <a:t>20 provincias priorizadas · corte 26/10, 22:26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49240" y="4096512"/>
            <a:ext cx="3090672" cy="2212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49240" y="4370832"/>
            <a:ext cx="64008" cy="1664207"/>
          </a:xfrm>
          <a:prstGeom prst="rect">
            <a:avLst/>
          </a:prstGeom>
          <a:solidFill>
            <a:srgbClr val="F8C0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641848" y="4389120"/>
            <a:ext cx="621792" cy="621792"/>
          </a:xfrm>
          <a:prstGeom prst="ellipse">
            <a:avLst/>
          </a:prstGeom>
          <a:solidFill>
            <a:srgbClr val="512F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hand-coins-blanc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1751" y="4529023"/>
            <a:ext cx="341985" cy="34198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400800" y="4462272"/>
            <a:ext cx="1856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0">
                <a:solidFill>
                  <a:srgbClr val="5A5765"/>
                </a:solidFill>
                <a:latin typeface="Calibri"/>
              </a:rPr>
              <a:t>Núcleos familiares con bono gestionado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78424" y="5175504"/>
            <a:ext cx="26334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2B164F"/>
                </a:solidFill>
                <a:latin typeface="Century Gothic"/>
              </a:rPr>
              <a:t>113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78424" y="5788152"/>
            <a:ext cx="2633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12F8D"/>
                </a:solidFill>
                <a:latin typeface="Calibri"/>
              </a:rPr>
              <a:t>Por inundaciones · gestión del bono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95944" y="4096512"/>
            <a:ext cx="3090672" cy="2212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695944" y="4370832"/>
            <a:ext cx="64008" cy="1664207"/>
          </a:xfrm>
          <a:prstGeom prst="rect">
            <a:avLst/>
          </a:prstGeom>
          <a:solidFill>
            <a:srgbClr val="C33F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988552" y="4389120"/>
            <a:ext cx="621792" cy="621792"/>
          </a:xfrm>
          <a:prstGeom prst="ellipse">
            <a:avLst/>
          </a:prstGeom>
          <a:solidFill>
            <a:srgbClr val="512F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banknote-blanc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8455" y="4529023"/>
            <a:ext cx="341985" cy="34198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747504" y="4462272"/>
            <a:ext cx="1856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0">
                <a:solidFill>
                  <a:srgbClr val="5A5765"/>
                </a:solidFill>
                <a:latin typeface="Calibri"/>
              </a:rPr>
              <a:t>Monto de bonos gestionados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25128" y="5175504"/>
            <a:ext cx="26334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2B164F"/>
                </a:solidFill>
                <a:latin typeface="Century Gothic"/>
              </a:rPr>
              <a:t>USD 33.200,80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25128" y="5788152"/>
            <a:ext cx="2633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12F8D"/>
                </a:solidFill>
                <a:latin typeface="Calibri"/>
              </a:rPr>
              <a:t>Corte del bono: 23/10/2026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49240" y="6473952"/>
            <a:ext cx="4892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748B"/>
                </a:solidFill>
                <a:latin typeface="Calibri"/>
              </a:rPr>
              <a:t>Fuente: MTDH · Subsecretaría Territorial · Kobo de kits y bono de contingencia · Generado el 26 de octubre de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748B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gradFill rotWithShape="1">
            <a:gsLst>
              <a:gs pos="0">
                <a:srgbClr val="2B164F"/>
              </a:gs>
              <a:gs pos="100000">
                <a:srgbClr val="512F8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F8C0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595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entury Gothic"/>
              </a:rPr>
              <a:t>Alertas por provincia y servicio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8595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E4DBF3"/>
                </a:solidFill>
                <a:latin typeface="Calibri"/>
              </a:rPr>
              <a:t>Del 14/09/2026 al 26/10/2026 · Nacional · Todos los servicios</a:t>
            </a:r>
          </a:p>
        </p:txBody>
      </p:sp>
      <p:pic>
        <p:nvPicPr>
          <p:cNvPr id="6" name="Picture 5" descr="mtd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56032"/>
            <a:ext cx="2380293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73952"/>
            <a:ext cx="973835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748B"/>
                </a:solidFill>
                <a:latin typeface="Calibri"/>
              </a:rPr>
              <a:t>Fuente: MTDH · Subsecretaría Territorial · Kobo de kits y bono de contingencia · Respuesta al 26/10/2026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748B"/>
                </a:solidFill>
                <a:latin typeface="Calibri"/>
              </a:rPr>
              <a:t>2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164F"/>
                </a:solidFill>
                <a:latin typeface="Century Gothic"/>
              </a:rPr>
              <a:t>Alertas por provincia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02920" y="1828800"/>
          <a:ext cx="5303520" cy="34747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17920" y="132588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164F"/>
                </a:solidFill>
                <a:latin typeface="Century Gothic"/>
              </a:rPr>
              <a:t>Alertas por servicio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217920" y="1828800"/>
          <a:ext cx="5303520" cy="34747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02920" y="5532120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0202B"/>
                </a:solidFill>
                <a:latin typeface="Calibri"/>
              </a:rPr>
              <a:t>10 alertas con 10 códigos UA distintos: 8 Desarrollo Infantil; 2 Creciendo con Nuestros Hijos (CNH). 8 con afectación documentada y 2 por confirmar. Se excluyen los registros sin código UA.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gradFill rotWithShape="1">
            <a:gsLst>
              <a:gs pos="0">
                <a:srgbClr val="2B164F"/>
              </a:gs>
              <a:gs pos="100000">
                <a:srgbClr val="512F8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F8C0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595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entury Gothic"/>
              </a:rPr>
              <a:t>Evolución de las alertas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8595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E4DBF3"/>
                </a:solidFill>
                <a:latin typeface="Calibri"/>
              </a:rPr>
              <a:t>Del 14/09/2026 al 26/10/2026 · Nacional · Todos los servicios</a:t>
            </a:r>
          </a:p>
        </p:txBody>
      </p:sp>
      <p:pic>
        <p:nvPicPr>
          <p:cNvPr id="6" name="Picture 5" descr="mtd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56032"/>
            <a:ext cx="2380293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73952"/>
            <a:ext cx="973835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748B"/>
                </a:solidFill>
                <a:latin typeface="Calibri"/>
              </a:rPr>
              <a:t>Fuente: MTDH · Subsecretaría Territorial · Kobo de kits y bono de contingencia · Respuesta al 26/10/2026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748B"/>
                </a:solidFill>
                <a:latin typeface="Calibri"/>
              </a:rPr>
              <a:t>3 / 10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02920" y="1325880"/>
          <a:ext cx="5486400" cy="19202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150876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512F8D"/>
                </a:solidFill>
                <a:latin typeface="Calibri"/>
              </a:rPr>
              <a:t>99 Unidades cerradas / suspendidas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0202B"/>
                </a:solidFill>
                <a:latin typeface="Calibri"/>
              </a:rPr>
              <a:t>Atención suspendida · corte 26/10/2026, 16:00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9184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164F"/>
                </a:solidFill>
                <a:latin typeface="Century Gothic"/>
              </a:rPr>
              <a:t>UA suspendidas por provincia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02920" y="3657600"/>
          <a:ext cx="5303520" cy="19202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217920" y="329184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164F"/>
                </a:solidFill>
                <a:latin typeface="Century Gothic"/>
              </a:rPr>
              <a:t>UA suspendidas por servicio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217920" y="3657600"/>
          <a:ext cx="5303520" cy="192024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02920" y="5715000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0202B"/>
                </a:solidFill>
                <a:latin typeface="Calibri"/>
              </a:rPr>
              <a:t>Base territorial del 26/10/2026, 16:00, actualizada con la confirmación operativa posterior de Guayas: 99 UA suspendidas (35 CDI y 64 CNH). Las 17 CDI de Guayas se incluyen como suspendidas por confirmación recibida; su estado original se conserva para trazabilidad. Los 63 CNH de El Oro no tienen nombre ni cantón en la base. No constan códigos UA ni se suma este registro a las 10 alertas.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gradFill rotWithShape="1">
            <a:gsLst>
              <a:gs pos="0">
                <a:srgbClr val="2B164F"/>
              </a:gs>
              <a:gs pos="100000">
                <a:srgbClr val="512F8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F8C0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595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entury Gothic"/>
              </a:rPr>
              <a:t>Detalle de las unidades suspendidas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8595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E4DBF3"/>
                </a:solidFill>
                <a:latin typeface="Calibri"/>
              </a:rPr>
              <a:t>Del 14/09/2026 al 26/10/2026 · Nacional · Todos los servicios</a:t>
            </a:r>
          </a:p>
        </p:txBody>
      </p:sp>
      <p:pic>
        <p:nvPicPr>
          <p:cNvPr id="6" name="Picture 5" descr="mtd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56032"/>
            <a:ext cx="2380293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73952"/>
            <a:ext cx="973835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748B"/>
                </a:solidFill>
                <a:latin typeface="Calibri"/>
              </a:rPr>
              <a:t>Fuente: MTDH · Subsecretaría Territorial · Kobo de kits y bono de contingencia · Respuesta al 26/10/2026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748B"/>
                </a:solidFill>
                <a:latin typeface="Calibri"/>
              </a:rPr>
              <a:t>4 / 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371600"/>
          <a:ext cx="11155679" cy="43616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71600"/>
                <a:gridCol w="1645920"/>
                <a:gridCol w="731520"/>
                <a:gridCol w="502920"/>
                <a:gridCol w="6903719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Provincia</a:t>
                      </a:r>
                    </a:p>
                  </a:txBody>
                  <a:tcPr marL="73152" marR="73152" marT="27432" marB="27432" anchor="ctr">
                    <a:solidFill>
                      <a:srgbClr val="512F8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Cantón</a:t>
                      </a:r>
                    </a:p>
                  </a:txBody>
                  <a:tcPr marL="73152" marR="73152" marT="27432" marB="27432" anchor="ctr">
                    <a:solidFill>
                      <a:srgbClr val="512F8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Servicio</a:t>
                      </a:r>
                    </a:p>
                  </a:txBody>
                  <a:tcPr marL="73152" marR="73152" marT="27432" marB="27432" anchor="ctr">
                    <a:solidFill>
                      <a:srgbClr val="512F8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UA</a:t>
                      </a:r>
                    </a:p>
                  </a:txBody>
                  <a:tcPr marL="73152" marR="73152" marT="27432" marB="27432" anchor="ctr">
                    <a:solidFill>
                      <a:srgbClr val="512F8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Unidades identificadas</a:t>
                      </a:r>
                    </a:p>
                  </a:txBody>
                  <a:tcPr marL="73152" marR="73152" marT="27432" marB="27432" anchor="ctr">
                    <a:solidFill>
                      <a:srgbClr val="512F8D"/>
                    </a:solidFill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B164F"/>
                          </a:solidFill>
                          <a:latin typeface="Calibri"/>
                        </a:rPr>
                        <a:t>El Oro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El Guabo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CDI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Raquel Aguilar; Tío Boanerges; Gotitas de Amor; Dina Verdi; Súper Niño; Estrellita de Mar; Niños al Futuro; Milagritos de Dios; Caritas Alegres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B164F"/>
                          </a:solidFill>
                          <a:latin typeface="Calibri"/>
                        </a:rPr>
                        <a:t>El Oro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Pasaje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CDI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Pasitos con Amor; Buen Vivir de los Niños y Niñas; Aprender Jugando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B164F"/>
                          </a:solidFill>
                          <a:latin typeface="Calibri"/>
                        </a:rPr>
                        <a:t>El Oro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Sin cantón en la base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CNH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Unidades sin nombre en la base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B164F"/>
                          </a:solidFill>
                          <a:latin typeface="Calibri"/>
                        </a:rPr>
                        <a:t>Guayas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Guayaquil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CDI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Manantial del Saber; Virgen de las Mercedes #218; Rivera de los Vergeles; María de la Paz; Ángel de Luz; Camino al Buen Vivir; Jardín de los Sueños; Mundo Infantil; Nuestros Niños en Dios; Los Niños del Mañana; Sueños Infantiles; María Teresa; 9 de Enero; Cosechando Sueños; Angelitos Dei; Amiguitos del Futuro; Niños San Rafael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B164F"/>
                          </a:solidFill>
                          <a:latin typeface="Calibri"/>
                        </a:rPr>
                        <a:t>Santa Elena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Salinas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CDI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Mickey Mouse; Los Piqueritos; Tía Peluca; Mis Pequeños Angelitos; Caritas Alegres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B164F"/>
                          </a:solidFill>
                          <a:latin typeface="Calibri"/>
                        </a:rPr>
                        <a:t>Santa Elena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Santa Elena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CDI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Semillitas del Mañana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B164F"/>
                          </a:solidFill>
                          <a:latin typeface="Calibri"/>
                        </a:rPr>
                        <a:t>Santa Elena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Santa Elena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CNH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Mis Primeras Enseñanzas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59436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0202B"/>
                </a:solidFill>
                <a:latin typeface="Calibri"/>
              </a:rPr>
              <a:t>Código UA: no consta en la base. Los 63 CNH de El Oro no tienen nombre ni cantón registrados.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gradFill rotWithShape="1">
            <a:gsLst>
              <a:gs pos="0">
                <a:srgbClr val="2B164F"/>
              </a:gs>
              <a:gs pos="100000">
                <a:srgbClr val="512F8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F8C0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595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entury Gothic"/>
              </a:rPr>
              <a:t>Alertas con código UA ·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8595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E4DBF3"/>
                </a:solidFill>
                <a:latin typeface="Calibri"/>
              </a:rPr>
              <a:t>Del 14/09/2026 al 26/10/2026 · Nacional · Todos los servicios</a:t>
            </a:r>
          </a:p>
        </p:txBody>
      </p:sp>
      <p:pic>
        <p:nvPicPr>
          <p:cNvPr id="6" name="Picture 5" descr="mtd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56032"/>
            <a:ext cx="2380293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73952"/>
            <a:ext cx="973835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748B"/>
                </a:solidFill>
                <a:latin typeface="Calibri"/>
              </a:rPr>
              <a:t>Fuente: MTDH · Subsecretaría Territorial · Kobo de kits y bono de contingencia · Respuesta al 26/10/2026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748B"/>
                </a:solidFill>
                <a:latin typeface="Calibri"/>
              </a:rPr>
              <a:t>5 / 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371600"/>
          <a:ext cx="11155679" cy="4434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80160"/>
                <a:gridCol w="2743200"/>
                <a:gridCol w="1234440"/>
                <a:gridCol w="4069079"/>
                <a:gridCol w="1097280"/>
                <a:gridCol w="7315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Alerta / registro</a:t>
                      </a:r>
                    </a:p>
                  </a:txBody>
                  <a:tcPr marL="73152" marR="73152" marT="27432" marB="27432" anchor="ctr">
                    <a:solidFill>
                      <a:srgbClr val="512F8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Unidad y servicio</a:t>
                      </a:r>
                    </a:p>
                  </a:txBody>
                  <a:tcPr marL="73152" marR="73152" marT="27432" marB="27432" anchor="ctr">
                    <a:solidFill>
                      <a:srgbClr val="512F8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Territorio</a:t>
                      </a:r>
                    </a:p>
                  </a:txBody>
                  <a:tcPr marL="73152" marR="73152" marT="27432" marB="27432" anchor="ctr">
                    <a:solidFill>
                      <a:srgbClr val="512F8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Afectación</a:t>
                      </a:r>
                    </a:p>
                  </a:txBody>
                  <a:tcPr marL="73152" marR="73152" marT="27432" marB="27432" anchor="ctr">
                    <a:solidFill>
                      <a:srgbClr val="512F8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 marL="73152" marR="73152" marT="27432" marB="27432" anchor="ctr">
                    <a:solidFill>
                      <a:srgbClr val="512F8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Prioridad</a:t>
                      </a:r>
                    </a:p>
                  </a:txBody>
                  <a:tcPr marL="73152" marR="73152" marT="27432" marB="27432" anchor="ctr">
                    <a:solidFill>
                      <a:srgbClr val="512F8D"/>
                    </a:solidFill>
                  </a:tcPr>
                </a:tc>
              </a:tr>
              <a:tr h="79552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B164F"/>
                          </a:solidFill>
                          <a:latin typeface="Calibri"/>
                        </a:rPr>
                        <a:t>ALT-2026-000325
20/10/2026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GOTITA DEL AMOR
UA 62210 · Desarrollo Infantil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Guayas
Milagro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Ingreso de agua en la unidad; sin energía ni agua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Pendiente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Baja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9552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B164F"/>
                          </a:solidFill>
                          <a:latin typeface="Calibri"/>
                        </a:rPr>
                        <a:t>ALT-2026-000323
20/10/2026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MIS PEQUEÑOS ANGELITOS
UA 14294 · Desarrollo Infantil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Guayas
Milagro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Ingreso de agua y goteras en la unidad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Pendiente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Baja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</a:tr>
              <a:tr h="79552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B164F"/>
                          </a:solidFill>
                          <a:latin typeface="Calibri"/>
                        </a:rPr>
                        <a:t>ALT-2026-000322
20/10/2026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NIÑOS JUGUETONES
UA 13916 · Desarrollo Infantil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Guayas
Milagro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Agua dentro y fuera de la unidad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Pendiente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Baja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9552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B164F"/>
                          </a:solidFill>
                          <a:latin typeface="Calibri"/>
                        </a:rPr>
                        <a:t>ALT-2026-000321
20/10/2026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PEQUEÑOS JILGUERITOS
UA 62208 · Desarrollo Infantil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Guayas
Milagro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Acumulación de agua en la entrada de la unidad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Pendiente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Baja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</a:tr>
              <a:tr h="79552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B164F"/>
                          </a:solidFill>
                          <a:latin typeface="Calibri"/>
                        </a:rPr>
                        <a:t>ALT-2026-000319
20/10/2026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CENTRO DE DESARROLLO INFANTIL ESTRELLITA DE MAR
UA 60221 · Desarrollo Infantil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El Oro
El Guabo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Ingreso de agua; cambio temporal a modalidad virtual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En seguimiento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Baja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587959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0202B"/>
                </a:solidFill>
                <a:latin typeface="Calibri"/>
              </a:rPr>
              <a:t>En el corte nacional hay 10 alertas con 10 códigos UA distintos: 8 con afectación documentada y 2 por confirmar. ALT-2026-000315 y ALT-2026-000316 (Tenguel) tienen código UA, pero el relato solo describe inundación territorial; no se presentan como daños confirmados al servicio.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gradFill rotWithShape="1">
            <a:gsLst>
              <a:gs pos="0">
                <a:srgbClr val="2B164F"/>
              </a:gs>
              <a:gs pos="100000">
                <a:srgbClr val="512F8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F8C0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595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entury Gothic"/>
              </a:rPr>
              <a:t>Alertas con código UA ·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8595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E4DBF3"/>
                </a:solidFill>
                <a:latin typeface="Calibri"/>
              </a:rPr>
              <a:t>Del 14/09/2026 al 26/10/2026 · Nacional · Todos los servicios</a:t>
            </a:r>
          </a:p>
        </p:txBody>
      </p:sp>
      <p:pic>
        <p:nvPicPr>
          <p:cNvPr id="6" name="Picture 5" descr="mtd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56032"/>
            <a:ext cx="2380293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73952"/>
            <a:ext cx="973835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748B"/>
                </a:solidFill>
                <a:latin typeface="Calibri"/>
              </a:rPr>
              <a:t>Fuente: MTDH · Subsecretaría Territorial · Kobo de kits y bono de contingencia · Respuesta al 26/10/2026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748B"/>
                </a:solidFill>
                <a:latin typeface="Calibri"/>
              </a:rPr>
              <a:t>6 / 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371600"/>
          <a:ext cx="11155679" cy="4434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80160"/>
                <a:gridCol w="2743200"/>
                <a:gridCol w="1234440"/>
                <a:gridCol w="4069079"/>
                <a:gridCol w="1097280"/>
                <a:gridCol w="7315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Alerta / registro</a:t>
                      </a:r>
                    </a:p>
                  </a:txBody>
                  <a:tcPr marL="73152" marR="73152" marT="27432" marB="27432" anchor="ctr">
                    <a:solidFill>
                      <a:srgbClr val="512F8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Unidad y servicio</a:t>
                      </a:r>
                    </a:p>
                  </a:txBody>
                  <a:tcPr marL="73152" marR="73152" marT="27432" marB="27432" anchor="ctr">
                    <a:solidFill>
                      <a:srgbClr val="512F8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Territorio</a:t>
                      </a:r>
                    </a:p>
                  </a:txBody>
                  <a:tcPr marL="73152" marR="73152" marT="27432" marB="27432" anchor="ctr">
                    <a:solidFill>
                      <a:srgbClr val="512F8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Afectación</a:t>
                      </a:r>
                    </a:p>
                  </a:txBody>
                  <a:tcPr marL="73152" marR="73152" marT="27432" marB="27432" anchor="ctr">
                    <a:solidFill>
                      <a:srgbClr val="512F8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 marL="73152" marR="73152" marT="27432" marB="27432" anchor="ctr">
                    <a:solidFill>
                      <a:srgbClr val="512F8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Prioridad</a:t>
                      </a:r>
                    </a:p>
                  </a:txBody>
                  <a:tcPr marL="73152" marR="73152" marT="27432" marB="27432" anchor="ctr">
                    <a:solidFill>
                      <a:srgbClr val="512F8D"/>
                    </a:solidFill>
                  </a:tcPr>
                </a:tc>
              </a:tr>
              <a:tr h="79552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B164F"/>
                          </a:solidFill>
                          <a:latin typeface="Calibri"/>
                        </a:rPr>
                        <a:t>ALT-2026-000318
20/10/2026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CENTRO DE DESARROLLO INFANTIL SUPER NIÑO
UA 60220 · Desarrollo Infantil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El Oro
El Guabo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Ingreso de agua; cambio temporal a modalidad virtual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En seguimiento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Baja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9552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B164F"/>
                          </a:solidFill>
                          <a:latin typeface="Calibri"/>
                        </a:rPr>
                        <a:t>ALT-2026-000316
19/10/2026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CDI NIÑOS DE SAN RAFAEL
UA 58337 · Desarrollo Infantil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Guayas
Guayaquil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Alerta por inundación en Tenguel vinculada a la UA; afectación al servicio por confirmar.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Pendiente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Baja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</a:tr>
              <a:tr h="79552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B164F"/>
                          </a:solidFill>
                          <a:latin typeface="Calibri"/>
                        </a:rPr>
                        <a:t>ALT-2026-000315
19/10/2026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CDI LOS NIÑOS DEL CISNE
UA 58336 · Desarrollo Infantil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Guayas
Guayaquil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Alerta por inundación en Tenguel vinculada a la UA; afectación al servicio por confirmar.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Pendiente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Baja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9552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B164F"/>
                          </a:solidFill>
                          <a:latin typeface="Calibri"/>
                        </a:rPr>
                        <a:t>ALT-2026-000310
16/10/2026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CNH ESTRELLITAS DEL AMANECER
UA 56744 · Creciendo con Nuestros Hijos (CNH)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Manabí
Flavio Alfaro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Acceso impedido para atención presencial; contacto telefónico temporal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Pendiente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Baja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</a:tr>
              <a:tr h="79552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B164F"/>
                          </a:solidFill>
                          <a:latin typeface="Calibri"/>
                        </a:rPr>
                        <a:t>ALT-2026-000309
16/10/2026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CORREO INFANTIL
UA 56204 · Creciendo con Nuestros Hijos (CNH)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Manabí
Flavio Alfaro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Acceso impedido para atención presencial; contacto telefónico temporal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Pendiente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02B"/>
                          </a:solidFill>
                          <a:latin typeface="Calibri"/>
                        </a:rPr>
                        <a:t>Baja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587959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0202B"/>
                </a:solidFill>
                <a:latin typeface="Calibri"/>
              </a:rPr>
              <a:t>En el corte nacional hay 10 alertas con 10 códigos UA distintos: 8 con afectación documentada y 2 por confirmar. ALT-2026-000315 y ALT-2026-000316 (Tenguel) tienen código UA, pero el relato solo describe inundación territorial; no se presentan como daños confirmados al servicio.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gradFill rotWithShape="1">
            <a:gsLst>
              <a:gs pos="0">
                <a:srgbClr val="2B164F"/>
              </a:gs>
              <a:gs pos="100000">
                <a:srgbClr val="512F8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F8C0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595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entury Gothic"/>
              </a:rPr>
              <a:t>Acciones del Ministerio en cada provincia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8595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E4DBF3"/>
                </a:solidFill>
                <a:latin typeface="Calibri"/>
              </a:rPr>
              <a:t>Del 14/09/2026 al 26/10/2026 · Nacional · Todos los servicios</a:t>
            </a:r>
          </a:p>
        </p:txBody>
      </p:sp>
      <p:pic>
        <p:nvPicPr>
          <p:cNvPr id="6" name="Picture 5" descr="mtd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56032"/>
            <a:ext cx="2380293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73952"/>
            <a:ext cx="973835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748B"/>
                </a:solidFill>
                <a:latin typeface="Calibri"/>
              </a:rPr>
              <a:t>Fuente: MTDH · Subsecretaría Territorial · Kobo de kits y bono de contingencia · Respuesta al 26/10/2026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748B"/>
                </a:solidFill>
                <a:latin typeface="Calibri"/>
              </a:rPr>
              <a:t>7 / 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371600"/>
          <a:ext cx="5394960" cy="42153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91640"/>
                <a:gridCol w="548640"/>
                <a:gridCol w="594360"/>
                <a:gridCol w="960120"/>
                <a:gridCol w="640080"/>
                <a:gridCol w="960120"/>
              </a:tblGrid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Provincia</a:t>
                      </a:r>
                    </a:p>
                  </a:txBody>
                  <a:tcPr marL="73152" marR="73152" marT="27432" marB="27432" anchor="ctr">
                    <a:solidFill>
                      <a:srgbClr val="512F8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Kits</a:t>
                      </a:r>
                    </a:p>
                  </a:txBody>
                  <a:tcPr marL="73152" marR="73152" marT="27432" marB="27432" anchor="ctr">
                    <a:solidFill>
                      <a:srgbClr val="512F8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Bono: núcleos familiares</a:t>
                      </a:r>
                    </a:p>
                  </a:txBody>
                  <a:tcPr marL="73152" marR="73152" marT="27432" marB="27432" anchor="ctr">
                    <a:solidFill>
                      <a:srgbClr val="512F8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USD gestionado</a:t>
                      </a:r>
                    </a:p>
                  </a:txBody>
                  <a:tcPr marL="73152" marR="73152" marT="27432" marB="27432" anchor="ctr">
                    <a:solidFill>
                      <a:srgbClr val="512F8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Artic. personas</a:t>
                      </a:r>
                    </a:p>
                  </a:txBody>
                  <a:tcPr marL="73152" marR="73152" marT="27432" marB="27432" anchor="ctr">
                    <a:solidFill>
                      <a:srgbClr val="512F8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USD articulación</a:t>
                      </a:r>
                    </a:p>
                  </a:txBody>
                  <a:tcPr marL="73152" marR="73152" marT="27432" marB="27432" anchor="ctr">
                    <a:solidFill>
                      <a:srgbClr val="512F8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2B164F"/>
                          </a:solidFill>
                          <a:latin typeface="Calibri"/>
                        </a:rPr>
                        <a:t>Azuay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527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303,99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2B164F"/>
                          </a:solidFill>
                          <a:latin typeface="Calibri"/>
                        </a:rPr>
                        <a:t>Bolívar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141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2B164F"/>
                          </a:solidFill>
                          <a:latin typeface="Calibri"/>
                        </a:rPr>
                        <a:t>Carchi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780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2B164F"/>
                          </a:solidFill>
                          <a:latin typeface="Calibri"/>
                        </a:rPr>
                        <a:t>Chimborazo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2B164F"/>
                          </a:solidFill>
                          <a:latin typeface="Calibri"/>
                        </a:rPr>
                        <a:t>Cotopaxi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250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2B164F"/>
                          </a:solidFill>
                          <a:latin typeface="Calibri"/>
                        </a:rPr>
                        <a:t>El Oro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181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55.022,19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2B164F"/>
                          </a:solidFill>
                          <a:latin typeface="Calibri"/>
                        </a:rPr>
                        <a:t>Esmeraldas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3.820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530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160.558,20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2B164F"/>
                          </a:solidFill>
                          <a:latin typeface="Calibri"/>
                        </a:rPr>
                        <a:t>Guayas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6.850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19.264,51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344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104.246,01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2B164F"/>
                          </a:solidFill>
                          <a:latin typeface="Calibri"/>
                        </a:rPr>
                        <a:t>Imbabura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498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1.519,95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2B164F"/>
                          </a:solidFill>
                          <a:latin typeface="Calibri"/>
                        </a:rPr>
                        <a:t>Loja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2B164F"/>
                          </a:solidFill>
                          <a:latin typeface="Calibri"/>
                        </a:rPr>
                        <a:t>Los Ríos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109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33.033,06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371600"/>
          <a:ext cx="5394960" cy="35570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91640"/>
                <a:gridCol w="548640"/>
                <a:gridCol w="594360"/>
                <a:gridCol w="960120"/>
                <a:gridCol w="640080"/>
                <a:gridCol w="960120"/>
              </a:tblGrid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Provincia</a:t>
                      </a:r>
                    </a:p>
                  </a:txBody>
                  <a:tcPr marL="73152" marR="73152" marT="27432" marB="27432" anchor="ctr">
                    <a:solidFill>
                      <a:srgbClr val="512F8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Kits</a:t>
                      </a:r>
                    </a:p>
                  </a:txBody>
                  <a:tcPr marL="73152" marR="73152" marT="27432" marB="27432" anchor="ctr">
                    <a:solidFill>
                      <a:srgbClr val="512F8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Bono: núcleos familiares</a:t>
                      </a:r>
                    </a:p>
                  </a:txBody>
                  <a:tcPr marL="73152" marR="73152" marT="27432" marB="27432" anchor="ctr">
                    <a:solidFill>
                      <a:srgbClr val="512F8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USD gestionado</a:t>
                      </a:r>
                    </a:p>
                  </a:txBody>
                  <a:tcPr marL="73152" marR="73152" marT="27432" marB="27432" anchor="ctr">
                    <a:solidFill>
                      <a:srgbClr val="512F8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Artic. personas</a:t>
                      </a:r>
                    </a:p>
                  </a:txBody>
                  <a:tcPr marL="73152" marR="73152" marT="27432" marB="27432" anchor="ctr">
                    <a:solidFill>
                      <a:srgbClr val="512F8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USD articulación</a:t>
                      </a:r>
                    </a:p>
                  </a:txBody>
                  <a:tcPr marL="73152" marR="73152" marT="27432" marB="27432" anchor="ctr">
                    <a:solidFill>
                      <a:srgbClr val="512F8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2B164F"/>
                          </a:solidFill>
                          <a:latin typeface="Calibri"/>
                        </a:rPr>
                        <a:t>Manabí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13.632,30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2B164F"/>
                          </a:solidFill>
                          <a:latin typeface="Calibri"/>
                        </a:rPr>
                        <a:t>Napo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2B164F"/>
                          </a:solidFill>
                          <a:latin typeface="Calibri"/>
                        </a:rPr>
                        <a:t>Pastaza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2B164F"/>
                          </a:solidFill>
                          <a:latin typeface="Calibri"/>
                        </a:rPr>
                        <a:t>Pichincha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2B164F"/>
                          </a:solidFill>
                          <a:latin typeface="Calibri"/>
                        </a:rPr>
                        <a:t>Santa Elena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2B164F"/>
                          </a:solidFill>
                          <a:latin typeface="Calibri"/>
                        </a:rPr>
                        <a:t>Santo Domingo de los Tsáchilas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2B164F"/>
                          </a:solidFill>
                          <a:latin typeface="Calibri"/>
                        </a:rPr>
                        <a:t>Sucumbíos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2B164F"/>
                          </a:solidFill>
                          <a:latin typeface="Calibri"/>
                        </a:rPr>
                        <a:t>Tungurahua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2B164F"/>
                          </a:solidFill>
                          <a:latin typeface="Calibri"/>
                        </a:rPr>
                        <a:t>Zamora Chinchipe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57150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0202B"/>
                </a:solidFill>
                <a:latin typeface="Calibri"/>
              </a:rPr>
              <a:t>La ayuda memoria no identifica pagos exclusivamente atribuibles a ENOS ni fechas individuales para recortar desde el 14/09. Se muestran únicamente las filas de inundación como referencia: pagos gestionados desde el 29/08 y casos en articulación al 23/10. Articulación no equivale a pago. Las proyecciones corresponden a planificación nacional 2026–2027.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gradFill rotWithShape="1">
            <a:gsLst>
              <a:gs pos="0">
                <a:srgbClr val="2B164F"/>
              </a:gs>
              <a:gs pos="100000">
                <a:srgbClr val="512F8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F8C0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595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entury Gothic"/>
              </a:rPr>
              <a:t>Kits y planificación del bono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8595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E4DBF3"/>
                </a:solidFill>
                <a:latin typeface="Calibri"/>
              </a:rPr>
              <a:t>Del 14/09/2026 al 26/10/2026 · Nacional · Todos los servicios</a:t>
            </a:r>
          </a:p>
        </p:txBody>
      </p:sp>
      <p:pic>
        <p:nvPicPr>
          <p:cNvPr id="6" name="Picture 5" descr="mtd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56032"/>
            <a:ext cx="2380293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73952"/>
            <a:ext cx="973835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748B"/>
                </a:solidFill>
                <a:latin typeface="Calibri"/>
              </a:rPr>
              <a:t>Fuente: MTDH · Subsecretaría Territorial · Kobo de kits y bono de contingencia · Respuesta al 26/10/2026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748B"/>
                </a:solidFill>
                <a:latin typeface="Calibri"/>
              </a:rPr>
              <a:t>8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164F"/>
                </a:solidFill>
                <a:latin typeface="Century Gothic"/>
              </a:rPr>
              <a:t>Kits en provincias priorizadas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783080"/>
          <a:ext cx="3200400" cy="35661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65960"/>
                <a:gridCol w="594360"/>
                <a:gridCol w="6400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Provincia</a:t>
                      </a:r>
                    </a:p>
                  </a:txBody>
                  <a:tcPr marL="73152" marR="73152" marT="27432" marB="27432" anchor="ctr">
                    <a:solidFill>
                      <a:srgbClr val="512F8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Kits</a:t>
                      </a:r>
                    </a:p>
                  </a:txBody>
                  <a:tcPr marL="73152" marR="73152" marT="27432" marB="27432" anchor="ctr">
                    <a:solidFill>
                      <a:srgbClr val="512F8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Núcleos familiares*</a:t>
                      </a:r>
                    </a:p>
                  </a:txBody>
                  <a:tcPr marL="73152" marR="73152" marT="27432" marB="27432" anchor="ctr">
                    <a:solidFill>
                      <a:srgbClr val="512F8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2B164F"/>
                          </a:solidFill>
                          <a:latin typeface="Calibri"/>
                        </a:rPr>
                        <a:t>Guayas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6.850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6.850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2B164F"/>
                          </a:solidFill>
                          <a:latin typeface="Calibri"/>
                        </a:rPr>
                        <a:t>Esmeraldas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3.820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3.485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2B164F"/>
                          </a:solidFill>
                          <a:latin typeface="Calibri"/>
                        </a:rPr>
                        <a:t>Carchi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780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780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2B164F"/>
                          </a:solidFill>
                          <a:latin typeface="Calibri"/>
                        </a:rPr>
                        <a:t>Azuay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527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318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2B164F"/>
                          </a:solidFill>
                          <a:latin typeface="Calibri"/>
                        </a:rPr>
                        <a:t>Imbabura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498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498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2B164F"/>
                          </a:solidFill>
                          <a:latin typeface="Calibri"/>
                        </a:rPr>
                        <a:t>Cotopaxi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250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249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2B164F"/>
                          </a:solidFill>
                          <a:latin typeface="Calibri"/>
                        </a:rPr>
                        <a:t>Bolívar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141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141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2B164F"/>
                          </a:solidFill>
                          <a:latin typeface="Calibri"/>
                        </a:rPr>
                        <a:t>Loja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2B164F"/>
                          </a:solidFill>
                          <a:latin typeface="Calibri"/>
                        </a:rPr>
                        <a:t>Manabí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2B164F"/>
                          </a:solidFill>
                          <a:latin typeface="Calibri"/>
                        </a:rPr>
                        <a:t>El Oro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840480" y="1783080"/>
          <a:ext cx="3200400" cy="35661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65960"/>
                <a:gridCol w="594360"/>
                <a:gridCol w="6400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Provincia</a:t>
                      </a:r>
                    </a:p>
                  </a:txBody>
                  <a:tcPr marL="73152" marR="73152" marT="27432" marB="27432" anchor="ctr">
                    <a:solidFill>
                      <a:srgbClr val="512F8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Kits</a:t>
                      </a:r>
                    </a:p>
                  </a:txBody>
                  <a:tcPr marL="73152" marR="73152" marT="27432" marB="27432" anchor="ctr">
                    <a:solidFill>
                      <a:srgbClr val="512F8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Núcleos familiares*</a:t>
                      </a:r>
                    </a:p>
                  </a:txBody>
                  <a:tcPr marL="73152" marR="73152" marT="27432" marB="27432" anchor="ctr">
                    <a:solidFill>
                      <a:srgbClr val="512F8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2B164F"/>
                          </a:solidFill>
                          <a:latin typeface="Calibri"/>
                        </a:rPr>
                        <a:t>Pichincha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2B164F"/>
                          </a:solidFill>
                          <a:latin typeface="Calibri"/>
                        </a:rPr>
                        <a:t>Los Ríos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2B164F"/>
                          </a:solidFill>
                          <a:latin typeface="Calibri"/>
                        </a:rPr>
                        <a:t>Napo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2B164F"/>
                          </a:solidFill>
                          <a:latin typeface="Calibri"/>
                        </a:rPr>
                        <a:t>Sucumbíos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2B164F"/>
                          </a:solidFill>
                          <a:latin typeface="Calibri"/>
                        </a:rPr>
                        <a:t>Tungurahua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2B164F"/>
                          </a:solidFill>
                          <a:latin typeface="Calibri"/>
                        </a:rPr>
                        <a:t>Santo Domingo de los Tsáchilas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2B164F"/>
                          </a:solidFill>
                          <a:latin typeface="Calibri"/>
                        </a:rPr>
                        <a:t>Santa Elena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2B164F"/>
                          </a:solidFill>
                          <a:latin typeface="Calibri"/>
                        </a:rPr>
                        <a:t>Zamora Chinchipe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2B164F"/>
                          </a:solidFill>
                          <a:latin typeface="Calibri"/>
                        </a:rPr>
                        <a:t>Chimborazo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2B164F"/>
                          </a:solidFill>
                          <a:latin typeface="Calibri"/>
                        </a:rPr>
                        <a:t>Pastaza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20202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7F5FA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5532120"/>
            <a:ext cx="6492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0202B"/>
                </a:solidFill>
                <a:latin typeface="Calibri"/>
              </a:rPr>
              <a:t>13.390 kits · 12.681 núcleos familiares reportados* · 89 registros. *No son núcleos familiares únicos. Corte Kobo: 26/10/2026, 22:26.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28016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164F"/>
                </a:solidFill>
                <a:latin typeface="Century Gothic"/>
              </a:rPr>
              <a:t>Planificación El Niño 2026–2027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920240"/>
            <a:ext cx="438912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0202B"/>
                </a:solidFill>
                <a:latin typeface="Calibri"/>
              </a:rPr>
              <a:t>145.523 personas potenciales</a:t>
            </a:r>
          </a:p>
          <a:p>
            <a:pPr algn="l"/>
            <a:r>
              <a:rPr sz="1800" b="0">
                <a:solidFill>
                  <a:srgbClr val="20202B"/>
                </a:solidFill>
                <a:latin typeface="Calibri"/>
              </a:rPr>
              <a:t>44.098 núcleos familiares potenciales</a:t>
            </a:r>
          </a:p>
          <a:p>
            <a:pPr algn="l"/>
            <a:r>
              <a:rPr sz="1800" b="0">
                <a:solidFill>
                  <a:srgbClr val="20202B"/>
                </a:solidFill>
                <a:latin typeface="Calibri"/>
              </a:rPr>
              <a:t>USD 13.405.351,02 de inversión estimada</a:t>
            </a:r>
          </a:p>
          <a:p>
            <a:pPr algn="l"/>
            <a:r>
              <a:rPr sz="1800" b="0">
                <a:solidFill>
                  <a:srgbClr val="20202B"/>
                </a:solidFill>
                <a:latin typeface="Calibri"/>
              </a:rPr>
              <a:t>Proyección nacional; planificación, no ejecución.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gradFill rotWithShape="1">
            <a:gsLst>
              <a:gs pos="0">
                <a:srgbClr val="2B164F"/>
              </a:gs>
              <a:gs pos="100000">
                <a:srgbClr val="512F8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F8C0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595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entury Gothic"/>
              </a:rPr>
              <a:t>Respuesta en el territorio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8595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E4DBF3"/>
                </a:solidFill>
                <a:latin typeface="Calibri"/>
              </a:rPr>
              <a:t>Del 14/09/2026 al 26/10/2026 · Nacional · Todos los servicios</a:t>
            </a:r>
          </a:p>
        </p:txBody>
      </p:sp>
      <p:pic>
        <p:nvPicPr>
          <p:cNvPr id="6" name="Picture 5" descr="mtd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56032"/>
            <a:ext cx="2380293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73952"/>
            <a:ext cx="973835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748B"/>
                </a:solidFill>
                <a:latin typeface="Calibri"/>
              </a:rPr>
              <a:t>Fuente: MTDH · Subsecretaría Territorial · Kobo de kits y bono de contingencia · Respuesta al 26/10/2026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748B"/>
                </a:solidFill>
                <a:latin typeface="Calibri"/>
              </a:rPr>
              <a:t>9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164F"/>
                </a:solidFill>
                <a:latin typeface="Century Gothic"/>
              </a:rPr>
              <a:t>Alertas con código UA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828800"/>
            <a:ext cx="5303520" cy="4389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3640" y="12801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164F"/>
                </a:solidFill>
                <a:latin typeface="Century Gothic"/>
              </a:rPr>
              <a:t>Kits en provincias priorizadas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828800"/>
            <a:ext cx="53035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gradFill rotWithShape="1">
            <a:gsLst>
              <a:gs pos="0">
                <a:srgbClr val="2B164F"/>
              </a:gs>
              <a:gs pos="100000">
                <a:srgbClr val="512F8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F8C0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595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entury Gothic"/>
              </a:rPr>
              <a:t>Nota metodológica y fuentes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8595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E4DBF3"/>
                </a:solidFill>
                <a:latin typeface="Calibri"/>
              </a:rPr>
              <a:t>Del 14/09/2026 al 26/10/2026 · Nacional · Todos los servicios</a:t>
            </a:r>
          </a:p>
        </p:txBody>
      </p:sp>
      <p:pic>
        <p:nvPicPr>
          <p:cNvPr id="6" name="Picture 5" descr="mtd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56032"/>
            <a:ext cx="2380293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73952"/>
            <a:ext cx="973835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748B"/>
                </a:solidFill>
                <a:latin typeface="Calibri"/>
              </a:rPr>
              <a:t>Fuente: MTDH · Subsecretaría Territorial · Kobo de kits y bono de contingencia · Respuesta al 26/10/2026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748B"/>
                </a:solidFill>
                <a:latin typeface="Calibri"/>
              </a:rPr>
              <a:t>10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1828800" cy="9619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12F8D"/>
                </a:solidFill>
                <a:latin typeface="Calibri"/>
              </a:rPr>
              <a:t>Alertas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325880"/>
            <a:ext cx="9144000" cy="9619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0202B"/>
                </a:solidFill>
                <a:latin typeface="Calibri"/>
              </a:rPr>
              <a:t>Se muestran únicamente alertas revisadas con código UA registrado, desde el 14 de septiembre de 2026. El conteo corresponde a códigos de alerta distintos vinculados a unidades identificadas. Los registros sin código quedan fuera de este alcance. La fecha corresponde al registro y una alerta no equivale necesariamente a un evento único. El campo Afectados mezcla personas, familias y usuarios; no se suma como personas únicas. La base no certifica atribución causal a ENOS.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97556"/>
            <a:ext cx="1828800" cy="724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12F8D"/>
                </a:solidFill>
                <a:latin typeface="Calibri"/>
              </a:rPr>
              <a:t>Revisión de alertas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397556"/>
            <a:ext cx="9144000" cy="724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0202B"/>
                </a:solidFill>
                <a:latin typeface="Calibri"/>
              </a:rPr>
              <a:t>En el corte nacional hay 10 alertas con 10 códigos UA distintos: 8 con afectación documentada y 2 por confirmar. ALT-2026-000315 y ALT-2026-000316 (Tenguel) tienen código UA, pero el relato solo describe inundación territorial; no se presentan como daños confirmados al servicio.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31489"/>
            <a:ext cx="1828800" cy="7534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12F8D"/>
                </a:solidFill>
                <a:latin typeface="Calibri"/>
              </a:rPr>
              <a:t>Kits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231489"/>
            <a:ext cx="9144000" cy="7534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0202B"/>
                </a:solidFill>
                <a:latin typeface="Calibri"/>
              </a:rPr>
              <a:t>Kits en provincias priorizadas: Kobo, corte 26/10/2026, 22:26:42. Entregas del 31/08 al 26/10; incluye fechas anteriores al inicio de las alertas. Reemplaza el corte anterior. Núcleos familiares reportados: suma por entrega, no núcleos únicos. El total de kits de este corte fue confirmado oficialmente.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094683"/>
            <a:ext cx="1828800" cy="814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12F8D"/>
                </a:solidFill>
                <a:latin typeface="Calibri"/>
              </a:rPr>
              <a:t>Bono de contingencia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4094683"/>
            <a:ext cx="9144000" cy="814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0202B"/>
                </a:solidFill>
                <a:latin typeface="Calibri"/>
              </a:rPr>
              <a:t>La ayuda memoria no identifica pagos exclusivamente atribuibles a ENOS ni fechas individuales para recortar desde el 14/09. Se muestran únicamente las filas de inundación como referencia: pagos gestionados desde el 29/08 y casos en articulación al 23/10. Articulación no equivale a pago. Las proyecciones corresponden a planificación nacional 2026–2027.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018836"/>
            <a:ext cx="1828800" cy="624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12F8D"/>
                </a:solidFill>
                <a:latin typeface="Calibri"/>
              </a:rPr>
              <a:t>Filtros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5018836"/>
            <a:ext cx="9144000" cy="624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0202B"/>
                </a:solidFill>
                <a:latin typeface="Calibri"/>
              </a:rPr>
              <a:t>El territorio se aplica a todas las acciones; el servicio, a las alertas y al seguimiento de continuidad de atención. Kits y bono no se asocian a un servicio. La planificación del bono es nacional.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752795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20202B"/>
                </a:solidFill>
                <a:latin typeface="Calibri"/>
              </a:rPr>
              <a:t>Fuentes: Subsecretaría Territorial (análisis de alertas); corte Kobo de kits; ayuda memoria del bono de contingencia; base territorial de afectaciones por lluvias.
Geoportal: https://geoportal.trabajo.gob.ec/ua_amenazas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Riesgos · Respuesta del Ministerio · Del 14/09/2026 al 26/10/2026</dc:title>
  <dc:subject>Riesgos · Nacional</dc:subject>
  <dc:creator>Ministerio de Trabajo y Desarrollo Humano</dc:creator>
  <cp:keywords>MTDH, InfoReport, indicadores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