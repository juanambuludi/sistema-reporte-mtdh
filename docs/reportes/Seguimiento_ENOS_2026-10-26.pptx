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Guayas</c:v>
                </c:pt>
                <c:pt idx="1">
                  <c:v>El Oro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Desarrollo Infantil</c:v>
                </c:pt>
                <c:pt idx="1">
                  <c:v>Creciendo con Nuestros Hijos (CNH)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Acumuladas</c:v>
                </c:pt>
              </c:strCache>
            </c:strRef>
          </c:tx>
          <c:spPr>
            <a:ln w="28575">
              <a:solidFill>
                <a:srgbClr val="512F8D"/>
              </a:solidFill>
            </a:ln>
          </c:spPr>
          <c:marker>
            <c:symbol val="circle"/>
            <c:size val="7"/>
            <c:spPr>
              <a:solidFill>
                <a:srgbClr val="512F8D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Sheet1!$A$2:$A$44</c:f>
              <c:strCache>
                <c:ptCount val="43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  <c:pt idx="14">
                  <c:v>28/09</c:v>
                </c:pt>
                <c:pt idx="15">
                  <c:v>29/09</c:v>
                </c:pt>
                <c:pt idx="16">
                  <c:v>30/09</c:v>
                </c:pt>
                <c:pt idx="17">
                  <c:v>01/10</c:v>
                </c:pt>
                <c:pt idx="18">
                  <c:v>02/10</c:v>
                </c:pt>
                <c:pt idx="19">
                  <c:v>03/10</c:v>
                </c:pt>
                <c:pt idx="20">
                  <c:v>04/10</c:v>
                </c:pt>
                <c:pt idx="21">
                  <c:v>05/10</c:v>
                </c:pt>
                <c:pt idx="22">
                  <c:v>06/10</c:v>
                </c:pt>
                <c:pt idx="23">
                  <c:v>07/10</c:v>
                </c:pt>
                <c:pt idx="24">
                  <c:v>08/10</c:v>
                </c:pt>
                <c:pt idx="25">
                  <c:v>09/10</c:v>
                </c:pt>
                <c:pt idx="26">
                  <c:v>10/10</c:v>
                </c:pt>
                <c:pt idx="27">
                  <c:v>11/10</c:v>
                </c:pt>
                <c:pt idx="28">
                  <c:v>12/10</c:v>
                </c:pt>
                <c:pt idx="29">
                  <c:v>13/10</c:v>
                </c:pt>
                <c:pt idx="30">
                  <c:v>14/10</c:v>
                </c:pt>
                <c:pt idx="31">
                  <c:v>15/10</c:v>
                </c:pt>
                <c:pt idx="32">
                  <c:v>16/10</c:v>
                </c:pt>
                <c:pt idx="33">
                  <c:v>17/10</c:v>
                </c:pt>
                <c:pt idx="34">
                  <c:v>18/10</c:v>
                </c:pt>
                <c:pt idx="35">
                  <c:v>19/10</c:v>
                </c:pt>
                <c:pt idx="36">
                  <c:v>20/10</c:v>
                </c:pt>
                <c:pt idx="37">
                  <c:v>21/10</c:v>
                </c:pt>
                <c:pt idx="38">
                  <c:v>22/10</c:v>
                </c:pt>
                <c:pt idx="39">
                  <c:v>23/10</c:v>
                </c:pt>
                <c:pt idx="40">
                  <c:v>24/10</c:v>
                </c:pt>
                <c:pt idx="41">
                  <c:v>25/10</c:v>
                </c:pt>
                <c:pt idx="42">
                  <c:v>26/10</c:v>
                </c:pt>
              </c:strCache>
            </c:strRef>
          </c:cat>
          <c:val>
            <c:numRef>
              <c:f>Sheet1!$B$2:$B$44</c:f>
              <c:numCache>
                <c:formatCode>#,##0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4</c:v>
                </c:pt>
                <c:pt idx="36">
                  <c:v>10</c:v>
                </c:pt>
                <c:pt idx="37">
                  <c:v>10</c:v>
                </c:pt>
                <c:pt idx="38">
                  <c:v>10</c:v>
                </c:pt>
                <c:pt idx="39">
                  <c:v>10</c:v>
                </c:pt>
                <c:pt idx="40">
                  <c:v>10</c:v>
                </c:pt>
                <c:pt idx="41">
                  <c:v>10</c:v>
                </c:pt>
                <c:pt idx="42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Registradas en el día</c:v>
                </c:pt>
              </c:strCache>
            </c:strRef>
          </c:tx>
          <c:spPr>
            <a:ln w="19050">
              <a:solidFill>
                <a:srgbClr val="F8C018"/>
              </a:solidFill>
              <a:prstDash val="dash"/>
            </a:ln>
          </c:spPr>
          <c:marker>
            <c:symbol val="none"/>
            <c:size val="7"/>
            <c:spPr>
              <a:solidFill>
                <a:srgbClr val="F8C01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Sheet1!$A$2:$A$44</c:f>
              <c:strCache>
                <c:ptCount val="43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  <c:pt idx="14">
                  <c:v>28/09</c:v>
                </c:pt>
                <c:pt idx="15">
                  <c:v>29/09</c:v>
                </c:pt>
                <c:pt idx="16">
                  <c:v>30/09</c:v>
                </c:pt>
                <c:pt idx="17">
                  <c:v>01/10</c:v>
                </c:pt>
                <c:pt idx="18">
                  <c:v>02/10</c:v>
                </c:pt>
                <c:pt idx="19">
                  <c:v>03/10</c:v>
                </c:pt>
                <c:pt idx="20">
                  <c:v>04/10</c:v>
                </c:pt>
                <c:pt idx="21">
                  <c:v>05/10</c:v>
                </c:pt>
                <c:pt idx="22">
                  <c:v>06/10</c:v>
                </c:pt>
                <c:pt idx="23">
                  <c:v>07/10</c:v>
                </c:pt>
                <c:pt idx="24">
                  <c:v>08/10</c:v>
                </c:pt>
                <c:pt idx="25">
                  <c:v>09/10</c:v>
                </c:pt>
                <c:pt idx="26">
                  <c:v>10/10</c:v>
                </c:pt>
                <c:pt idx="27">
                  <c:v>11/10</c:v>
                </c:pt>
                <c:pt idx="28">
                  <c:v>12/10</c:v>
                </c:pt>
                <c:pt idx="29">
                  <c:v>13/10</c:v>
                </c:pt>
                <c:pt idx="30">
                  <c:v>14/10</c:v>
                </c:pt>
                <c:pt idx="31">
                  <c:v>15/10</c:v>
                </c:pt>
                <c:pt idx="32">
                  <c:v>16/10</c:v>
                </c:pt>
                <c:pt idx="33">
                  <c:v>17/10</c:v>
                </c:pt>
                <c:pt idx="34">
                  <c:v>18/10</c:v>
                </c:pt>
                <c:pt idx="35">
                  <c:v>19/10</c:v>
                </c:pt>
                <c:pt idx="36">
                  <c:v>20/10</c:v>
                </c:pt>
                <c:pt idx="37">
                  <c:v>21/10</c:v>
                </c:pt>
                <c:pt idx="38">
                  <c:v>22/10</c:v>
                </c:pt>
                <c:pt idx="39">
                  <c:v>23/10</c:v>
                </c:pt>
                <c:pt idx="40">
                  <c:v>24/10</c:v>
                </c:pt>
                <c:pt idx="41">
                  <c:v>25/10</c:v>
                </c:pt>
                <c:pt idx="42">
                  <c:v>26/10</c:v>
                </c:pt>
              </c:strCache>
            </c:strRef>
          </c:cat>
          <c:val>
            <c:numRef>
              <c:f>Sheet1!$C$2:$C$44</c:f>
              <c:numCache>
                <c:formatCode>#,##0</c:formatCode>
                <c:ptCount val="4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2</c:v>
                </c:pt>
                <c:pt idx="33">
                  <c:v>0</c:v>
                </c:pt>
                <c:pt idx="34">
                  <c:v>0</c:v>
                </c:pt>
                <c:pt idx="35">
                  <c:v>2</c:v>
                </c:pt>
                <c:pt idx="36">
                  <c:v>6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0F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EEAF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880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802. Núcleos con bono gestionado: 113. Monto de bonos gestionados: USD 33.200,80. 10 alertas con 10 códigos UA distintos: 8 Desarrollo Infantil; 2 Creciendo con Nuestros Hijos (CNH). 8 con afectación documentada y 2 por confirmar. Se excluyen los registros sin código UA; el código por sí solo no confirma una afectación.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16:44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4 provincias priorizadas · 24 y 25/10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Gestionado no acredita cobro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por provincia y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provincia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servicio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17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10 alertas con 10 códigos UA distintos: 8 Desarrollo Infantil; 2 Creciendo con Nuestros Hijos (CNH). 8 con afectación documentada y 2 por confirmar. Se excluyen los registros sin código UA; el código por sí solo no confirma una afectación.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371600"/>
          <a:ext cx="11155680" cy="4480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978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Fecha de registro de la alerta; seguimiento desde 14/09/2026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UA: 62210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UA: 14294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UA: 13916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UA: 62208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UA: 60221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SUPER NIÑO
UA: 60220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UA: 58337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UA: 58336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UA: 56744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UA: 56204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26279"/>
                <a:gridCol w="685800"/>
                <a:gridCol w="1371600"/>
                <a:gridCol w="146304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 / cantones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Bono gestionado (núcleos)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 articulación (personas)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Azuay
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Esmeraldas
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
Guayaquil, Milagro, 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Imbabura
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Los Ríos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Manabí
Flavio Alfaro, 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33.200,80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1.169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354.379,41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62356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y planificación del bono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83080"/>
          <a:ext cx="640080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828800"/>
                <a:gridCol w="278892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6235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280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20240"/>
            <a:ext cx="43891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145.523 personas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44.098 núcleos familiares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USD 13.405.351,02 de inversión estimada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Proyección nacional; planificación, no ejecución.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28800"/>
            <a:ext cx="5303520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82880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828800" cy="1025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9144000" cy="1025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identificadas; tener código UA no confirma afectación al servicio.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0955"/>
            <a:ext cx="18288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Revisión de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60955"/>
            <a:ext cx="91440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94888"/>
            <a:ext cx="18288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94888"/>
            <a:ext cx="91440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27652"/>
            <a:ext cx="1828800" cy="851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927652"/>
            <a:ext cx="9144000" cy="8510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88382"/>
            <a:ext cx="1828800" cy="604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888382"/>
            <a:ext cx="9144000" cy="604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solo a las alertas según la UA registrada. Kits y bono no se asocian a un servicio. La planificación del bono es nacional.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602833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Fuentes: Subsecretaría Territorial (análisis de alertas); reporte ministerial de kits; ayuda memoria del bono de contingencia.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