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UA suspendidas</c:v>
                </c:pt>
              </c:strCache>
            </c:strRef>
          </c:tx>
          <c:dPt>
            <c:idx val="0"/>
            <c:spPr>
              <a:solidFill>
                <a:srgbClr val="A995E0"/>
              </a:solidFill>
              <a:ln w="381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512F8D"/>
              </a:solidFill>
              <a:ln w="381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CNH · 64 UA (64,6 %)</c:v>
                </c:pt>
                <c:pt idx="1">
                  <c:v>CDI · 35 UA (35,4 %)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64</c:v>
                </c:pt>
                <c:pt idx="1">
                  <c:v>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8"/>
      </c:doughnutChart>
    </c:plotArea>
    <c:legend>
      <c:legendPos val="b"/>
      <c:layout/>
      <c:overlay val="0"/>
      <c:txPr>
        <a:bodyPr/>
        <a:lstStyle/>
        <a:p>
          <a:pPr>
            <a:defRPr sz="13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Guayas</c:v>
                </c:pt>
              </c:strCache>
            </c:strRef>
          </c:tx>
          <c:spPr>
            <a:solidFill>
              <a:srgbClr val="512F8D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67</c:v>
                </c:pt>
                <c:pt idx="1">
                  <c:v>344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Esmeraldas</c:v>
                </c:pt>
              </c:strCache>
            </c:strRef>
          </c:tx>
          <c:spPr>
            <a:solidFill>
              <a:srgbClr val="7657B9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Sheet1!$C$2:$C$3</c:f>
              <c:numCache>
                <c:formatCode>#,##0</c:formatCode>
                <c:ptCount val="2"/>
                <c:pt idx="1">
                  <c:v>530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Manabí</c:v>
                </c:pt>
              </c:strCache>
            </c:strRef>
          </c:tx>
          <c:spPr>
            <a:solidFill>
              <a:srgbClr val="F8C018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Sheet1!$D$2:$D$3</c:f>
              <c:numCache>
                <c:formatCode>#,##0</c:formatCode>
                <c:ptCount val="2"/>
                <c:pt idx="0">
                  <c:v>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 Oro</c:v>
                </c:pt>
              </c:strCache>
            </c:strRef>
          </c:tx>
          <c:spPr>
            <a:solidFill>
              <a:srgbClr val="A995E0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Sheet1!$E$2:$E$3</c:f>
              <c:numCache>
                <c:formatCode>#,##0</c:formatCode>
                <c:ptCount val="2"/>
                <c:pt idx="1">
                  <c:v>181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Los Ríos</c:v>
                </c:pt>
              </c:strCache>
            </c:strRef>
          </c:tx>
          <c:spPr>
            <a:solidFill>
              <a:srgbClr val="A32C74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Sheet1!$F$2:$F$3</c:f>
              <c:numCache>
                <c:formatCode>#,##0</c:formatCode>
                <c:ptCount val="2"/>
                <c:pt idx="1">
                  <c:v>109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Azuay</c:v>
                </c:pt>
              </c:strCache>
            </c:strRef>
          </c:tx>
          <c:spPr>
            <a:solidFill>
              <a:srgbClr val="2B164F"/>
            </a:solidFill>
            <a:ln w="25400"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Sheet1!$G$2:$G$3</c:f>
              <c:numCache>
                <c:formatCode>#,##0</c:formatCode>
                <c:ptCount val="2"/>
                <c:pt idx="0">
                  <c:v>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Imbabura</c:v>
                </c:pt>
              </c:strCache>
            </c:strRef>
          </c:tx>
          <c:spPr>
            <a:solidFill>
              <a:srgbClr val="E6A3C5"/>
            </a:solidFill>
            <a:ln w="25400"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Sheet1!$H$2:$H$3</c:f>
              <c:numCache>
                <c:formatCode>#,##0</c:formatCode>
                <c:ptCount val="2"/>
                <c:pt idx="1">
                  <c:v>5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con código UA: 10. Kits entregados: 13.390. Núcleos familiares con bono gestionado: 113. Monto de bonos gestionados: USD 33.200,80. Unidades cerradas / suspendidas: 99. 99 unidades de atención con atención suspendida (64 CNH · 35 CDI); El Oro concentra 75 (75,8 %).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7.png"/><Relationship Id="rId5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Relationship Id="rId4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geoportal.trabajo.gob.ec/ua_amenaz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14/09/2026 al 26/10/2026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>
                <a:solidFill>
                  <a:srgbClr val="FFFFFF"/>
                </a:solidFill>
                <a:latin typeface="Century Gothic"/>
              </a:rPr>
              <a:t>Riesgos · Respuesta del Ministerio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26/10/2026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26 de octubre de 2026, 18:00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14/09/2026 al 26/10/2026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con código 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Registros distintos · desde 14/09/2026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13.390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20 provincias priorizadas · corte 26/10, 22:26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Núcleos familiares con bono gestionado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Por inundaciones · gestión del bono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de bonos gestionados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33.200,80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Corte del bono: 23/10/2026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Generado el 26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Continuidad de los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Dónde se suspendió la atención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Provincia y cantón · el color indica el servicio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65960"/>
            <a:ext cx="704088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1243584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Por servicio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62763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Participación en las unidades suspendidas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818120" y="1920240"/>
          <a:ext cx="3931920" cy="41605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818120" y="32461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2B164F"/>
                </a:solidFill>
                <a:latin typeface="Century Gothic"/>
              </a:rPr>
              <a:t>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79476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A5765"/>
                </a:solidFill>
                <a:latin typeface="Calibri"/>
              </a:rPr>
              <a:t>UA suspendidas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Fuente: reporte territorial de unidades con suspensión total o presencial. Corte: 26/10/2026, 16:00.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399" cy="42153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1874519"/>
                <a:gridCol w="1417320"/>
                <a:gridCol w="594360"/>
                <a:gridCol w="58978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UA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Unidades identificadas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Raquel Aguilar; Tío Boanerges; Gotitas de Amor; Dina Verdi; Súper Niño; Estrellita de Mar; Niños al Futuro; Milagritos de Dios; Caritas Alegres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Pasitos con Amor; Buen Vivir de los Niños y Niñas; Aprender Jugando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Manantial del Saber; Virgen de las Mercedes #218; Rivera de los Vergeles; María de la Paz; Ángel de Luz; Camino al Buen Vivir; Jardín de los Sueños; Mundo Infantil; Nuestros Niños en Dios; Los Niños del Mañana; Sueños Infantiles; María Teresa; 9 de Enero; Cosechando Sueños; Angelitos Dei; Amiguitos del Futuro; Niños San Rafael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Mickey Mouse; Los Piqueritos; Tía Peluca; Mis Pequeños Angelitos; Caritas Alegres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64 CNH · 35 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en servicios MTDH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Registradas cada día y acumuladas desde el 14/09/2026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965960"/>
            <a:ext cx="694944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26679" y="1243584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alerta, una unidad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62763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Por provincia · el color indica el servicio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16712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Guayas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16712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148840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200" y="2148840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58400" y="2148840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515600" y="2148840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72800" y="2148840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430000" y="2148840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27889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El Oro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78892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277063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01200" y="277063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3410712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Manabí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3410712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3392424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01200" y="3392424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26679" y="416052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73567" y="4105656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Desarrollo Infantil · 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56163" y="416052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03051" y="4105656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CNH ·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10 alertas con 10 códigos UA distintos: 8 Desarrollo Infantil; 2 Creciendo con Nuestros Hijos (CNH). Se excluyen los registros sin código UA.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956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3639312"/>
                <a:gridCol w="1188720"/>
                <a:gridCol w="8229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registro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Afectación al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 62210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 14294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 13916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 62208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 60221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Súper Niño
UA 60220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 58337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 58336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 56744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 56204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entregados en provincias priorizadas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13.390 kits en 20 provincias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89 registros Kobo · corte 26/10/2026, 22:26 · cada círculo es una entrega y su tamaño indica los kits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920240"/>
            <a:ext cx="1115568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1081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5765"/>
                </a:solidFill>
                <a:latin typeface="Calibri"/>
              </a:rPr>
              <a:t>Núcleos familiares reportados por entrega: 12.681; no son núcleos familiares únicos.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etapa, por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Inundaciones · cada barra suma el 100 % de su etapa; las etapas no se suman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874519"/>
          <a:ext cx="7223760" cy="3566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001000" y="1243584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62763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Proyección nacional · planificación, no ejecución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965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2112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Personas potenciales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145.523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108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3255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200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Núcleos familiares potenciales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474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44.098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4251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4398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4343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Inversión estimada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617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USD 13.405.351,02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Resumen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20 provincias · kits, bono gestionado (núcleos familiares) y casos en articulación (personas)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874519"/>
          <a:ext cx="5486399" cy="4069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Carchi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Chimborazo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Cotopaxi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3.820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6.850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19.264,51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874519"/>
          <a:ext cx="5486399" cy="4069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33.033,06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13.632,30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Napo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Pastaza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Pichincha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Santo Domingo de los Tsáchilas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Sucumbíos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Tungurahua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Zamora Chinchipe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con código UA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83080"/>
            <a:ext cx="3657600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5196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UA suspendidas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1783080"/>
            <a:ext cx="3657600" cy="4206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672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entregados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1783080"/>
            <a:ext cx="36576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Se muestran únicamente alertas revisadas con código UA registrado, desde el 14 de septiembre de 2026. El conteo corresponde a códigos de alerta distintos vinculados a unidades identificadas. Los registros sin código quedan fuera de este alcance. La fecha corresponde al registro y una alerta no equivale necesariamente a un evento único. El campo Afectados mezcla personas, familias y usuarios; no se suma como personas únicas. La base no certifica atribución causal a ENOS.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Kits en provincias priorizadas: Kobo, corte 26/10/2026, 22:26:42. Entregas del 31/08 al 26/10; incluye fechas anteriores al inicio de las alertas. Reemplaza el corte anterior. Núcleos familiares reportados: suma por entrega, no núcleos únicos. El total de kits de este corte fue confirmado oficialmente.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Fuente: reporte territorial de unidades con suspensión total o presencial. Corte: 26/10/2026, 16:00.</a:t>
            </a:r>
          </a:p>
          <a:p>
            <a:pPr>
              <a:spcBef>
                <a:spcPts val="600"/>
              </a:spcBef>
            </a:pPr>
            <a:r>
              <a:rPr sz="1350">
                <a:solidFill>
                  <a:srgbClr val="5A5765"/>
                </a:solidFill>
                <a:latin typeface="Calibri"/>
              </a:rPr>
              <a:t>Más información en el </a:t>
            </a:r>
            <a:r>
              <a:rPr sz="1350" b="1" u="sng">
                <a:solidFill>
                  <a:srgbClr val="512F8D"/>
                </a:solidFill>
                <a:latin typeface="Calibri"/>
                <a:hlinkClick r:id="rId4"/>
              </a:rPr>
              <a:t>geoportal de unidades de atención y amenazas</a:t>
            </a:r>
            <a:r>
              <a:rPr sz="1350">
                <a:solidFill>
                  <a:srgbClr val="5A5765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El territorio se aplica a todas las acciones; el servicio, a las alertas y al seguimiento de continuidad de atención. Kits y bono no se asocian a un servicio. La planificación del bono es nacional.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Fuentes: Subsecretaría Territorial (análisis de alertas); corte Kobo de kits; ayuda memoria del bono de contingencia; base territorial de afectaciones por lluvias.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Respuesta del Ministerio · Del 14/09/2026 al 26/10/2026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