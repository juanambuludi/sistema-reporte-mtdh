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CNH · 64 UA (64,6 %)</c:v>
                </c:pt>
                <c:pt idx="1">
                  <c:v>CDI · 35 UA (35,4 %)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64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Guayas</c:v>
                </c:pt>
              </c:strCache>
            </c:strRef>
          </c:tx>
          <c:spPr>
            <a:solidFill>
              <a:srgbClr val="512F8D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67</c:v>
                </c:pt>
                <c:pt idx="1">
                  <c:v>344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Esmeraldas</c:v>
                </c:pt>
              </c:strCache>
            </c:strRef>
          </c:tx>
          <c:spPr>
            <a:solidFill>
              <a:srgbClr val="7657B9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Sheet1!$C$2:$C$3</c:f>
              <c:numCache>
                <c:formatCode>#,##0</c:formatCode>
                <c:ptCount val="2"/>
                <c:pt idx="1">
                  <c:v>530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Manabí</c:v>
                </c:pt>
              </c:strCache>
            </c:strRef>
          </c:tx>
          <c:spPr>
            <a:solidFill>
              <a:srgbClr val="F8C018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Sheet1!$D$2:$D$3</c:f>
              <c:numCache>
                <c:formatCode>#,##0</c:formatCode>
                <c:ptCount val="2"/>
                <c:pt idx="0">
                  <c:v>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 Oro</c:v>
                </c:pt>
              </c:strCache>
            </c:strRef>
          </c:tx>
          <c:spPr>
            <a:solidFill>
              <a:srgbClr val="A995E0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Sheet1!$E$2:$E$3</c:f>
              <c:numCache>
                <c:formatCode>#,##0</c:formatCode>
                <c:ptCount val="2"/>
                <c:pt idx="1">
                  <c:v>181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Los Ríos</c:v>
                </c:pt>
              </c:strCache>
            </c:strRef>
          </c:tx>
          <c:spPr>
            <a:solidFill>
              <a:srgbClr val="A32C74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Sheet1!$F$2:$F$3</c:f>
              <c:numCache>
                <c:formatCode>#,##0</c:formatCode>
                <c:ptCount val="2"/>
                <c:pt idx="1">
                  <c:v>109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Azuay</c:v>
                </c:pt>
              </c:strCache>
            </c:strRef>
          </c:tx>
          <c:spPr>
            <a:solidFill>
              <a:srgbClr val="2B164F"/>
            </a:solidFill>
            <a:ln w="25400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Sheet1!$G$2:$G$3</c:f>
              <c:numCache>
                <c:formatCode>#,##0</c:formatCode>
                <c:ptCount val="2"/>
                <c:pt idx="0">
                  <c:v>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Imbabura</c:v>
                </c:pt>
              </c:strCache>
            </c:strRef>
          </c:tx>
          <c:spPr>
            <a:solidFill>
              <a:srgbClr val="E6A3C5"/>
            </a:solidFill>
            <a:ln w="25400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Sheet1!$H$2:$H$3</c:f>
              <c:numCache>
                <c:formatCode>#,##0</c:formatCode>
                <c:ptCount val="2"/>
                <c:pt idx="1">
                  <c:v>5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con código UA: 10. Kits entregados: 13.390. Núcleos familiares con bono gestionado: 113. Monto de bonos gestionados: USD 33.200,80. Unidades cerradas / suspendidas: 99. 99 unidades de atención con atención suspendida (64 CNH · 35 CDI); El Oro concentra 75 (75,8 %).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Relationship Id="rId4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26/10/2026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18:00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con código 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Registros distintos · desde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13.390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20 provincias priorizadas · corte 26/10, 22:26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Núcleos familiares con bono gestionado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Por inundaciones · gestión del bono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de bonos gestionados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33.200,80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Fuente: reporte territorial de unidades con suspensión total o presencial. Corte: 26/10/2026, 16:00.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399" cy="4215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1874519"/>
                <a:gridCol w="1417320"/>
                <a:gridCol w="594360"/>
                <a:gridCol w="58978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UA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Unidades identificadas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Raquel Aguilar; Tío Boanerges; Gotitas de Amor; Dina Verdi; Súper Niño; Estrellita de Mar; Niños al Futuro; Milagritos de Dios; Caritas Alegres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Pasitos con Amor; Buen Vivir de los Niños y Niñas; Aprender Jugando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Saber; Virgen de las Mercedes #218; Rivera de los Vergeles; María de la Paz; Ángel de Luz; Camino al Buen Vivir; Jardín de los Sueños; Mundo Infantil; Nuestros Niños en Dios; Los Niños del Mañana; Sueños Infantiles; María Teresa; 9 de Enero; Cosechando Sueños; Angelitos Dei; Amiguitos del Futuro; Niños San Rafael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Mickey Mouse; Los Piqueritos; Tía Peluca; Mis Pequeños Angelitos; 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64 CNH · 35 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14/09/2026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2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5156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27889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78892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277063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200" y="277063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41071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410712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3392424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01200" y="3392424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26679" y="416052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73567" y="4105656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56163" y="416052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03051" y="4105656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10 alertas con 10 códigos UA distintos: 8 Desarrollo Infantil; 2 Creciendo con Nuestros Hijos (CNH). Se excluyen los registros sin código UA.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956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3639312"/>
                <a:gridCol w="1188720"/>
                <a:gridCol w="8229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 al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13.390 kits en 20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89 registros Kobo · corte 26/10/2026, 22:26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12.681; no son núcleos familiares únicos.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etapa, por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Inundaciones · cada barra suma el 100 % de su etapa; las etapas no se suman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874519"/>
          <a:ext cx="722376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20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06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06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con código UA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6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1920240" cy="870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325880"/>
            <a:ext cx="9144000" cy="870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Se muestran únicamente alertas revisadas con código UA registrado, desde el 14 de septiembre de 2026. El conteo corresponde a códigos de alerta distintos vinculados a unidades identificadas. Los registros sin código quedan fuera de este alcance. La fecha corresponde al registro y una alerta no equivale necesariamente a un evento único. El campo Afectados mezcla personas, familias y usuarios; no se suma como personas únicas. La base no certifica atribución causal a 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88286"/>
            <a:ext cx="1920240" cy="675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Kits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288286"/>
            <a:ext cx="9144000" cy="675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Kits en provincias priorizadas: Kobo, corte 26/10/2026, 22:26:42. Entregas del 31/08 al 26/10; incluye fechas anteriores al inicio de las alertas. Reemplaza el corte anterior. Núcleos familiares reportados: suma por entrega, no núcleos únicos. El total de kits de este corte fue confirmado oficialmente.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055239"/>
            <a:ext cx="1920240" cy="732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Bono de contingencia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055239"/>
            <a:ext cx="9144000" cy="732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79341"/>
            <a:ext cx="1920240" cy="554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Filtros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879341"/>
            <a:ext cx="9144000" cy="554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5137"/>
            <a:ext cx="1920240" cy="443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Continuidad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4525137"/>
            <a:ext cx="9144000" cy="443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Fuente: reporte territorial de unidades con suspensión total o presencial. Corte: 26/10/2026, 16:00.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60061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
Geoportal: https://geoportal.trabajo.gob.ec/ua_amenazas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26/10/2026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