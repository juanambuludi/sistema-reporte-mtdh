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UA suspendidas</c:v>
                </c:pt>
              </c:strCache>
            </c:strRef>
          </c:tx>
          <c:dPt>
            <c:idx val="0"/>
            <c:spPr>
              <a:solidFill>
                <a:srgbClr val="A995E0"/>
              </a:solidFill>
              <a:ln w="381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512F8D"/>
              </a:solidFill>
              <a:ln w="38100"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CNH · 64 UA (64,6 %)</c:v>
                </c:pt>
                <c:pt idx="1">
                  <c:v>CDI · 35 UA (35,4 %)</c:v>
                </c:pt>
              </c:strCache>
            </c:strRef>
          </c:cat>
          <c:val>
            <c:numRef>
              <c:f>Sheet1!$B$2:$B$3</c:f>
              <c:numCache>
                <c:formatCode>#,##0</c:formatCode>
                <c:ptCount val="2"/>
                <c:pt idx="0">
                  <c:v>64</c:v>
                </c:pt>
                <c:pt idx="1">
                  <c:v>35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8"/>
      </c:doughnutChart>
    </c:plotArea>
    <c:legend>
      <c:legendPos val="b"/>
      <c:layout/>
      <c:overlay val="0"/>
      <c:txPr>
        <a:bodyPr/>
        <a:lstStyle/>
        <a:p>
          <a:pPr>
            <a:defRPr sz="13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Guayas</c:v>
                </c:pt>
              </c:strCache>
            </c:strRef>
          </c:tx>
          <c:spPr>
            <a:solidFill>
              <a:srgbClr val="512F8D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Sheet1!$B$2:$B$3</c:f>
              <c:numCache>
                <c:formatCode>#,##0</c:formatCode>
                <c:ptCount val="2"/>
                <c:pt idx="0">
                  <c:v>67</c:v>
                </c:pt>
                <c:pt idx="1">
                  <c:v>344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Esmeraldas</c:v>
                </c:pt>
              </c:strCache>
            </c:strRef>
          </c:tx>
          <c:spPr>
            <a:solidFill>
              <a:srgbClr val="7657B9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Sheet1!$C$2:$C$3</c:f>
              <c:numCache>
                <c:formatCode>#,##0</c:formatCode>
                <c:ptCount val="2"/>
                <c:pt idx="1">
                  <c:v>530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Manabí</c:v>
                </c:pt>
              </c:strCache>
            </c:strRef>
          </c:tx>
          <c:spPr>
            <a:solidFill>
              <a:srgbClr val="F8C018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2B164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Sheet1!$D$2:$D$3</c:f>
              <c:numCache>
                <c:formatCode>#,##0</c:formatCode>
                <c:ptCount val="2"/>
                <c:pt idx="0">
                  <c:v>45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El Oro</c:v>
                </c:pt>
              </c:strCache>
            </c:strRef>
          </c:tx>
          <c:spPr>
            <a:solidFill>
              <a:srgbClr val="A995E0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2B164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Sheet1!$E$2:$E$3</c:f>
              <c:numCache>
                <c:formatCode>#,##0</c:formatCode>
                <c:ptCount val="2"/>
                <c:pt idx="1">
                  <c:v>181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Los Ríos</c:v>
                </c:pt>
              </c:strCache>
            </c:strRef>
          </c:tx>
          <c:spPr>
            <a:solidFill>
              <a:srgbClr val="A32C74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Sheet1!$F$2:$F$3</c:f>
              <c:numCache>
                <c:formatCode>#,##0</c:formatCode>
                <c:ptCount val="2"/>
                <c:pt idx="1">
                  <c:v>109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Azuay</c:v>
                </c:pt>
              </c:strCache>
            </c:strRef>
          </c:tx>
          <c:spPr>
            <a:solidFill>
              <a:srgbClr val="2B164F"/>
            </a:solidFill>
            <a:ln w="25400">
              <a:solidFill>
                <a:srgbClr val="FFFFFF"/>
              </a:solidFill>
            </a:ln>
          </c:spPr>
          <c:dLbls>
            <c:dLbl>
              <c:idx val="0"/>
              <c:delete val="1"/>
            </c:dLbl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Sheet1!$G$2:$G$3</c:f>
              <c:numCache>
                <c:formatCode>#,##0</c:formatCode>
                <c:ptCount val="2"/>
                <c:pt idx="0">
                  <c:v>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Imbabura</c:v>
                </c:pt>
              </c:strCache>
            </c:strRef>
          </c:tx>
          <c:spPr>
            <a:solidFill>
              <a:srgbClr val="E6A3C5"/>
            </a:solidFill>
            <a:ln w="25400">
              <a:solidFill>
                <a:srgbClr val="FFFFFF"/>
              </a:solidFill>
            </a:ln>
          </c:spPr>
          <c:dLbls>
            <c:dLbl>
              <c:idx val="1"/>
              <c:delete val="1"/>
            </c:dLbl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2B164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Sheet1!$H$2:$H$3</c:f>
              <c:numCache>
                <c:formatCode>#,##0</c:formatCode>
                <c:ptCount val="2"/>
                <c:pt idx="1">
                  <c:v>5</c:v>
                </c:pt>
              </c:numCache>
            </c:numRef>
          </c:val>
        </c:ser>
        <c:gapWidth val="7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Alertas reportadas: 21. Kits entregados: 13.390. Núcleos familiares con bono gestionado: 113. Monto de bonos gestionados: USD 33.200,80. Unidades cerradas / suspendidas: 99. 99 unidades de atención con atención suspendida (64 CNH · 35 CDI); El Oro concentra 75 (75,8 %).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7.png"/><Relationship Id="rId5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Relationship Id="rId4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Relationship Id="rId4" Type="http://schemas.openxmlformats.org/officeDocument/2006/relationships/hyperlink" Target="https://geoportal.trabajo.gob.ec/ua_amenaza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92040" cy="6858000"/>
          </a:xfrm>
          <a:prstGeom prst="rect">
            <a:avLst/>
          </a:prstGeom>
          <a:gradFill rotWithShape="1">
            <a:gsLst>
              <a:gs pos="0">
                <a:srgbClr val="1E0F3B"/>
              </a:gs>
              <a:gs pos="100000">
                <a:srgbClr val="512F8D"/>
              </a:gs>
            </a:gsLst>
            <a:lin scaled="0" ang="36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700" y="3675887"/>
            <a:ext cx="2072640" cy="1828800"/>
          </a:xfrm>
          <a:prstGeom prst="rect">
            <a:avLst/>
          </a:prstGeom>
        </p:spPr>
      </p:pic>
      <p:pic>
        <p:nvPicPr>
          <p:cNvPr id="4" name="Picture 3" descr="mtd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384048"/>
            <a:ext cx="2533861" cy="603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37160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8C018"/>
                </a:solidFill>
                <a:latin typeface="Calibri"/>
              </a:rPr>
              <a:t>Del 14/09/2026 al 26/10/2026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072"/>
            <a:ext cx="406908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>
                <a:solidFill>
                  <a:srgbClr val="FFFFFF"/>
                </a:solidFill>
                <a:latin typeface="Century Gothic"/>
              </a:rPr>
              <a:t>Riesgos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182112"/>
            <a:ext cx="822960" cy="64008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310128"/>
            <a:ext cx="4023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E4DBF3"/>
                </a:solidFill>
                <a:latin typeface="Calibri"/>
              </a:rPr>
              <a:t>Nacional · Todos los servicios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96128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Corte: Respuesta al 26/10/2026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Actualizado el 27 de octubre de 2026, 08:41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Según cortes recibidos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41148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8C018"/>
                </a:solidFill>
                <a:latin typeface="Century Gothic"/>
              </a:rPr>
              <a:t>El corazón de Ecuador. </a:t>
            </a:r>
            <a:r>
              <a:rPr sz="1050" b="0">
                <a:solidFill>
                  <a:srgbClr val="E4DBF3"/>
                </a:solidFill>
                <a:latin typeface="Calibri"/>
              </a:rPr>
              <a:t>Velamos por la calidad de vida de los ecuatorianos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566928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164F"/>
                </a:solidFill>
                <a:latin typeface="Century Gothic"/>
              </a:rPr>
              <a:t>Cifras clave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024128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Riesgos · Del 14/09/2026 al 26/10/2026 · Nacional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49240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49240" y="1901952"/>
            <a:ext cx="64008" cy="1664207"/>
          </a:xfrm>
          <a:prstGeom prst="rect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641848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shield-bl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1751" y="2060143"/>
            <a:ext cx="341985" cy="34198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Alertas reportadas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78424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Registro y reportes sectoriales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95944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95944" y="1901952"/>
            <a:ext cx="64008" cy="1664207"/>
          </a:xfrm>
          <a:prstGeom prst="rect">
            <a:avLst/>
          </a:prstGeom>
          <a:solidFill>
            <a:srgbClr val="7657B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988552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life-buoy-blan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8455" y="2060143"/>
            <a:ext cx="341985" cy="34198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747504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Kits entregados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5128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13.390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20 provincias priorizadas · corte 26/10, 22:26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49240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49240" y="4370832"/>
            <a:ext cx="64008" cy="1664207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641848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hand-coins-blan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81751" y="4529023"/>
            <a:ext cx="341985" cy="34198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400800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Núcleos familiares con bono gestionado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78424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78424" y="578815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Por inundaciones · gestión del bono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95944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95944" y="4370832"/>
            <a:ext cx="64008" cy="1664207"/>
          </a:xfrm>
          <a:prstGeom prst="rect">
            <a:avLst/>
          </a:prstGeom>
          <a:solidFill>
            <a:srgbClr val="C33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988552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banknote-blanc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8455" y="4529023"/>
            <a:ext cx="341985" cy="341985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747504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Monto de bonos gestionados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25128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164F"/>
                </a:solidFill>
                <a:latin typeface="Century Gothic"/>
              </a:rPr>
              <a:t>USD 33.200,80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25128" y="578815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Corte del bono: 23/10/2026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9240" y="6473952"/>
            <a:ext cx="4892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Generado el 27 de octubre de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Continuidad de los servicios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2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Dónde se suspendió la atención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Provincia y cantón · el color indica el servicio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65960"/>
            <a:ext cx="7040880" cy="411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09560" y="1243584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Por servicio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1627632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Participación en las unidades suspendidas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7818120" y="1920240"/>
          <a:ext cx="3931920" cy="416052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818120" y="3246120"/>
            <a:ext cx="3931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2B164F"/>
                </a:solidFill>
                <a:latin typeface="Century Gothic"/>
              </a:rPr>
              <a:t>99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379476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A5765"/>
                </a:solidFill>
                <a:latin typeface="Calibri"/>
              </a:rPr>
              <a:t>UA suspendidas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14476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A5765"/>
                </a:solidFill>
                <a:latin typeface="Calibri"/>
              </a:rPr>
              <a:t>Fuente: reporte territorial de unidades con suspensión total o presencial. Corte: 26/10/2026, 16:00.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3 / 12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399" cy="42153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1874519"/>
                <a:gridCol w="1417320"/>
                <a:gridCol w="594360"/>
                <a:gridCol w="589788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UA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Unidades identificadas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El Guabo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Raquel Aguilar; Tío Boanerges; Gotitas de Amor; Dina Verdi; Súper Niño; Estrellita de Mar; Niños al Futuro; Milagritos de Dios; Caritas Alegres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Pasaje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Pasitos con Amor; Buen Vivir de los Niños y Niñas; Aprender Jugando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Manantial del Saber; Virgen de las Mercedes #218; Rivera de los Vergeles; María de la Paz; Ángel de Luz; Camino al Buen Vivir; Jardín de los Sueños; Mundo Infantil; Nuestros Niños en Dios; Los Niños del Mañana; Sueños Infantiles; María Teresa; 9 de Enero; Cosechando Sueños; Angelitos Dei; Amiguitos del Futuro; Niños San Rafael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Salinas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Mickey Mouse; Los Piqueritos; Tía Peluca; Mis Pequeños Angelitos; Caritas Alegres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Semillitas del Mañana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Mis Primeras Enseñanzas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64 CNH · 35 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Alertas en servicios MTDH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4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Evolución de las alertas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Registradas cada día y acumuladas desde el 14/09/2026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965960"/>
            <a:ext cx="6949440" cy="393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26679" y="1243584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Cada alerta, una unidad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162763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Por provincia · el color indica el servicio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2167128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Guayas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167128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50976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24128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60704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7280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133856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26679" y="2670048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El Oro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2670048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50976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87552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24128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60704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97280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26679" y="3172968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Manabí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3172968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0" y="315468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509760" y="315468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875520" y="315468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995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241280" y="315468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995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26679" y="3675887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Los Ríos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3675887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365760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509760" y="365760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26679" y="4178808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Santo Domingo de los Tsáchilas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78240" y="4178808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44000" y="416052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26679" y="4681727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Esmeraldas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78240" y="4681727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44000" y="46634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726679" y="5312664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73567" y="5257800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Desarrollo Infantil · 8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829800" y="5312664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76688" y="5257800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Gerontología · 6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726679" y="5632703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73567" y="5577840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AHC · 5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829800" y="5632703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A995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076688" y="5577840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CNH · 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605332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21 alertas reportadas: 10 con código UA y 11 reportes sectoriales.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Registro de alertas ·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5 / 12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80160"/>
          <a:ext cx="11274552" cy="4544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2880360"/>
                <a:gridCol w="1325880"/>
                <a:gridCol w="4462272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fecha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Situación reportada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DIS-2026-003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Discapacidades · AHC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Inundaciones en viviendas de usuarios; acompañamiento y monitoreo.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DIS-2026-002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Discapacidades · AHC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Pasaje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Inundaciones en viviendas de usuarios; monitoreo de facilitadores. Servicio operativo.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DIS-2026-001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Discapacidades · AHC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Inundaciones en viviendas de usuarios; monitoreo de facilitadores.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DIS-2026-005
25/10/2026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Familia por un Buen Vivir para Personas con Discapacidad 7
Discapacidades · AHC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Los Ríos
Babahoyo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Inundación de vivienda de un núcleo familiar; levantamiento de información. Servicio operativo.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DIS-2026-004
25/10/2026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Familia por un Buen Vivir para Personas con Discapacidad 5
Discapacidades · AHC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Los Ríos
Babahoyo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Colapso de vivienda de un usuario; evaluación de necesidades.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ALT-2026-000325
20/10/2026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Gotita del Amor
UA 62210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 en la unidad; sin energía ni agua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ALT-2026-000323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Mis Pequeños Angelitos
UA 14294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 y goteras en la unidad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Registro de alertas ·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6 / 12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80160"/>
          <a:ext cx="11274552" cy="4544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2880360"/>
                <a:gridCol w="1325880"/>
                <a:gridCol w="4462272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fecha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Situación reportada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ALT-2026-000322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Niños Juguetones
UA 13916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Agua dentro y fuera de la unidad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ALT-2026-000321
20/10/2026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Pequeños Jilgueritos
UA 62208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Acumulación de agua en la entrada de la unidad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ALT-2026-000319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Estrellita de Mar
UA 60221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agua; cambio temporal a modalidad virtual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ALT-2026-000318
20/10/2026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Súper Niño
UA 60220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El Guabo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agua; cambio temporal a modalidad virtual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ALT-2026-000316
19/10/2026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Niños de San Rafael
UA 58337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Alerta por inundación en Tenguel vinculada a la UA; afectación al servicio por confirmar.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ALT-2026-000315
19/10/2026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Los Niños del Cisne
UA 58336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Alerta por inundación en Tenguel vinculada a la UA; afectación al servicio por confirmar.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ALT-2026-000310
16/10/2026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 Estrellitas del Amanecer
UA 56744 · 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Flavio Alfaro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 impedido para atención presencial; contacto telefónico temporal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Registro de alertas ·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7 / 12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80160"/>
          <a:ext cx="11274552" cy="4544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2880360"/>
                <a:gridCol w="1325880"/>
                <a:gridCol w="4462272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fecha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Situación reportada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ALT-2026-000309
16/10/2026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Correo Infantil
UA 56204 · 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Flavio Alfaro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 impedido para atención presencial; contacto telefónico temporal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GER-2026-006
Agosto 2026 (sin día)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Santo Domingo de los Tsáchilas
Santo Domingo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y humedad; mitigación inmediata. Servicio operativo.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GER-2026-005
Agosto 2026 (sin día)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Pedernales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y humedad; medidas de contingencia.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GER-2026-004
Agosto 2026 (sin día)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Portoviejo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y humedad; adecuaciones provisionales. Servicio operativo.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GER-2026-003
Agosto 2026 (sin día)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y humedad; medidas preventivas y correctivas.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GER-2026-002
Agosto 2026 (sin día)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Esmeraldas
San Lorenzo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y humedad; intervención emergente. Servicio operativo.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GER-2026-001
Agosto 2026 (sin día)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Huaquillas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en techo y daños en patio; mitigación temporal.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Kits entregados en provincias priorizadas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8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13.390 kits en 20 provincias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89 registros Kobo · corte 26/10/2026, 22:26 · cada círculo es una entrega y su tamaño indica los kits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920240"/>
            <a:ext cx="11155680" cy="416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610819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5765"/>
                </a:solidFill>
                <a:latin typeface="Calibri"/>
              </a:rPr>
              <a:t>Núcleos familiares reportados por entrega: 12.681; no son núcleos familiares únicos.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Bono de contingencia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9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704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Cada etapa, por provincia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7040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Inundaciones · cada barra suma el 100 % de su etapa; las etapas no se suman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1874519"/>
          <a:ext cx="7223760" cy="35661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8001000" y="1243584"/>
            <a:ext cx="37490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Planificación El Niño 2026–2027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1627632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Proyección nacional · planificación, no ejecución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1965960"/>
            <a:ext cx="3749039" cy="987552"/>
          </a:xfrm>
          <a:prstGeom prst="roundRect">
            <a:avLst>
              <a:gd name="adj" fmla="val 10000"/>
            </a:avLst>
          </a:prstGeom>
          <a:solidFill>
            <a:srgbClr val="FDF5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01000" y="2112264"/>
            <a:ext cx="64008" cy="69494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205740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A5765"/>
                </a:solidFill>
                <a:latin typeface="Calibri"/>
              </a:rPr>
              <a:t>Personas potenciales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3317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2B164F"/>
                </a:solidFill>
                <a:latin typeface="Century Gothic"/>
              </a:rPr>
              <a:t>145.523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3108960"/>
            <a:ext cx="3749039" cy="987552"/>
          </a:xfrm>
          <a:prstGeom prst="roundRect">
            <a:avLst>
              <a:gd name="adj" fmla="val 10000"/>
            </a:avLst>
          </a:prstGeom>
          <a:solidFill>
            <a:srgbClr val="FDF5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01000" y="3255264"/>
            <a:ext cx="64008" cy="69494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320040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A5765"/>
                </a:solidFill>
                <a:latin typeface="Calibri"/>
              </a:rPr>
              <a:t>Núcleos familiares potenciales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34747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2B164F"/>
                </a:solidFill>
                <a:latin typeface="Century Gothic"/>
              </a:rPr>
              <a:t>44.098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4251960"/>
            <a:ext cx="3749039" cy="987552"/>
          </a:xfrm>
          <a:prstGeom prst="roundRect">
            <a:avLst>
              <a:gd name="adj" fmla="val 10000"/>
            </a:avLst>
          </a:prstGeom>
          <a:solidFill>
            <a:srgbClr val="FDF5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01000" y="4398264"/>
            <a:ext cx="64008" cy="69494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434340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A5765"/>
                </a:solidFill>
                <a:latin typeface="Calibri"/>
              </a:rPr>
              <a:t>Inversión estimada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46177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2B164F"/>
                </a:solidFill>
                <a:latin typeface="Century Gothic"/>
              </a:rPr>
              <a:t>USD 13.405.351,02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71500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A5765"/>
                </a:solidFill>
                <a:latin typeface="Calibri"/>
              </a:rPr>
              <a:t>La ayuda memoria no identifica pagos exclusivamente atribuibles a ENOS ni fechas individuales para recortar desde el 14/09. Se muestran únicamente las filas de inundación como referencia: pagos gestionados desde el 29/08 y casos en articulación al 23/10. Articulación no equivale a pago. Las proyecciones corresponden a planificación nacional 2026–2027.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Resumen por provincia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10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Acciones del Ministerio en cada provincia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20 provincias · kits, bono gestionado (núcleos familiares) y casos en articulación (personas)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1874519"/>
          <a:ext cx="5486399" cy="40690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63039"/>
                <a:gridCol w="685800"/>
                <a:gridCol w="594360"/>
                <a:gridCol w="1051560"/>
                <a:gridCol w="594360"/>
                <a:gridCol w="109728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Kits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Bono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USD gestionado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Artic.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USD articulación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Azuay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303,99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Bolívar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Carchi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Chimborazo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Cotopaxi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250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55.022,19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Esmeraldas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3.820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530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160.558,20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6.850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19.264,51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344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104.246,01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Imbabura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498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1.519,95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Loja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874519"/>
          <a:ext cx="5486399" cy="40690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63039"/>
                <a:gridCol w="685800"/>
                <a:gridCol w="594360"/>
                <a:gridCol w="1051560"/>
                <a:gridCol w="594360"/>
                <a:gridCol w="109728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Kits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Bono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USD gestionado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Artic.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USD articulación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Los Ríos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33.033,06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Manabí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13.632,30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Napo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Pastaza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Pichincha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Santo Domingo de los Tsáchilas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Sucumbíos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Tungurahua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Zamora Chinchipe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Respuesta en el territorio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11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43584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Alertas reportadas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783080"/>
            <a:ext cx="3657600" cy="4201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51960" y="1243584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UA suspendidas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1960" y="1783080"/>
            <a:ext cx="3657600" cy="42011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46720" y="1243584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Kits entregados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1783080"/>
            <a:ext cx="3657600" cy="42011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Nota metodológica y fuentes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12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25880"/>
            <a:ext cx="54406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Seguimiento desde el 14/09/2026, complementado con reportes sectoriales de octubre: 10 alertas con código UA y 11 reportes sectoriales. Los 6 reportes gerontológicos describen sucesos de agosto sin día exacto; no se asignan a la evolución diaria. Los identificadores DIS/GER permiten localizar las filas incorporadas, no son códigos oficiales ni códigos UA. Las fuentes sectoriales indican que la prestación del servicio se mantiene. Alertas, unidades y personas son medidas distintas.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Kits en provincias priorizadas: Kobo, corte 26/10/2026, 22:26:42. Entregas del 31/08 al 26/10; incluye fechas anteriores al inicio de las alertas. Reemplaza el corte anterior. Núcleos familiares reportados: suma por entrega, no núcleos únicos. El total de kits de este corte fue confirmado oficialmente.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Fuente: reporte territorial de unidades con suspensión total o presencial. Corte: 26/10/2026, 16:00.</a:t>
            </a:r>
          </a:p>
          <a:p>
            <a:pPr>
              <a:spcBef>
                <a:spcPts val="600"/>
              </a:spcBef>
            </a:pPr>
            <a:r>
              <a:rPr sz="1350">
                <a:solidFill>
                  <a:srgbClr val="5A5765"/>
                </a:solidFill>
                <a:latin typeface="Calibri"/>
              </a:rPr>
              <a:t>Más información en el </a:t>
            </a:r>
            <a:r>
              <a:rPr sz="1350" b="1" u="sng">
                <a:solidFill>
                  <a:srgbClr val="512F8D"/>
                </a:solidFill>
                <a:latin typeface="Calibri"/>
                <a:hlinkClick r:id="rId4"/>
              </a:rPr>
              <a:t>geoportal de unidades de atención y amenazas</a:t>
            </a:r>
            <a:r>
              <a:rPr sz="1350">
                <a:solidFill>
                  <a:srgbClr val="5A5765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325880"/>
            <a:ext cx="54406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La ayuda memoria no identifica pagos exclusivamente atribuibles a ENOS ni fechas individuales para recortar desde el 14/09. Se muestran únicamente las filas de inundación como referencia: pagos gestionados desde el 29/08 y casos en articulación al 23/10. Articulación no equivale a pago. Las proyecciones corresponden a planificación nacional 2026–2027.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El territorio se aplica a todas las acciones; el servicio, a las alertas y al seguimiento de continuidad de atención. Kits y bono no se asocian a un servicio. La planificación del bono es nacional.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Fuentes: Subsecretaría Territorial (análisis de alertas); corte Kobo de kits; ayuda memoria del bono de contingencia; base territorial de afectaciones por lluvias.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Riesgos · Del 14/09/2026 al 26/10/2026</dc:title>
  <dc:subject>Riesgos · Nacional</dc:subject>
  <dc:creator>Ministerio de Trabajo y Desarrollo Humano</dc:creator>
  <cp:keywords>MTDH, InfoReport, indicadores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