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UA suspendidas</c:v>
                </c:pt>
              </c:strCache>
            </c:strRef>
          </c:tx>
          <c:dPt>
            <c:idx val="0"/>
            <c:spPr>
              <a:solidFill>
                <a:srgbClr val="A995E0"/>
              </a:solidFill>
              <a:ln w="381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512F8D"/>
              </a:solidFill>
              <a:ln w="381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CNH · 64 UA (64,6 %)</c:v>
                </c:pt>
                <c:pt idx="1">
                  <c:v>CDI · 35 UA (35,4 %)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64</c:v>
                </c:pt>
                <c:pt idx="1">
                  <c:v>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8"/>
      </c:doughnutChart>
    </c:plotArea>
    <c:legend>
      <c:legendPos val="b"/>
      <c:layout/>
      <c:overlay val="0"/>
      <c:txPr>
        <a:bodyPr/>
        <a:lstStyle/>
        <a:p>
          <a:pPr>
            <a:defRPr sz="13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Esmeraldas</c:v>
                </c:pt>
              </c:strCache>
            </c:strRef>
          </c:tx>
          <c:spPr>
            <a:solidFill>
              <a:srgbClr val="7657B9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En articulación
1.171 personas · USD 354.987,39</c:v>
                </c:pt>
              </c:strCache>
            </c:strRef>
          </c:cat>
          <c:val>
            <c:numRef>
              <c:f>Sheet1!$B$2:$B$2</c:f>
              <c:numCache>
                <c:formatCode>#,##0</c:formatCode>
                <c:ptCount val="1"/>
                <c:pt idx="0">
                  <c:v>530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Guayas</c:v>
                </c:pt>
              </c:strCache>
            </c:strRef>
          </c:tx>
          <c:spPr>
            <a:solidFill>
              <a:srgbClr val="512F8D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En articulación
1.171 personas · USD 354.987,39</c:v>
                </c:pt>
              </c:strCache>
            </c:strRef>
          </c:cat>
          <c:val>
            <c:numRef>
              <c:f>Sheet1!$C$2:$C$2</c:f>
              <c:numCache>
                <c:formatCode>#,##0</c:formatCode>
                <c:ptCount val="1"/>
                <c:pt idx="0">
                  <c:v>344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El Oro</c:v>
                </c:pt>
              </c:strCache>
            </c:strRef>
          </c:tx>
          <c:spPr>
            <a:solidFill>
              <a:srgbClr val="A995E0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En articulación
1.171 personas · USD 354.987,39</c:v>
                </c:pt>
              </c:strCache>
            </c:strRef>
          </c:cat>
          <c:val>
            <c:numRef>
              <c:f>Sheet1!$D$2:$D$2</c:f>
              <c:numCache>
                <c:formatCode>#,##0</c:formatCode>
                <c:ptCount val="1"/>
                <c:pt idx="0">
                  <c:v>181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Los Ríos</c:v>
                </c:pt>
              </c:strCache>
            </c:strRef>
          </c:tx>
          <c:spPr>
            <a:solidFill>
              <a:srgbClr val="A32C74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En articulación
1.171 personas · USD 354.987,39</c:v>
                </c:pt>
              </c:strCache>
            </c:strRef>
          </c:cat>
          <c:val>
            <c:numRef>
              <c:f>Sheet1!$E$2:$E$2</c:f>
              <c:numCache>
                <c:formatCode>#,##0</c:formatCode>
                <c:ptCount val="1"/>
                <c:pt idx="0">
                  <c:v>111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Imbabura</c:v>
                </c:pt>
              </c:strCache>
            </c:strRef>
          </c:tx>
          <c:spPr>
            <a:solidFill>
              <a:srgbClr val="E6A3C5"/>
            </a:solidFill>
            <a:ln w="25400"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En articulación
1.171 personas · USD 354.987,39</c:v>
                </c:pt>
              </c:strCache>
            </c:strRef>
          </c:cat>
          <c:val>
            <c:numRef>
              <c:f>Sheet1!$F$2:$F$2</c:f>
              <c:numCache>
                <c:formatCode>#,##0</c:formatCode>
                <c:ptCount val="1"/>
                <c:pt idx="0">
                  <c:v>5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reportadas: 39. Kits entregados: 10.607. Personas · Bono de Contingencia: 1.171. Monto · Bono de Contingencia: USD 354.987,39. Unidades cerradas / suspendidas: 99. 99 unidades de atención con atención suspendida (64 CNH · 35 CDI); El Oro concentra 75 (75,8 %).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7.png"/><Relationship Id="rId5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Relationship Id="rId4" Type="http://schemas.openxmlformats.org/officeDocument/2006/relationships/hyperlink" Target="https://geoportal.trabajo.gob.ec/ua_amenaz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Del 28/09/2026 al 27/10/2026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Century Gothic"/>
              </a:rPr>
              <a:t>Riesgos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Respuesta al 27/10/2026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27 de octubre de 2026, 11:42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Según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Riesgos · Del 28/09/2026 al 27/10/2026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reportadas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Registro y reportes sectoriales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ife-buoy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10.607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21 provincias priorizadas · corte 27/10, 13:35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coins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Personas · Bono de Contingencia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1.171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En articulación para el pago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banknote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Monto · Bono de Contingencia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354.987,39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Corte del bono: 27/10/2026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Generado el 27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Continuidad de los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Dónde se suspendió la atención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Provincia y cantón · el color indica el servicio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65960"/>
            <a:ext cx="7040880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1243584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Por servicio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62763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Participación en las unidades suspendidas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818120" y="1920240"/>
          <a:ext cx="3931920" cy="41605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818120" y="324612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2B164F"/>
                </a:solidFill>
                <a:latin typeface="Century Gothic"/>
              </a:rPr>
              <a:t>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79476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A5765"/>
                </a:solidFill>
                <a:latin typeface="Calibri"/>
              </a:rPr>
              <a:t>UA suspendidas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Unidades con suspensión reportada al 26/10/2026, 16:00. Este indicador corresponde a ese corte territorial.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Manantial del Saber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Virgen de las Mercedes #218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Rivera de los Vergeles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María de la Paz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Ángel de Luz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Camino al Buen Vivir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Jardín de los Sueños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Mundo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Nuestros Niños en Dios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Niños del Mañana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Sueños Infantiles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María Teresa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9 de Enero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Cosechando Sueños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Angelitos Dei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Amiguitos del Futuro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San Rafael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Pasaje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Pasitos con Amor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Pasaje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Buen Vivir de los Niños y Niñas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Pasaje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Aprender Jugando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Raquel Aguilar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Tío Boanerges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Gotitas de Amor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Dina Verdi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Súper Niño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Estrellita de Mar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al Futuro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Milagritos de Dios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Caritas Alegres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5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6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7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8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Semillitas del Mañana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Primeras Enseñanzas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Mickey Mouse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Piqueritos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Tía Peluca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Caritas Alegres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en servicios MTDH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9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Evolución de las 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Registradas cada día y acumuladas desde el 28/09/2026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965960"/>
            <a:ext cx="694944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26679" y="1243584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alerta, una unidad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62763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Por provincia · el color indica el servicio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16712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Guayas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16712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976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60704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7280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33856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79" y="267004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Santa Elena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67004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0976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7552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24128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60704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33856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79" y="317296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Manabí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317296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0976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87552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4128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60704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97280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26679" y="367588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El Oro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3675887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50976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87552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24128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60704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97280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26679" y="417880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Los Ríos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417880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44000" y="416052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509760" y="416052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875520" y="416052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79" y="468172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Santo Domingo de los Tsáchilas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4681727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1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44000" y="46634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726679" y="5312664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73567" y="52578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Desarrollo Infantil · 22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29800" y="5312664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76688" y="52578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CNH · 6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726679" y="5632703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973567" y="5577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Gerontología · 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9800" y="5632703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76688" y="5577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AHC ·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39 alertas reportadas: 10 con código UA y 29 reportes sectoriales.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10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GER-2026-006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Santo Domingo de los Tsáchilas
Santo Domingo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mitigación inmediata.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GER-2026-005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Pedernales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medidas de contingencia.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GER-2026-004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adecuaciones provisionales.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GER-2026-003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medidas preventivas y correctivas.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GER-2026-002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Esmeraldas
San Lorenzo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intervención emergente.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GER-2026-001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Huaquillas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en techo y daños en patio; mitigación temporal.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DIS-2026-003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acompañamiento y monitoreo.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11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DIS-2026-002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Pasaje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monitoreo de facilitadores.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DIS-2026-001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monitoreo de facilitadores.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DII-2026-018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Olmedo Rendón Franco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Vías inundadas dificultan el acceso de las familias al servicio.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DII-2026-017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Mis Primeros Pasos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Suspensión de actividades por desbordamiento del río Victoria.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DII-2026-016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Juan Franco Guerra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Suspensión por dificultades de acceso debido a lluvias intensas.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DII-2026-015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mi segundo hogar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Vías inundadas dificultan el acceso de las familias al servicio.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DII-2026-014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mis queridos angelitos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Vías inundadas dificultan el acceso de las familias al servicio.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12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DII-2026-013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Ternura Infantil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Manta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Daños estructurales reportados y solventados durante el día.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DII-2026-012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San José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Manta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Daños estructurales reportados y solventados durante el día.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DII-2026-010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DII-2026-009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Mickey Mouse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DII-2026-008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Caritas Alegres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DII-2026-007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Piqueritos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DII-2026-006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Tia Peluca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13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DII-2026-005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Primeras Enseñanzas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DII-2026-004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Semillitas del Mañana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DII-2026-003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Luceritos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Balao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inundación; se evalúa el restablecimiento del servicio.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DII-2026-002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Miraflores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Balao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inundación; se evalúa el restablecimiento del servicio.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DII-2026-001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Infantes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Balao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inundación; se evalúa el restablecimiento del servicio.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DIS-2026-005
25/10/2026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Familia por un Buen Vivir para Personas con Discapacidad 7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Inundación de vivienda de un núcleo familiar; levantamiento de información.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DIS-2026-004
25/10/2026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Familia por un Buen Vivir para Personas con Discapacidad 5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Colapso de vivienda de un usuario; evaluación de necesidades.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14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ALT-2026-000325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 del Amor
UA 62210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en la unidad; sin energía ni 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ALT-2026-000323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UA 14294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y goteras en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ALT-2026-000322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Juguetones
UA 13916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Agua dentro y fuera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ALT-2026-000321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Pequeños Jilgueritos
UA 62208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Acumulación de agua en la entrada de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ALT-2026-000319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
UA 60221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ALT-2026-000318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Súper Niño
UA 60220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ALT-2026-000316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Niños de San Rafael
UA 58337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15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27614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ALT-2026-000315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Los Niños del Cisne
UA 58336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ALT-2026-000310
16/10/2026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 Estrellitas del Amanecer
UA 56744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ALT-2026-000309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Correo Infantil
UA 56204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DII-2026-011
05/10/2026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y dulces traviesos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afectados; reubicación temporal y atención virtual en gestión.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entregados en provincias priorizadas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16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10.607 kits en 21 provincias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80 registros Kobo · corte 27/10/2026, 13:35 · cada círculo es una entrega y su tamaño indica los kits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920240"/>
            <a:ext cx="1115568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1081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5765"/>
                </a:solidFill>
                <a:latin typeface="Calibri"/>
              </a:rPr>
              <a:t>Núcleos familiares reportados por entrega: 9.761; no son núcleos familiares únicos.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Bono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17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etapa, por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Inundaciones · cada barra suma el 100 % de su etapa; las etapas no se suman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874519"/>
          <a:ext cx="7223760" cy="3566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001000" y="1243584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Planificación El Niño 2026–2027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62763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Proyección nacional · planificación, no ejecución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965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2112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Personas potenciales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145.523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108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3255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200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Núcleos familiares potenciales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474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44.098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4251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4398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4343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Inversión estimada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617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USD 13.405.351,02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Bono en articulación: 1.171 personas y USD 354.987,39 correspondientes al período 28/09–27/10/2026. Los bonos gestionados no cuentan con desglose temporal para este período. Las proyecciones son una referencia de planificación.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Resumen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18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Acciones del Ministerio en cada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21 provincias · kits, bono gestionado (núcleos familiares) y casos en articulación (personas)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874519"/>
          <a:ext cx="548639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Bolívar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Carchi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Cañar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Chimborazo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55.022,19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3.690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160.558,20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4.650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104.246,01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1.519,95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33.641,04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874519"/>
          <a:ext cx="5486399" cy="4069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Morona Santiago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Napo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Pastaza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Pichincha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Santo Domingo de los Tsáchilas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Sucumbíos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Tungurahua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Zamora Chinchipe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Respuesta en el 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19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reportadas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83080"/>
            <a:ext cx="3657600" cy="4201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5196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UA suspendidas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1783080"/>
            <a:ext cx="3657600" cy="4201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4672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entregados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1783080"/>
            <a:ext cx="3657600" cy="42011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Nota metodológica y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28/09/2026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20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Seguimiento desde el 28/09/2026, complementado con reportes sectoriales de octubre. Los reportes gerontológicos utilizan su fecha de reporte. Los identificadores DIS/GER/DII permiten localizar las filas incorporadas; no son códigos oficiales ni códigos UA. Los registros repetidos de la base consolidada se cuentan una sola vez. Alertas, unidades y personas son medidas distintas.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Kits en provincias priorizadas: entregas desde el 28/09/2026 hasta el corte Kobo del 27/10/2026, 13:35:45. El registro de Cañar declara 1 kit, pero su observación indica una solicitud no recibida; pendiente de validación territorial.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Unidades con suspensión reportada al 26/10/2026, 16:00. Este indicador corresponde a ese corte territorial.</a:t>
            </a:r>
          </a:p>
          <a:p>
            <a:pPr>
              <a:spcBef>
                <a:spcPts val="600"/>
              </a:spcBef>
            </a:pPr>
            <a:r>
              <a:rPr sz="1350">
                <a:solidFill>
                  <a:srgbClr val="5A5765"/>
                </a:solidFill>
                <a:latin typeface="Calibri"/>
              </a:rPr>
              <a:t>Más información en el </a:t>
            </a:r>
            <a:r>
              <a:rPr sz="1350" b="1" u="sng">
                <a:solidFill>
                  <a:srgbClr val="512F8D"/>
                </a:solidFill>
                <a:latin typeface="Calibri"/>
                <a:hlinkClick r:id="rId4"/>
              </a:rPr>
              <a:t>geoportal de unidades de atención y amenazas</a:t>
            </a:r>
            <a:r>
              <a:rPr sz="1350">
                <a:solidFill>
                  <a:srgbClr val="5A5765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Bono en articulación: 1.171 personas y USD 354.987,39 correspondientes al período 28/09–27/10/2026. Los bonos gestionados no cuentan con desglose temporal para este período. Las proyecciones son una referencia de planificación.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El territorio se aplica a todas las acciones; el servicio, a las alertas y al seguimiento de continuidad de atención. Kits y bono no se asocian a un servicio. La planificación del bono es nacional.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Fuentes: Subsecretaría Territorial (análisis de alertas); corte Kobo de kits; ayuda memoria del bono de contingencia; base territorial de afectaciones por lluvias.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· Del 28/09/2026 al 27/10/2026</dc:title>
  <dc:subject>Riesgos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