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UA suspendidas</c:v>
                </c:pt>
              </c:strCache>
            </c:strRef>
          </c:tx>
          <c:dPt>
            <c:idx val="0"/>
            <c:spPr>
              <a:solidFill>
                <a:srgbClr val="A995E0"/>
              </a:solidFill>
              <a:ln w="381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12F8D"/>
              </a:solidFill>
              <a:ln w="381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CNH · 67 UA (46,9 %)</c:v>
                </c:pt>
                <c:pt idx="1">
                  <c:v>CDI · 37 UA (25,9 %)</c:v>
                </c:pt>
                <c:pt idx="2">
                  <c:v>Personas Adultas Mayores · 18 UA (12,6 %)</c:v>
                </c:pt>
                <c:pt idx="3">
                  <c:v>Personas con Discapacidad · 12 UA (8,4 %)</c:v>
                </c:pt>
                <c:pt idx="4">
                  <c:v>Protección Especial · 7 UA (4,9 %)</c:v>
                </c:pt>
                <c:pt idx="5">
                  <c:v>Acompañamiento Familiar · 2 UA (1,4 %)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67</c:v>
                </c:pt>
                <c:pt idx="1">
                  <c:v>37</c:v>
                </c:pt>
                <c:pt idx="2">
                  <c:v>18</c:v>
                </c:pt>
                <c:pt idx="3">
                  <c:v>12</c:v>
                </c:pt>
                <c:pt idx="4">
                  <c:v>7</c:v>
                </c:pt>
                <c:pt idx="5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8"/>
      </c:doughnutChart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Guayas</c:v>
                </c:pt>
              </c:strCache>
            </c:strRef>
          </c:tx>
          <c:spPr>
            <a:solidFill>
              <a:srgbClr val="512F8D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67</c:v>
                </c:pt>
                <c:pt idx="1">
                  <c:v>344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Esmeraldas</c:v>
                </c:pt>
              </c:strCache>
            </c:strRef>
          </c:tx>
          <c:spPr>
            <a:solidFill>
              <a:srgbClr val="7657B9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Sheet1!$C$2:$C$3</c:f>
              <c:numCache>
                <c:formatCode>#,##0</c:formatCode>
                <c:ptCount val="2"/>
                <c:pt idx="1">
                  <c:v>530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Manabí</c:v>
                </c:pt>
              </c:strCache>
            </c:strRef>
          </c:tx>
          <c:spPr>
            <a:solidFill>
              <a:srgbClr val="F8C018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Sheet1!$D$2:$D$3</c:f>
              <c:numCache>
                <c:formatCode>#,##0</c:formatCode>
                <c:ptCount val="2"/>
                <c:pt idx="0">
                  <c:v>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 Oro</c:v>
                </c:pt>
              </c:strCache>
            </c:strRef>
          </c:tx>
          <c:spPr>
            <a:solidFill>
              <a:srgbClr val="A995E0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Sheet1!$E$2:$E$3</c:f>
              <c:numCache>
                <c:formatCode>#,##0</c:formatCode>
                <c:ptCount val="2"/>
                <c:pt idx="1">
                  <c:v>181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Los Ríos</c:v>
                </c:pt>
              </c:strCache>
            </c:strRef>
          </c:tx>
          <c:spPr>
            <a:solidFill>
              <a:srgbClr val="A32C74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Sheet1!$F$2:$F$3</c:f>
              <c:numCache>
                <c:formatCode>#,##0</c:formatCode>
                <c:ptCount val="2"/>
                <c:pt idx="1">
                  <c:v>109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Azuay</c:v>
                </c:pt>
              </c:strCache>
            </c:strRef>
          </c:tx>
          <c:spPr>
            <a:solidFill>
              <a:srgbClr val="2B164F"/>
            </a:solidFill>
            <a:ln w="25400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Sheet1!$G$2:$G$3</c:f>
              <c:numCache>
                <c:formatCode>#,##0</c:formatCode>
                <c:ptCount val="2"/>
                <c:pt idx="0">
                  <c:v>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Imbabura</c:v>
                </c:pt>
              </c:strCache>
            </c:strRef>
          </c:tx>
          <c:spPr>
            <a:solidFill>
              <a:srgbClr val="E6A3C5"/>
            </a:solidFill>
            <a:ln w="25400"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Sheet1!$H$2:$H$3</c:f>
              <c:numCache>
                <c:formatCode>#,##0</c:formatCode>
                <c:ptCount val="2"/>
                <c:pt idx="1">
                  <c:v>5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reportadas: 21. Kits entregados: 13.981. Personas · Bono de Contingencia: 1.169. Monto · Bono de Contingencia: USD 354.379,41. Unidades cerradas / suspendidas: 143. 143 unidades de atención con atención suspendida (67 CNH · 37 CDI · 18 Personas Adultas Mayores · 12 Personas con Discapacidad · 7 Protección Especial · 2 Acompañamiento Familiar); El Oro concentra 119 (83,2 %).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7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Relationship Id="rId4" Type="http://schemas.openxmlformats.org/officeDocument/2006/relationships/hyperlink" Target="https://geoportal.trabajo.gob.ec/ua_amenaz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27/10/2026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Riesgos · Respuesta del Ministerio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27/10/2026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27 de octubre de 2026, 09:01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27/10/2026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reportadas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 y reportes sectoriales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13.981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22 provincias priorizadas · corte 27/10, 13:35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Personas · Bono de Contingencia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1.169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En articulación para el pago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· Bono de Contingencia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354.379,41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23/10/2026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27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Continuidad de los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Dónde se suspendió la atención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Provincia y cantón · el color indica el servicio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65960"/>
            <a:ext cx="704088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243584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Por servicio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6276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Participación en las unidades suspendidas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818120" y="1920240"/>
          <a:ext cx="3931920" cy="41605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18120" y="32461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2B164F"/>
                </a:solidFill>
                <a:latin typeface="Century Gothic"/>
              </a:rPr>
              <a:t>143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79476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5765"/>
                </a:solidFill>
                <a:latin typeface="Calibri"/>
              </a:rPr>
              <a:t>UA suspendidas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Fuente: unidades no operativas de El Oro al 27/10/2026; último reporte disponible de Guayas y Santa Elena al 26/10/2026.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Virgen de las Mercedes #218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Rivera de los Vergeles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de la Paz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Ángel de Luz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Camino al Buen Vivir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Jardín de los Sueños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Mundo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Nuestros Niños en Dios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Niños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Sueños Infantiles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Teresa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9 de Enero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Cosechando Sueños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Angelitos Dei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Amiguitos del Futuro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San Rafael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Piqueritos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Tía Peluca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Lucha de los Pobres Organizados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Rayito de Luz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A.D. Fusbaam 10 de Septiembrte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Ahc. Gad Machala Manuel Encalada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24 Septiembre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Urseza 2 Sector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Alborada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Algarrobos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el Bosque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Israel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Machala Libre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Machalilla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Primavera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Rosa Nelly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San Ramón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Urseza 2 Sector 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Vergeles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Vergeles B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Vergeles 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Via Limón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Viviendas Populares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los Vergeles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Lucha de los Pobres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7 de Marzo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Lucerito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Rayito de Luz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Protección Especial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Mov-Hum-Fsjb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MIES los Chilalitos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Urseza 2 Sector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A.D. Fusbaam 7 de Julio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David Rodas Cuervo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Adolfo Bucaram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19 de Noviembre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Cristo del Consuelo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Barrio 2 Bocas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Federico Paez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Jesús del Gran Poder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San Estuardo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Cnhlos Sauces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Nueva Esperanza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Tinas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Blanca García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8 de Noviembre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18 de Octubre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25 de Diciembre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Carmen Bautista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Martha Bucaram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Urseza 3.2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Urseza 3.1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8 de Noviembre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19 de Noviembre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el Paraíso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Protección Especial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Gadmachala Eti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Sauces 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Ad.Fusbaam Urseza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las Tinas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Pedacito de Cielo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Nuevo Amanecer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Protección Especial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Mend.Fusbaam Mapagua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Fusbaam.Washintong García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Acompañamiento Familiar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A.F. Machala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Protección Especial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A.FyC.F QUIMERA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Protección Especial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Af-Cf-San Juan Bautista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Protección Especial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Af-Cf-San Juan Bautista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Mi Segundo Hogar Puerto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Pulgarcito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Puerto 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González Rubio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A.D. Fusbaam Puerto 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Chilla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Blanca García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5 de Diciembre 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12 de Noviembre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Amazonas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Amazonas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Autoridad Portuaria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la Unión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Puerto Azul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Puerto Nuevo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Rafael Morán Valverde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Rumiñahui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Simón 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Wilson Franco Cruz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Protección Especial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Gadmachala Eti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Puerto 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Luz de América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Travesuras Infantiles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Voluntad de Dios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Nuevo Pilo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Venezuela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Primero de Enero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San Francisco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Luz de América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Costa Azul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Floridas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Primero de Enero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con Discapacidad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Municipal Machala Venezuela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Globitos de Colores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Caperucita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Venezuela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Canguritos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la Iberia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407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Villas del Sol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10 de Agosto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Pubenza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Unión Colombiana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la Maravilla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Hogar de Nazareth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el Cambio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Unidos en Beneficio de los Niños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Ad.Fusbaam 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Acompañamiento Familiar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A.F. Machala 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Personas Adultas Mayores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el Retiro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15 de Octubre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Buena Esperanza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el Retiro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Caserio Guarumales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en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11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Registradas cada día y acumuladas desde el 14/09/2026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965960"/>
            <a:ext cx="694944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26679" y="1243584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alerta, una unidad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6276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Por provincia · el color indica el servicio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6712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Guayas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16712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728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3385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26700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El Oro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67004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2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60704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79" y="317296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Manabí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17296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50976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87552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24128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6679" y="36758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Los Ríos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67588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50976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79" y="417880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Santo Domingo de los Tsáchilas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417880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468172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Esmeraldas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68172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46634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726679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73567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Desarrollo Infantil · 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29800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76688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Gerontología · 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26679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73567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AHC · 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29800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76688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CNH ·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21 alertas reportadas: 10 con código UA y 11 reportes sectoriales.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12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Santo Domingo de los Tsáchilas
Santo Domingo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mitigación inmediata.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GER-2026-005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Pedernales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de contingencia.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GER-2026-004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adecuaciones provisionales.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GER-2026-003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preventivas y correctivas.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GER-2026-002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Esmeraldas
San Lorenzo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intervención emergente.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GER-2026-001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Huaquillas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en techo y daños en patio; mitigación temporal.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acompañamiento y monitoreo.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13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DIS-2026-002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DIS-2026-001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DIS-2026-005
25/10/2026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7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Inundación de vivienda de un núcleo familiar; levantamiento de información.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DIS-2026-004
25/10/2026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5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Colapso de vivienda de un usuario; evaluación de necesidades.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14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 en provincias priorizadas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13.981 kits en 22 provincias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111 registros Kobo · corte 27/10/2026, 13:35 · cada círculo es una entrega y su tamaño indica los kits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20240"/>
            <a:ext cx="11155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1081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765"/>
                </a:solidFill>
                <a:latin typeface="Calibri"/>
              </a:rPr>
              <a:t>Núcleos familiares reportados por entrega: 12.987; no son núcleos familiares únicos.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16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etapa, por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Inundaciones · cada barra suma el 100 % de su etapa; las etapas no se suman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874519"/>
          <a:ext cx="722376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001000" y="1243584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627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Proyección nacional · planificación, no ejecución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965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2112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Personas potenciales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145.523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108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3255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200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Núcleos familiares potenciales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474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44.098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251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4398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4343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Inversión estimada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617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USD 13.405.351,02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Resumen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17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22 provincias · kits, bono gestionado (núcleos familiares) y casos en articulación (personas)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874519"/>
          <a:ext cx="548639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Cañar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874519"/>
          <a:ext cx="548639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Morona Santiago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18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reportadas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83080"/>
            <a:ext cx="3657600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783080"/>
            <a:ext cx="3657600" cy="4206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entregados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1783080"/>
            <a:ext cx="36576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19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Seguimiento desde el 14/09/2026, complementado con reportes sectoriales de octubre: 10 alertas con código UA y 11 reportes sectoriales. Los 6 reportes gerontológicos se incorporan con fecha de reporte 26/10/2026. Los identificadores DIS/GER permiten localizar las filas incorporadas, no son códigos oficiales ni códigos UA. Las fuentes sectoriales indican que la prestación del servicio se mantiene. Alertas, unidades y personas son medidas distintas.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Kits en provincias priorizadas: Kobo, corte 27/10/2026, 13:35:45. Entregas del 31/08 al 27/10; reemplaza el corte anterior. 13.981 kits reportados en 111 registros. Núcleos familiares: suma por entrega, no núcleos únicos. El registro de Cañar declara 1 kit, pero su observación indica una solicitud no recibida; pendiente de validación territorial.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Fuente: unidades no operativas de El Oro al 27/10/2026; último reporte disponible de Guayas y Santa Elena al 26/10/2026.</a:t>
            </a:r>
          </a:p>
          <a:p>
            <a:pPr>
              <a:spcBef>
                <a:spcPts val="600"/>
              </a:spcBef>
            </a:pPr>
            <a:r>
              <a:rPr sz="1350">
                <a:solidFill>
                  <a:srgbClr val="5A5765"/>
                </a:solidFill>
                <a:latin typeface="Calibri"/>
              </a:rPr>
              <a:t>Más información en el </a:t>
            </a:r>
            <a:r>
              <a:rPr sz="1350" b="1" u="sng">
                <a:solidFill>
                  <a:srgbClr val="512F8D"/>
                </a:solidFill>
                <a:latin typeface="Calibri"/>
                <a:hlinkClick r:id="rId4"/>
              </a:rPr>
              <a:t>geoportal de unidades de atención y amenazas</a:t>
            </a:r>
            <a:r>
              <a:rPr sz="1350">
                <a:solidFill>
                  <a:srgbClr val="5A5765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Respuesta del Ministerio · Del 14/09/2026 al 27/10/2026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